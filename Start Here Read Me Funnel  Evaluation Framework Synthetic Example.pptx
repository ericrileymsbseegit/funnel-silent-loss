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4"/>
  </p:notesMasterIdLst>
  <p:sldIdLst>
    <p:sldId id="267" r:id="rId3"/>
    <p:sldId id="513" r:id="rId4"/>
    <p:sldId id="514" r:id="rId5"/>
    <p:sldId id="515" r:id="rId6"/>
    <p:sldId id="516" r:id="rId7"/>
    <p:sldId id="517" r:id="rId8"/>
    <p:sldId id="518" r:id="rId9"/>
    <p:sldId id="519" r:id="rId10"/>
    <p:sldId id="453" r:id="rId11"/>
    <p:sldId id="505" r:id="rId12"/>
    <p:sldId id="407" r:id="rId13"/>
    <p:sldId id="398" r:id="rId14"/>
    <p:sldId id="405" r:id="rId15"/>
    <p:sldId id="454" r:id="rId16"/>
    <p:sldId id="257" r:id="rId17"/>
    <p:sldId id="508" r:id="rId18"/>
    <p:sldId id="510" r:id="rId19"/>
    <p:sldId id="509" r:id="rId20"/>
    <p:sldId id="256" r:id="rId21"/>
    <p:sldId id="520" r:id="rId22"/>
    <p:sldId id="52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account" initials="Ma" lastIdx="1" clrIdx="0">
    <p:extLst>
      <p:ext uri="{19B8F6BF-5375-455C-9EA6-DF929625EA0E}">
        <p15:presenceInfo xmlns:p15="http://schemas.microsoft.com/office/powerpoint/2012/main" userId="ea4d9f1b3da1423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95B"/>
    <a:srgbClr val="EEEDFE"/>
    <a:srgbClr val="496A7A"/>
    <a:srgbClr val="086B94"/>
    <a:srgbClr val="720C27"/>
    <a:srgbClr val="06D6A0"/>
    <a:srgbClr val="A1B1BC"/>
    <a:srgbClr val="534AB7"/>
    <a:srgbClr val="F1EFE8"/>
    <a:srgbClr val="5F5E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CCBC69-4D05-42EE-B303-53893228FD51}" v="10" dt="2026-10-02T01:29:50.391"/>
    <p1510:client id="{C4804920-3356-40B6-A1C0-421B5A197384}" v="3" dt="2026-10-02T14:38:50.8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04" autoAdjust="0"/>
    <p:restoredTop sz="94679" autoAdjust="0"/>
  </p:normalViewPr>
  <p:slideViewPr>
    <p:cSldViewPr snapToGrid="0">
      <p:cViewPr varScale="1">
        <p:scale>
          <a:sx n="150" d="100"/>
          <a:sy n="150" d="100"/>
        </p:scale>
        <p:origin x="195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Riley" userId="ea4d9f1b3da1423e" providerId="LiveId" clId="{A60DFE58-CA15-4320-B78A-6E1771B451DA}"/>
    <pc:docChg chg="undo custSel addSld modSld sldOrd">
      <pc:chgData name="Eric Riley" userId="ea4d9f1b3da1423e" providerId="LiveId" clId="{A60DFE58-CA15-4320-B78A-6E1771B451DA}" dt="2026-10-02T14:43:31.589" v="1393" actId="478"/>
      <pc:docMkLst>
        <pc:docMk/>
      </pc:docMkLst>
      <pc:sldChg chg="modSp mod">
        <pc:chgData name="Eric Riley" userId="ea4d9f1b3da1423e" providerId="LiveId" clId="{A60DFE58-CA15-4320-B78A-6E1771B451DA}" dt="2026-10-02T01:06:25.888" v="16" actId="1076"/>
        <pc:sldMkLst>
          <pc:docMk/>
          <pc:sldMk cId="609785844" sldId="267"/>
        </pc:sldMkLst>
        <pc:spChg chg="mod">
          <ac:chgData name="Eric Riley" userId="ea4d9f1b3da1423e" providerId="LiveId" clId="{A60DFE58-CA15-4320-B78A-6E1771B451DA}" dt="2026-10-02T01:06:25.888" v="16" actId="1076"/>
          <ac:spMkLst>
            <pc:docMk/>
            <pc:sldMk cId="609785844" sldId="267"/>
            <ac:spMk id="2" creationId="{B053419B-78C3-445F-AE7C-B203E7A2E641}"/>
          </ac:spMkLst>
        </pc:spChg>
      </pc:sldChg>
      <pc:sldChg chg="delSp modSp mod">
        <pc:chgData name="Eric Riley" userId="ea4d9f1b3da1423e" providerId="LiveId" clId="{A60DFE58-CA15-4320-B78A-6E1771B451DA}" dt="2026-10-02T14:43:31.589" v="1393" actId="478"/>
        <pc:sldMkLst>
          <pc:docMk/>
          <pc:sldMk cId="3841528138" sldId="398"/>
        </pc:sldMkLst>
        <pc:spChg chg="del">
          <ac:chgData name="Eric Riley" userId="ea4d9f1b3da1423e" providerId="LiveId" clId="{A60DFE58-CA15-4320-B78A-6E1771B451DA}" dt="2026-10-02T14:43:31.589" v="1393" actId="478"/>
          <ac:spMkLst>
            <pc:docMk/>
            <pc:sldMk cId="3841528138" sldId="398"/>
            <ac:spMk id="2" creationId="{A294E3E3-71CF-EEFC-B056-AA3D1DE31EFB}"/>
          </ac:spMkLst>
        </pc:spChg>
        <pc:spChg chg="mod">
          <ac:chgData name="Eric Riley" userId="ea4d9f1b3da1423e" providerId="LiveId" clId="{A60DFE58-CA15-4320-B78A-6E1771B451DA}" dt="2026-10-02T14:43:12.397" v="1392" actId="20577"/>
          <ac:spMkLst>
            <pc:docMk/>
            <pc:sldMk cId="3841528138" sldId="398"/>
            <ac:spMk id="3" creationId="{7C280908-603E-4885-0091-C745A02AD14E}"/>
          </ac:spMkLst>
        </pc:spChg>
      </pc:sldChg>
      <pc:sldChg chg="modSp mod">
        <pc:chgData name="Eric Riley" userId="ea4d9f1b3da1423e" providerId="LiveId" clId="{A60DFE58-CA15-4320-B78A-6E1771B451DA}" dt="2026-10-02T01:30:16.062" v="248" actId="20577"/>
        <pc:sldMkLst>
          <pc:docMk/>
          <pc:sldMk cId="475474039" sldId="513"/>
        </pc:sldMkLst>
        <pc:spChg chg="mod">
          <ac:chgData name="Eric Riley" userId="ea4d9f1b3da1423e" providerId="LiveId" clId="{A60DFE58-CA15-4320-B78A-6E1771B451DA}" dt="2026-10-02T01:21:40.648" v="221" actId="113"/>
          <ac:spMkLst>
            <pc:docMk/>
            <pc:sldMk cId="475474039" sldId="513"/>
            <ac:spMk id="5" creationId="{7DACB9A4-1E32-DBC6-AE22-10311D6A5554}"/>
          </ac:spMkLst>
        </pc:spChg>
        <pc:spChg chg="mod">
          <ac:chgData name="Eric Riley" userId="ea4d9f1b3da1423e" providerId="LiveId" clId="{A60DFE58-CA15-4320-B78A-6E1771B451DA}" dt="2026-10-02T01:30:16.062" v="248" actId="20577"/>
          <ac:spMkLst>
            <pc:docMk/>
            <pc:sldMk cId="475474039" sldId="513"/>
            <ac:spMk id="21" creationId="{E1D96591-E0F8-EC2A-C0A8-DBBF539FA69A}"/>
          </ac:spMkLst>
        </pc:spChg>
      </pc:sldChg>
      <pc:sldChg chg="modSp mod">
        <pc:chgData name="Eric Riley" userId="ea4d9f1b3da1423e" providerId="LiveId" clId="{A60DFE58-CA15-4320-B78A-6E1771B451DA}" dt="2026-10-02T01:30:23.958" v="250" actId="20577"/>
        <pc:sldMkLst>
          <pc:docMk/>
          <pc:sldMk cId="1271625090" sldId="514"/>
        </pc:sldMkLst>
        <pc:spChg chg="mod">
          <ac:chgData name="Eric Riley" userId="ea4d9f1b3da1423e" providerId="LiveId" clId="{A60DFE58-CA15-4320-B78A-6E1771B451DA}" dt="2026-10-02T01:30:23.958" v="250" actId="20577"/>
          <ac:spMkLst>
            <pc:docMk/>
            <pc:sldMk cId="1271625090" sldId="514"/>
            <ac:spMk id="2" creationId="{18FBD637-FF03-85B6-90D5-91325031C7F7}"/>
          </ac:spMkLst>
        </pc:spChg>
      </pc:sldChg>
      <pc:sldChg chg="modSp mod">
        <pc:chgData name="Eric Riley" userId="ea4d9f1b3da1423e" providerId="LiveId" clId="{A60DFE58-CA15-4320-B78A-6E1771B451DA}" dt="2026-10-02T01:07:46.991" v="20" actId="20577"/>
        <pc:sldMkLst>
          <pc:docMk/>
          <pc:sldMk cId="19188679" sldId="515"/>
        </pc:sldMkLst>
        <pc:spChg chg="mod">
          <ac:chgData name="Eric Riley" userId="ea4d9f1b3da1423e" providerId="LiveId" clId="{A60DFE58-CA15-4320-B78A-6E1771B451DA}" dt="2026-10-02T01:07:46.991" v="20" actId="20577"/>
          <ac:spMkLst>
            <pc:docMk/>
            <pc:sldMk cId="19188679" sldId="515"/>
            <ac:spMk id="222" creationId="{B4163FDF-689D-D5B6-3264-4E7B5B46E78E}"/>
          </ac:spMkLst>
        </pc:spChg>
      </pc:sldChg>
      <pc:sldChg chg="modSp mod">
        <pc:chgData name="Eric Riley" userId="ea4d9f1b3da1423e" providerId="LiveId" clId="{A60DFE58-CA15-4320-B78A-6E1771B451DA}" dt="2026-10-02T01:16:04.074" v="140" actId="207"/>
        <pc:sldMkLst>
          <pc:docMk/>
          <pc:sldMk cId="3654582312" sldId="516"/>
        </pc:sldMkLst>
        <pc:spChg chg="mod">
          <ac:chgData name="Eric Riley" userId="ea4d9f1b3da1423e" providerId="LiveId" clId="{A60DFE58-CA15-4320-B78A-6E1771B451DA}" dt="2026-10-02T01:08:08.710" v="35" actId="20577"/>
          <ac:spMkLst>
            <pc:docMk/>
            <pc:sldMk cId="3654582312" sldId="516"/>
            <ac:spMk id="35" creationId="{F4A0DA21-75FB-96A8-FE6E-1D6518C62EAA}"/>
          </ac:spMkLst>
        </pc:spChg>
        <pc:spChg chg="mod">
          <ac:chgData name="Eric Riley" userId="ea4d9f1b3da1423e" providerId="LiveId" clId="{A60DFE58-CA15-4320-B78A-6E1771B451DA}" dt="2026-10-02T01:02:15.713" v="2" actId="1076"/>
          <ac:spMkLst>
            <pc:docMk/>
            <pc:sldMk cId="3654582312" sldId="516"/>
            <ac:spMk id="43" creationId="{DA100D62-B845-125E-CB40-706FB68B3453}"/>
          </ac:spMkLst>
        </pc:spChg>
        <pc:spChg chg="mod">
          <ac:chgData name="Eric Riley" userId="ea4d9f1b3da1423e" providerId="LiveId" clId="{A60DFE58-CA15-4320-B78A-6E1771B451DA}" dt="2026-10-02T01:02:01.154" v="0"/>
          <ac:spMkLst>
            <pc:docMk/>
            <pc:sldMk cId="3654582312" sldId="516"/>
            <ac:spMk id="47" creationId="{EA257BE7-7F34-8A40-1355-17A912B11E4E}"/>
          </ac:spMkLst>
        </pc:spChg>
        <pc:spChg chg="mod">
          <ac:chgData name="Eric Riley" userId="ea4d9f1b3da1423e" providerId="LiveId" clId="{A60DFE58-CA15-4320-B78A-6E1771B451DA}" dt="2026-10-02T01:16:04.074" v="140" actId="207"/>
          <ac:spMkLst>
            <pc:docMk/>
            <pc:sldMk cId="3654582312" sldId="516"/>
            <ac:spMk id="49" creationId="{7E819976-064E-09D0-3C8A-C93423D2D9F7}"/>
          </ac:spMkLst>
        </pc:spChg>
      </pc:sldChg>
      <pc:sldChg chg="modSp mod">
        <pc:chgData name="Eric Riley" userId="ea4d9f1b3da1423e" providerId="LiveId" clId="{A60DFE58-CA15-4320-B78A-6E1771B451DA}" dt="2026-10-02T01:22:34.504" v="226" actId="207"/>
        <pc:sldMkLst>
          <pc:docMk/>
          <pc:sldMk cId="2226765129" sldId="517"/>
        </pc:sldMkLst>
        <pc:spChg chg="mod">
          <ac:chgData name="Eric Riley" userId="ea4d9f1b3da1423e" providerId="LiveId" clId="{A60DFE58-CA15-4320-B78A-6E1771B451DA}" dt="2026-10-02T01:22:34.504" v="226" actId="207"/>
          <ac:spMkLst>
            <pc:docMk/>
            <pc:sldMk cId="2226765129" sldId="517"/>
            <ac:spMk id="51" creationId="{4C7F353A-75B5-B884-5241-DF0E98189BA8}"/>
          </ac:spMkLst>
        </pc:spChg>
      </pc:sldChg>
      <pc:sldChg chg="addSp modSp mod">
        <pc:chgData name="Eric Riley" userId="ea4d9f1b3da1423e" providerId="LiveId" clId="{A60DFE58-CA15-4320-B78A-6E1771B451DA}" dt="2026-10-02T14:39:02.536" v="1389" actId="113"/>
        <pc:sldMkLst>
          <pc:docMk/>
          <pc:sldMk cId="317195339" sldId="518"/>
        </pc:sldMkLst>
        <pc:spChg chg="mod">
          <ac:chgData name="Eric Riley" userId="ea4d9f1b3da1423e" providerId="LiveId" clId="{A60DFE58-CA15-4320-B78A-6E1771B451DA}" dt="2026-10-02T14:34:49.099" v="1253" actId="1035"/>
          <ac:spMkLst>
            <pc:docMk/>
            <pc:sldMk cId="317195339" sldId="518"/>
            <ac:spMk id="3" creationId="{1F17022A-6C3C-0854-0B02-310C5DE34058}"/>
          </ac:spMkLst>
        </pc:spChg>
        <pc:spChg chg="mod">
          <ac:chgData name="Eric Riley" userId="ea4d9f1b3da1423e" providerId="LiveId" clId="{A60DFE58-CA15-4320-B78A-6E1771B451DA}" dt="2026-10-02T14:34:49.099" v="1253" actId="1035"/>
          <ac:spMkLst>
            <pc:docMk/>
            <pc:sldMk cId="317195339" sldId="518"/>
            <ac:spMk id="4" creationId="{973A3094-911D-9A4D-4634-DF229E2F7D62}"/>
          </ac:spMkLst>
        </pc:spChg>
        <pc:spChg chg="mod">
          <ac:chgData name="Eric Riley" userId="ea4d9f1b3da1423e" providerId="LiveId" clId="{A60DFE58-CA15-4320-B78A-6E1771B451DA}" dt="2026-10-02T14:34:49.099" v="1253" actId="1035"/>
          <ac:spMkLst>
            <pc:docMk/>
            <pc:sldMk cId="317195339" sldId="518"/>
            <ac:spMk id="7" creationId="{233D2D5E-B744-F5A8-2D99-7EDD75024784}"/>
          </ac:spMkLst>
        </pc:spChg>
        <pc:spChg chg="mod">
          <ac:chgData name="Eric Riley" userId="ea4d9f1b3da1423e" providerId="LiveId" clId="{A60DFE58-CA15-4320-B78A-6E1771B451DA}" dt="2026-10-02T14:34:49.099" v="1253" actId="1035"/>
          <ac:spMkLst>
            <pc:docMk/>
            <pc:sldMk cId="317195339" sldId="518"/>
            <ac:spMk id="8" creationId="{119091EB-EAE3-A0D1-835E-06DA01A7E8D0}"/>
          </ac:spMkLst>
        </pc:spChg>
        <pc:spChg chg="mod">
          <ac:chgData name="Eric Riley" userId="ea4d9f1b3da1423e" providerId="LiveId" clId="{A60DFE58-CA15-4320-B78A-6E1771B451DA}" dt="2026-10-02T14:34:49.099" v="1253" actId="1035"/>
          <ac:spMkLst>
            <pc:docMk/>
            <pc:sldMk cId="317195339" sldId="518"/>
            <ac:spMk id="10" creationId="{DC13A9C7-9D96-940E-67FC-078877115C8E}"/>
          </ac:spMkLst>
        </pc:spChg>
        <pc:spChg chg="mod">
          <ac:chgData name="Eric Riley" userId="ea4d9f1b3da1423e" providerId="LiveId" clId="{A60DFE58-CA15-4320-B78A-6E1771B451DA}" dt="2026-10-02T14:34:49.099" v="1253" actId="1035"/>
          <ac:spMkLst>
            <pc:docMk/>
            <pc:sldMk cId="317195339" sldId="518"/>
            <ac:spMk id="11" creationId="{CA161122-315F-71BE-B158-E4B07CC6F2CC}"/>
          </ac:spMkLst>
        </pc:spChg>
        <pc:spChg chg="mod">
          <ac:chgData name="Eric Riley" userId="ea4d9f1b3da1423e" providerId="LiveId" clId="{A60DFE58-CA15-4320-B78A-6E1771B451DA}" dt="2026-10-02T14:34:49.099" v="1253" actId="1035"/>
          <ac:spMkLst>
            <pc:docMk/>
            <pc:sldMk cId="317195339" sldId="518"/>
            <ac:spMk id="12" creationId="{1146E6C9-5DC4-CDFD-6C9D-6CD2BD2C9767}"/>
          </ac:spMkLst>
        </pc:spChg>
        <pc:spChg chg="mod">
          <ac:chgData name="Eric Riley" userId="ea4d9f1b3da1423e" providerId="LiveId" clId="{A60DFE58-CA15-4320-B78A-6E1771B451DA}" dt="2026-10-02T14:34:49.099" v="1253" actId="1035"/>
          <ac:spMkLst>
            <pc:docMk/>
            <pc:sldMk cId="317195339" sldId="518"/>
            <ac:spMk id="14" creationId="{09536A34-A3D1-CA49-9631-75064B7226B2}"/>
          </ac:spMkLst>
        </pc:spChg>
        <pc:spChg chg="mod">
          <ac:chgData name="Eric Riley" userId="ea4d9f1b3da1423e" providerId="LiveId" clId="{A60DFE58-CA15-4320-B78A-6E1771B451DA}" dt="2026-10-02T14:35:20.247" v="1384" actId="1035"/>
          <ac:spMkLst>
            <pc:docMk/>
            <pc:sldMk cId="317195339" sldId="518"/>
            <ac:spMk id="21" creationId="{DE2D391C-D418-B2C0-3561-EFA1FD6BF6BC}"/>
          </ac:spMkLst>
        </pc:spChg>
        <pc:spChg chg="mod">
          <ac:chgData name="Eric Riley" userId="ea4d9f1b3da1423e" providerId="LiveId" clId="{A60DFE58-CA15-4320-B78A-6E1771B451DA}" dt="2026-10-02T14:35:22.080" v="1385" actId="1076"/>
          <ac:spMkLst>
            <pc:docMk/>
            <pc:sldMk cId="317195339" sldId="518"/>
            <ac:spMk id="24" creationId="{C9E05720-6992-0BB2-67F1-590C8CEFD4FE}"/>
          </ac:spMkLst>
        </pc:spChg>
        <pc:spChg chg="mod">
          <ac:chgData name="Eric Riley" userId="ea4d9f1b3da1423e" providerId="LiveId" clId="{A60DFE58-CA15-4320-B78A-6E1771B451DA}" dt="2026-10-02T14:35:20.247" v="1384" actId="1035"/>
          <ac:spMkLst>
            <pc:docMk/>
            <pc:sldMk cId="317195339" sldId="518"/>
            <ac:spMk id="25" creationId="{5199AC18-235D-44A6-5D3D-1A539BAA7D08}"/>
          </ac:spMkLst>
        </pc:spChg>
        <pc:spChg chg="mod">
          <ac:chgData name="Eric Riley" userId="ea4d9f1b3da1423e" providerId="LiveId" clId="{A60DFE58-CA15-4320-B78A-6E1771B451DA}" dt="2026-10-02T14:35:20.247" v="1384" actId="1035"/>
          <ac:spMkLst>
            <pc:docMk/>
            <pc:sldMk cId="317195339" sldId="518"/>
            <ac:spMk id="26" creationId="{78373310-0904-26AC-F03D-0A12F72A7B3C}"/>
          </ac:spMkLst>
        </pc:spChg>
        <pc:spChg chg="mod">
          <ac:chgData name="Eric Riley" userId="ea4d9f1b3da1423e" providerId="LiveId" clId="{A60DFE58-CA15-4320-B78A-6E1771B451DA}" dt="2026-10-02T14:35:20.247" v="1384" actId="1035"/>
          <ac:spMkLst>
            <pc:docMk/>
            <pc:sldMk cId="317195339" sldId="518"/>
            <ac:spMk id="27" creationId="{E517BDCB-0C1C-815E-5379-2F24E9C356FA}"/>
          </ac:spMkLst>
        </pc:spChg>
        <pc:spChg chg="mod">
          <ac:chgData name="Eric Riley" userId="ea4d9f1b3da1423e" providerId="LiveId" clId="{A60DFE58-CA15-4320-B78A-6E1771B451DA}" dt="2026-10-02T14:35:20.247" v="1384" actId="1035"/>
          <ac:spMkLst>
            <pc:docMk/>
            <pc:sldMk cId="317195339" sldId="518"/>
            <ac:spMk id="28" creationId="{2B66FE15-2EAB-F6CF-E0E4-B6023667284F}"/>
          </ac:spMkLst>
        </pc:spChg>
        <pc:spChg chg="mod">
          <ac:chgData name="Eric Riley" userId="ea4d9f1b3da1423e" providerId="LiveId" clId="{A60DFE58-CA15-4320-B78A-6E1771B451DA}" dt="2026-10-02T14:35:20.247" v="1384" actId="1035"/>
          <ac:spMkLst>
            <pc:docMk/>
            <pc:sldMk cId="317195339" sldId="518"/>
            <ac:spMk id="29" creationId="{FDE42BAC-C86D-7E3A-A1F1-C20AD2B4C9B3}"/>
          </ac:spMkLst>
        </pc:spChg>
        <pc:spChg chg="mod">
          <ac:chgData name="Eric Riley" userId="ea4d9f1b3da1423e" providerId="LiveId" clId="{A60DFE58-CA15-4320-B78A-6E1771B451DA}" dt="2026-10-02T14:35:20.247" v="1384" actId="1035"/>
          <ac:spMkLst>
            <pc:docMk/>
            <pc:sldMk cId="317195339" sldId="518"/>
            <ac:spMk id="30" creationId="{4E99FB0B-ECEA-56E0-2A30-5A1F796D5BF8}"/>
          </ac:spMkLst>
        </pc:spChg>
        <pc:spChg chg="add mod">
          <ac:chgData name="Eric Riley" userId="ea4d9f1b3da1423e" providerId="LiveId" clId="{A60DFE58-CA15-4320-B78A-6E1771B451DA}" dt="2026-10-02T14:39:02.536" v="1389" actId="113"/>
          <ac:spMkLst>
            <pc:docMk/>
            <pc:sldMk cId="317195339" sldId="518"/>
            <ac:spMk id="38" creationId="{15E6D58D-7052-826E-96C2-8E654C77A81A}"/>
          </ac:spMkLst>
        </pc:spChg>
        <pc:spChg chg="mod">
          <ac:chgData name="Eric Riley" userId="ea4d9f1b3da1423e" providerId="LiveId" clId="{A60DFE58-CA15-4320-B78A-6E1771B451DA}" dt="2026-10-02T14:35:20.247" v="1384" actId="1035"/>
          <ac:spMkLst>
            <pc:docMk/>
            <pc:sldMk cId="317195339" sldId="518"/>
            <ac:spMk id="39" creationId="{BE51B913-1C01-3D95-4022-EF7053FD2226}"/>
          </ac:spMkLst>
        </pc:spChg>
        <pc:spChg chg="mod">
          <ac:chgData name="Eric Riley" userId="ea4d9f1b3da1423e" providerId="LiveId" clId="{A60DFE58-CA15-4320-B78A-6E1771B451DA}" dt="2026-10-02T14:35:10.288" v="1347" actId="1036"/>
          <ac:spMkLst>
            <pc:docMk/>
            <pc:sldMk cId="317195339" sldId="518"/>
            <ac:spMk id="42" creationId="{F25506C0-C9D7-FFE6-4F69-9788A169ED35}"/>
          </ac:spMkLst>
        </pc:spChg>
        <pc:spChg chg="mod">
          <ac:chgData name="Eric Riley" userId="ea4d9f1b3da1423e" providerId="LiveId" clId="{A60DFE58-CA15-4320-B78A-6E1771B451DA}" dt="2026-10-02T14:35:20.247" v="1384" actId="1035"/>
          <ac:spMkLst>
            <pc:docMk/>
            <pc:sldMk cId="317195339" sldId="518"/>
            <ac:spMk id="43" creationId="{8A633FCD-14D3-F65C-F159-0D58B081027D}"/>
          </ac:spMkLst>
        </pc:spChg>
        <pc:spChg chg="mod">
          <ac:chgData name="Eric Riley" userId="ea4d9f1b3da1423e" providerId="LiveId" clId="{A60DFE58-CA15-4320-B78A-6E1771B451DA}" dt="2026-10-02T14:34:57.306" v="1304" actId="1035"/>
          <ac:spMkLst>
            <pc:docMk/>
            <pc:sldMk cId="317195339" sldId="518"/>
            <ac:spMk id="46" creationId="{CD6226B2-C0A7-F0F3-42F3-2654413BEE23}"/>
          </ac:spMkLst>
        </pc:spChg>
        <pc:spChg chg="mod">
          <ac:chgData name="Eric Riley" userId="ea4d9f1b3da1423e" providerId="LiveId" clId="{A60DFE58-CA15-4320-B78A-6E1771B451DA}" dt="2026-10-02T14:35:20.247" v="1384" actId="1035"/>
          <ac:spMkLst>
            <pc:docMk/>
            <pc:sldMk cId="317195339" sldId="518"/>
            <ac:spMk id="65" creationId="{675D0CE4-B3EA-F63E-627A-C6F36B0C381A}"/>
          </ac:spMkLst>
        </pc:spChg>
        <pc:cxnChg chg="mod">
          <ac:chgData name="Eric Riley" userId="ea4d9f1b3da1423e" providerId="LiveId" clId="{A60DFE58-CA15-4320-B78A-6E1771B451DA}" dt="2026-10-02T14:34:49.099" v="1253" actId="1035"/>
          <ac:cxnSpMkLst>
            <pc:docMk/>
            <pc:sldMk cId="317195339" sldId="518"/>
            <ac:cxnSpMk id="6" creationId="{74FEE643-EB29-185F-014B-110927ED7D86}"/>
          </ac:cxnSpMkLst>
        </pc:cxnChg>
        <pc:cxnChg chg="add mod">
          <ac:chgData name="Eric Riley" userId="ea4d9f1b3da1423e" providerId="LiveId" clId="{A60DFE58-CA15-4320-B78A-6E1771B451DA}" dt="2026-10-02T14:34:42.038" v="1225" actId="1076"/>
          <ac:cxnSpMkLst>
            <pc:docMk/>
            <pc:sldMk cId="317195339" sldId="518"/>
            <ac:cxnSpMk id="9" creationId="{395F019E-3361-BB7A-5388-875F867B1013}"/>
          </ac:cxnSpMkLst>
        </pc:cxnChg>
        <pc:cxnChg chg="mod">
          <ac:chgData name="Eric Riley" userId="ea4d9f1b3da1423e" providerId="LiveId" clId="{A60DFE58-CA15-4320-B78A-6E1771B451DA}" dt="2026-10-02T14:34:49.099" v="1253" actId="1035"/>
          <ac:cxnSpMkLst>
            <pc:docMk/>
            <pc:sldMk cId="317195339" sldId="518"/>
            <ac:cxnSpMk id="18" creationId="{FFD8CC1E-5DD3-ED0F-8CD2-052A47B86E0C}"/>
          </ac:cxnSpMkLst>
        </pc:cxnChg>
        <pc:cxnChg chg="mod">
          <ac:chgData name="Eric Riley" userId="ea4d9f1b3da1423e" providerId="LiveId" clId="{A60DFE58-CA15-4320-B78A-6E1771B451DA}" dt="2026-10-02T14:35:05.495" v="1327" actId="1035"/>
          <ac:cxnSpMkLst>
            <pc:docMk/>
            <pc:sldMk cId="317195339" sldId="518"/>
            <ac:cxnSpMk id="40" creationId="{94E09416-0582-A69A-B677-60DB3161AAB5}"/>
          </ac:cxnSpMkLst>
        </pc:cxnChg>
      </pc:sldChg>
      <pc:sldChg chg="modSp mod">
        <pc:chgData name="Eric Riley" userId="ea4d9f1b3da1423e" providerId="LiveId" clId="{A60DFE58-CA15-4320-B78A-6E1771B451DA}" dt="2026-10-02T01:29:57.426" v="247" actId="207"/>
        <pc:sldMkLst>
          <pc:docMk/>
          <pc:sldMk cId="1638160488" sldId="519"/>
        </pc:sldMkLst>
        <pc:spChg chg="mod">
          <ac:chgData name="Eric Riley" userId="ea4d9f1b3da1423e" providerId="LiveId" clId="{A60DFE58-CA15-4320-B78A-6E1771B451DA}" dt="2026-10-02T01:29:57.426" v="247" actId="207"/>
          <ac:spMkLst>
            <pc:docMk/>
            <pc:sldMk cId="1638160488" sldId="519"/>
            <ac:spMk id="2" creationId="{8967B13E-6DC1-5D2B-6359-92F4F4F38D01}"/>
          </ac:spMkLst>
        </pc:spChg>
        <pc:spChg chg="mod">
          <ac:chgData name="Eric Riley" userId="ea4d9f1b3da1423e" providerId="LiveId" clId="{A60DFE58-CA15-4320-B78A-6E1771B451DA}" dt="2026-10-02T01:29:47.226" v="244" actId="21"/>
          <ac:spMkLst>
            <pc:docMk/>
            <pc:sldMk cId="1638160488" sldId="519"/>
            <ac:spMk id="41" creationId="{09448673-2A13-C517-387D-B6B20F5BB1E4}"/>
          </ac:spMkLst>
        </pc:spChg>
      </pc:sldChg>
      <pc:sldChg chg="addSp delSp modSp add mod">
        <pc:chgData name="Eric Riley" userId="ea4d9f1b3da1423e" providerId="LiveId" clId="{A60DFE58-CA15-4320-B78A-6E1771B451DA}" dt="2026-10-02T14:00:29.297" v="257" actId="21"/>
        <pc:sldMkLst>
          <pc:docMk/>
          <pc:sldMk cId="4177101095" sldId="520"/>
        </pc:sldMkLst>
        <pc:picChg chg="add del mod">
          <ac:chgData name="Eric Riley" userId="ea4d9f1b3da1423e" providerId="LiveId" clId="{A60DFE58-CA15-4320-B78A-6E1771B451DA}" dt="2026-10-02T14:00:29.297" v="257" actId="21"/>
          <ac:picMkLst>
            <pc:docMk/>
            <pc:sldMk cId="4177101095" sldId="520"/>
            <ac:picMk id="4" creationId="{A3BA88ED-CAB6-318E-3FD7-9C63F98E326A}"/>
          </ac:picMkLst>
        </pc:picChg>
      </pc:sldChg>
      <pc:sldChg chg="addSp delSp modSp add mod ord">
        <pc:chgData name="Eric Riley" userId="ea4d9f1b3da1423e" providerId="LiveId" clId="{A60DFE58-CA15-4320-B78A-6E1771B451DA}" dt="2026-10-02T14:40:19.424" v="1390" actId="478"/>
        <pc:sldMkLst>
          <pc:docMk/>
          <pc:sldMk cId="3500600571" sldId="521"/>
        </pc:sldMkLst>
        <pc:spChg chg="del">
          <ac:chgData name="Eric Riley" userId="ea4d9f1b3da1423e" providerId="LiveId" clId="{A60DFE58-CA15-4320-B78A-6E1771B451DA}" dt="2026-10-02T14:00:59.872" v="307" actId="478"/>
          <ac:spMkLst>
            <pc:docMk/>
            <pc:sldMk cId="3500600571" sldId="521"/>
            <ac:spMk id="2" creationId="{213CF8D5-37A6-AF43-BA4B-28788CBE0E6D}"/>
          </ac:spMkLst>
        </pc:spChg>
        <pc:spChg chg="add mod">
          <ac:chgData name="Eric Riley" userId="ea4d9f1b3da1423e" providerId="LiveId" clId="{A60DFE58-CA15-4320-B78A-6E1771B451DA}" dt="2026-10-02T14:18:06.294" v="592" actId="207"/>
          <ac:spMkLst>
            <pc:docMk/>
            <pc:sldMk cId="3500600571" sldId="521"/>
            <ac:spMk id="6" creationId="{DF0299D5-F726-D1DD-E2C6-6F4CFEC36C30}"/>
          </ac:spMkLst>
        </pc:spChg>
        <pc:spChg chg="add mod">
          <ac:chgData name="Eric Riley" userId="ea4d9f1b3da1423e" providerId="LiveId" clId="{A60DFE58-CA15-4320-B78A-6E1771B451DA}" dt="2026-10-02T14:26:25.848" v="891" actId="207"/>
          <ac:spMkLst>
            <pc:docMk/>
            <pc:sldMk cId="3500600571" sldId="521"/>
            <ac:spMk id="8" creationId="{D6B6081C-CD3A-314B-F581-1B5DAF76AB31}"/>
          </ac:spMkLst>
        </pc:spChg>
        <pc:spChg chg="mod">
          <ac:chgData name="Eric Riley" userId="ea4d9f1b3da1423e" providerId="LiveId" clId="{A60DFE58-CA15-4320-B78A-6E1771B451DA}" dt="2026-10-02T14:19:05.533" v="602" actId="207"/>
          <ac:spMkLst>
            <pc:docMk/>
            <pc:sldMk cId="3500600571" sldId="521"/>
            <ac:spMk id="10" creationId="{078A5B07-C8AF-AD94-FCF7-A9D7273CF1E9}"/>
          </ac:spMkLst>
        </pc:spChg>
        <pc:spChg chg="add del">
          <ac:chgData name="Eric Riley" userId="ea4d9f1b3da1423e" providerId="LiveId" clId="{A60DFE58-CA15-4320-B78A-6E1771B451DA}" dt="2026-10-02T14:23:01.540" v="859" actId="22"/>
          <ac:spMkLst>
            <pc:docMk/>
            <pc:sldMk cId="3500600571" sldId="521"/>
            <ac:spMk id="11" creationId="{6A828524-44FA-30DF-E1D5-E0921B89C16A}"/>
          </ac:spMkLst>
        </pc:spChg>
        <pc:spChg chg="mod">
          <ac:chgData name="Eric Riley" userId="ea4d9f1b3da1423e" providerId="LiveId" clId="{A60DFE58-CA15-4320-B78A-6E1771B451DA}" dt="2026-10-02T14:18:56.502" v="601" actId="207"/>
          <ac:spMkLst>
            <pc:docMk/>
            <pc:sldMk cId="3500600571" sldId="521"/>
            <ac:spMk id="12" creationId="{74CCAA66-5E96-10DF-F2E7-552E39D02336}"/>
          </ac:spMkLst>
        </pc:spChg>
        <pc:spChg chg="mod">
          <ac:chgData name="Eric Riley" userId="ea4d9f1b3da1423e" providerId="LiveId" clId="{A60DFE58-CA15-4320-B78A-6E1771B451DA}" dt="2026-10-02T14:18:41.303" v="598" actId="207"/>
          <ac:spMkLst>
            <pc:docMk/>
            <pc:sldMk cId="3500600571" sldId="521"/>
            <ac:spMk id="14" creationId="{EF0CC73C-D769-7239-6CCE-003B69488A08}"/>
          </ac:spMkLst>
        </pc:spChg>
        <pc:spChg chg="mod">
          <ac:chgData name="Eric Riley" userId="ea4d9f1b3da1423e" providerId="LiveId" clId="{A60DFE58-CA15-4320-B78A-6E1771B451DA}" dt="2026-10-02T14:27:40.676" v="892" actId="20577"/>
          <ac:spMkLst>
            <pc:docMk/>
            <pc:sldMk cId="3500600571" sldId="521"/>
            <ac:spMk id="16" creationId="{8501E713-BE4F-5286-C202-CD032A7CB13C}"/>
          </ac:spMkLst>
        </pc:spChg>
        <pc:spChg chg="del">
          <ac:chgData name="Eric Riley" userId="ea4d9f1b3da1423e" providerId="LiveId" clId="{A60DFE58-CA15-4320-B78A-6E1771B451DA}" dt="2026-10-02T14:20:41.867" v="663" actId="478"/>
          <ac:spMkLst>
            <pc:docMk/>
            <pc:sldMk cId="3500600571" sldId="521"/>
            <ac:spMk id="18" creationId="{C865B125-5067-82CD-FE4D-EFF37D18E55C}"/>
          </ac:spMkLst>
        </pc:spChg>
        <pc:spChg chg="del">
          <ac:chgData name="Eric Riley" userId="ea4d9f1b3da1423e" providerId="LiveId" clId="{A60DFE58-CA15-4320-B78A-6E1771B451DA}" dt="2026-10-02T14:20:44.919" v="664" actId="478"/>
          <ac:spMkLst>
            <pc:docMk/>
            <pc:sldMk cId="3500600571" sldId="521"/>
            <ac:spMk id="20" creationId="{EE569282-163B-346E-09DB-C58BE5AA0374}"/>
          </ac:spMkLst>
        </pc:spChg>
        <pc:spChg chg="del">
          <ac:chgData name="Eric Riley" userId="ea4d9f1b3da1423e" providerId="LiveId" clId="{A60DFE58-CA15-4320-B78A-6E1771B451DA}" dt="2026-10-02T14:20:47.663" v="665" actId="478"/>
          <ac:spMkLst>
            <pc:docMk/>
            <pc:sldMk cId="3500600571" sldId="521"/>
            <ac:spMk id="74" creationId="{D30AC110-C7ED-136E-7DC4-97B9D19034A5}"/>
          </ac:spMkLst>
        </pc:spChg>
        <pc:spChg chg="del">
          <ac:chgData name="Eric Riley" userId="ea4d9f1b3da1423e" providerId="LiveId" clId="{A60DFE58-CA15-4320-B78A-6E1771B451DA}" dt="2026-10-02T14:20:49.388" v="666" actId="478"/>
          <ac:spMkLst>
            <pc:docMk/>
            <pc:sldMk cId="3500600571" sldId="521"/>
            <ac:spMk id="76" creationId="{787EEA48-B220-4FB3-2EB5-7D9495224FAF}"/>
          </ac:spMkLst>
        </pc:spChg>
        <pc:spChg chg="mod">
          <ac:chgData name="Eric Riley" userId="ea4d9f1b3da1423e" providerId="LiveId" clId="{A60DFE58-CA15-4320-B78A-6E1771B451DA}" dt="2026-10-02T14:02:22.891" v="477" actId="33524"/>
          <ac:spMkLst>
            <pc:docMk/>
            <pc:sldMk cId="3500600571" sldId="521"/>
            <ac:spMk id="78" creationId="{1FCD52DF-BAAB-923F-9354-ADB54282473D}"/>
          </ac:spMkLst>
        </pc:spChg>
        <pc:spChg chg="mod">
          <ac:chgData name="Eric Riley" userId="ea4d9f1b3da1423e" providerId="LiveId" clId="{A60DFE58-CA15-4320-B78A-6E1771B451DA}" dt="2026-10-02T14:20:04.795" v="662" actId="20577"/>
          <ac:spMkLst>
            <pc:docMk/>
            <pc:sldMk cId="3500600571" sldId="521"/>
            <ac:spMk id="83" creationId="{DA44E020-A4AB-C9C5-3BF0-6D3E8CDB46D0}"/>
          </ac:spMkLst>
        </pc:spChg>
        <pc:picChg chg="add del mod">
          <ac:chgData name="Eric Riley" userId="ea4d9f1b3da1423e" providerId="LiveId" clId="{A60DFE58-CA15-4320-B78A-6E1771B451DA}" dt="2026-10-02T14:40:19.424" v="1390" actId="478"/>
          <ac:picMkLst>
            <pc:docMk/>
            <pc:sldMk cId="3500600571" sldId="521"/>
            <ac:picMk id="4" creationId="{47114388-2002-DDDB-8B0E-537D6D4CCD4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6EF56B-2C99-45CA-9B2E-E3E8F65044BB}" type="datetimeFigureOut">
              <a:rPr lang="en-US" smtClean="0"/>
              <a:t>10/2/2026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7B8329-EF3A-44F5-8175-4E17119C9101}" type="slidenum">
              <a:rPr lang="en-US" smtClean="0"/>
              <a:t>‹#›</a:t>
            </a:fld>
            <a:endParaRPr lang="en-US" dirty="0"/>
          </a:p>
        </p:txBody>
      </p:sp>
    </p:spTree>
    <p:extLst>
      <p:ext uri="{BB962C8B-B14F-4D97-AF65-F5344CB8AC3E}">
        <p14:creationId xmlns:p14="http://schemas.microsoft.com/office/powerpoint/2010/main" val="304428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7B8329-EF3A-44F5-8175-4E17119C9101}" type="slidenum">
              <a:rPr lang="en-US" smtClean="0"/>
              <a:t>5</a:t>
            </a:fld>
            <a:endParaRPr lang="en-US" dirty="0"/>
          </a:p>
        </p:txBody>
      </p:sp>
    </p:spTree>
    <p:extLst>
      <p:ext uri="{BB962C8B-B14F-4D97-AF65-F5344CB8AC3E}">
        <p14:creationId xmlns:p14="http://schemas.microsoft.com/office/powerpoint/2010/main" val="558260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FE933-8197-8231-41B2-194F2F2F7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A0AEA-4506-56BC-975B-423BEF64D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C9FB4-542D-5CA4-8072-85013CEFF1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605666-0E83-6893-4431-845E48CDE5EE}"/>
              </a:ext>
            </a:extLst>
          </p:cNvPr>
          <p:cNvSpPr>
            <a:spLocks noGrp="1"/>
          </p:cNvSpPr>
          <p:nvPr>
            <p:ph type="sldNum" sz="quarter" idx="5"/>
          </p:nvPr>
        </p:nvSpPr>
        <p:spPr/>
        <p:txBody>
          <a:bodyPr/>
          <a:lstStyle/>
          <a:p>
            <a:fld id="{937B8329-EF3A-44F5-8175-4E17119C9101}" type="slidenum">
              <a:rPr lang="en-US" smtClean="0"/>
              <a:t>6</a:t>
            </a:fld>
            <a:endParaRPr lang="en-US" dirty="0"/>
          </a:p>
        </p:txBody>
      </p:sp>
    </p:spTree>
    <p:extLst>
      <p:ext uri="{BB962C8B-B14F-4D97-AF65-F5344CB8AC3E}">
        <p14:creationId xmlns:p14="http://schemas.microsoft.com/office/powerpoint/2010/main" val="2038327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BF823-91D2-AB3F-C5FB-56384D0E2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81687-5C5F-E84F-15C7-5B3DAB85F3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D4055-C048-2251-8F79-45F1E5F0F1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86B94"/>
                </a:solidFill>
              </a:rPr>
              <a:t>Being labeled trapped guarantees you advanced far enough to be trapped. That guaranteed advancement is what makes trapped members look like better prospects.</a:t>
            </a:r>
          </a:p>
          <a:p>
            <a:endParaRPr lang="en-US" dirty="0"/>
          </a:p>
        </p:txBody>
      </p:sp>
      <p:sp>
        <p:nvSpPr>
          <p:cNvPr id="4" name="Slide Number Placeholder 3">
            <a:extLst>
              <a:ext uri="{FF2B5EF4-FFF2-40B4-BE49-F238E27FC236}">
                <a16:creationId xmlns:a16="http://schemas.microsoft.com/office/drawing/2014/main" id="{0EAB1477-3010-7B9F-ACA8-A8C29A4C66BF}"/>
              </a:ext>
            </a:extLst>
          </p:cNvPr>
          <p:cNvSpPr>
            <a:spLocks noGrp="1"/>
          </p:cNvSpPr>
          <p:nvPr>
            <p:ph type="sldNum" sz="quarter" idx="5"/>
          </p:nvPr>
        </p:nvSpPr>
        <p:spPr/>
        <p:txBody>
          <a:bodyPr/>
          <a:lstStyle/>
          <a:p>
            <a:fld id="{937B8329-EF3A-44F5-8175-4E17119C9101}" type="slidenum">
              <a:rPr lang="en-US" smtClean="0"/>
              <a:t>7</a:t>
            </a:fld>
            <a:endParaRPr lang="en-US" dirty="0"/>
          </a:p>
        </p:txBody>
      </p:sp>
    </p:spTree>
    <p:extLst>
      <p:ext uri="{BB962C8B-B14F-4D97-AF65-F5344CB8AC3E}">
        <p14:creationId xmlns:p14="http://schemas.microsoft.com/office/powerpoint/2010/main" val="1572765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FF49C-1B95-208A-9705-404452EA9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7A6B1-C14B-4E58-6ADF-0B05F5402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3E9CD-B4C1-5CF7-D7CA-17A0030995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86B94"/>
                </a:solidFill>
              </a:rPr>
              <a:t>Being labeled trapped guarantees you advanced far enough to be trapped. That guaranteed advancement is what makes trapped members look like better prospects.</a:t>
            </a:r>
          </a:p>
          <a:p>
            <a:endParaRPr lang="en-US" dirty="0"/>
          </a:p>
        </p:txBody>
      </p:sp>
      <p:sp>
        <p:nvSpPr>
          <p:cNvPr id="4" name="Slide Number Placeholder 3">
            <a:extLst>
              <a:ext uri="{FF2B5EF4-FFF2-40B4-BE49-F238E27FC236}">
                <a16:creationId xmlns:a16="http://schemas.microsoft.com/office/drawing/2014/main" id="{B5AE6CB3-C3C1-BFC0-5174-2DE260DABECB}"/>
              </a:ext>
            </a:extLst>
          </p:cNvPr>
          <p:cNvSpPr>
            <a:spLocks noGrp="1"/>
          </p:cNvSpPr>
          <p:nvPr>
            <p:ph type="sldNum" sz="quarter" idx="5"/>
          </p:nvPr>
        </p:nvSpPr>
        <p:spPr/>
        <p:txBody>
          <a:bodyPr/>
          <a:lstStyle/>
          <a:p>
            <a:fld id="{937B8329-EF3A-44F5-8175-4E17119C9101}" type="slidenum">
              <a:rPr lang="en-US" smtClean="0"/>
              <a:t>8</a:t>
            </a:fld>
            <a:endParaRPr lang="en-US" dirty="0"/>
          </a:p>
        </p:txBody>
      </p:sp>
    </p:spTree>
    <p:extLst>
      <p:ext uri="{BB962C8B-B14F-4D97-AF65-F5344CB8AC3E}">
        <p14:creationId xmlns:p14="http://schemas.microsoft.com/office/powerpoint/2010/main" val="323993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01879-0E77-C746-F3DD-169FAF364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2D3673-5751-ECB5-EF64-A468ADA8267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4AAC552-B757-B1B0-EFDD-37072D9B13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7F534D-7692-1095-B8E9-ED87FFADA292}"/>
              </a:ext>
            </a:extLst>
          </p:cNvPr>
          <p:cNvSpPr>
            <a:spLocks noGrp="1"/>
          </p:cNvSpPr>
          <p:nvPr>
            <p:ph type="sldNum" sz="quarter" idx="10"/>
          </p:nvPr>
        </p:nvSpPr>
        <p:spPr/>
        <p:txBody>
          <a:bodyPr/>
          <a:lstStyle/>
          <a:p>
            <a:fld id="{937B8329-EF3A-44F5-8175-4E17119C9101}" type="slidenum">
              <a:rPr lang="en-US" smtClean="0"/>
              <a:t>9</a:t>
            </a:fld>
            <a:endParaRPr lang="en-US" dirty="0"/>
          </a:p>
        </p:txBody>
      </p:sp>
    </p:spTree>
    <p:extLst>
      <p:ext uri="{BB962C8B-B14F-4D97-AF65-F5344CB8AC3E}">
        <p14:creationId xmlns:p14="http://schemas.microsoft.com/office/powerpoint/2010/main" val="2342459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68283-D635-ABD3-C77C-B8B0B2087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1A226-CF23-DB98-4721-2E56CB72008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0F93E8D-F320-21A5-C211-85C09EC660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92A622-8F1C-59C7-63F2-B900D2CF2C41}"/>
              </a:ext>
            </a:extLst>
          </p:cNvPr>
          <p:cNvSpPr>
            <a:spLocks noGrp="1"/>
          </p:cNvSpPr>
          <p:nvPr>
            <p:ph type="sldNum" sz="quarter" idx="10"/>
          </p:nvPr>
        </p:nvSpPr>
        <p:spPr/>
        <p:txBody>
          <a:bodyPr/>
          <a:lstStyle/>
          <a:p>
            <a:fld id="{937B8329-EF3A-44F5-8175-4E17119C9101}" type="slidenum">
              <a:rPr lang="en-US" smtClean="0"/>
              <a:t>10</a:t>
            </a:fld>
            <a:endParaRPr lang="en-US" dirty="0"/>
          </a:p>
        </p:txBody>
      </p:sp>
    </p:spTree>
    <p:extLst>
      <p:ext uri="{BB962C8B-B14F-4D97-AF65-F5344CB8AC3E}">
        <p14:creationId xmlns:p14="http://schemas.microsoft.com/office/powerpoint/2010/main" val="1896429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BC3E3-7F43-F466-A984-F5C05C79D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34642-1916-58E7-8C26-9B5729403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9A16B-815E-C35B-A7EE-4F81CFC3F0FB}"/>
              </a:ext>
            </a:extLst>
          </p:cNvPr>
          <p:cNvSpPr>
            <a:spLocks noGrp="1"/>
          </p:cNvSpPr>
          <p:nvPr>
            <p:ph type="body" idx="1"/>
          </p:nvPr>
        </p:nvSpPr>
        <p:spPr/>
        <p:txBody>
          <a:bodyPr/>
          <a:lstStyle/>
          <a:p>
            <a:r>
              <a:rPr dirty="0"/>
              <a:t>SAY: "I took what IT believed, wrote it down as a model, and ran it forty thousand times. It never once produced what actually happened."</a:t>
            </a:r>
          </a:p>
          <a:p>
            <a:endParaRPr dirty="0"/>
          </a:p>
          <a:p>
            <a:r>
              <a:rPr dirty="0"/>
              <a:t>THE WHOLE THING, PLAINLY:</a:t>
            </a:r>
          </a:p>
          <a:p>
            <a:r>
              <a:rPr dirty="0"/>
              <a:t>IT said — yeah, some people hit errors and drop out along the way, but the ones who fill out the whole application are fine.</a:t>
            </a:r>
          </a:p>
          <a:p>
            <a:endParaRPr dirty="0"/>
          </a:p>
          <a:p>
            <a:r>
              <a:rPr dirty="0"/>
              <a:t>So take the 2,157 people who hit an error. Walk them through the funnel using THEIR OWN drop-off rates at every stage — so of course those match, you're using their numbers.</a:t>
            </a:r>
          </a:p>
          <a:p>
            <a:endParaRPr dirty="0"/>
          </a:p>
          <a:p>
            <a:r>
              <a:rPr dirty="0"/>
              <a:t>At the very last step, swap in the clean members' rate: 87.4% of completed applications become policies. That's IT's claim, word for word. If they're right, trapped members behave the same at that step.</a:t>
            </a:r>
          </a:p>
          <a:p>
            <a:endParaRPr dirty="0"/>
          </a:p>
          <a:p>
            <a:r>
              <a:rPr dirty="0"/>
              <a:t>Run it 40,000 times. It predicts 937 policies. Reality is 768. Not once in 40,000 runs did it get as low as 768 — the worst it ever managed was 809, and reality is worse than that.</a:t>
            </a:r>
          </a:p>
          <a:p>
            <a:endParaRPr dirty="0"/>
          </a:p>
          <a:p>
            <a:r>
              <a:rPr dirty="0"/>
              <a:t>So IT's sentence isn't slightly off. It can't produce what actually happened.</a:t>
            </a:r>
          </a:p>
          <a:p>
            <a:endParaRPr dirty="0"/>
          </a:p>
          <a:p>
            <a:r>
              <a:rPr dirty="0"/>
              <a:t>THE ONE-LINER FOR THE GAP: "Their assumption predicts 937. Reality is 768. The assumption is the only thing I borrowed, so the gap is theirs." Everything else in that model came from the trapped members' own behavior — the 87.4% is the single borrowed number and the only thing that can be wrong.</a:t>
            </a:r>
          </a:p>
          <a:p>
            <a:endParaRPr dirty="0"/>
          </a:p>
          <a:p>
            <a:r>
              <a:rPr dirty="0"/>
              <a:t>WHY THIS IS A REAL TEST: everything except that last number came from the trapped members themselves. The 768 is the one thing the model never saw. That's what makes it a test instead of a mirror.</a:t>
            </a:r>
          </a:p>
          <a:p>
            <a:endParaRPr dirty="0"/>
          </a:p>
          <a:p>
            <a:r>
              <a:rPr dirty="0"/>
              <a:t>NUMBERS: predicted 937 +/- 31, observed 768, Z = -5.41. Zero of 40,000 draws reached 768.</a:t>
            </a:r>
          </a:p>
          <a:p>
            <a:endParaRPr dirty="0"/>
          </a:p>
          <a:p>
            <a:r>
              <a:rPr dirty="0"/>
              <a:t>LOCALIZATION — THREE LEVELS. Only go down one when they ask.</a:t>
            </a:r>
          </a:p>
          <a:p>
            <a:endParaRPr dirty="0"/>
          </a:p>
          <a:p>
            <a:r>
              <a:rPr dirty="0"/>
              <a:t>LEVEL 1, say this: "So I checked every connection in the model, one at a time, holding everything else fixed. Only one came back with something in it — the link between hitting an error and not buying. Under IT's version that link isn't supposed to exist at all."</a:t>
            </a:r>
          </a:p>
          <a:p>
            <a:endParaRPr dirty="0"/>
          </a:p>
          <a:p>
            <a:r>
              <a:rPr dirty="0"/>
              <a:t>LEVEL 2, if they ask how: "There's a standard calculation for it — precision matrix. It's a way to test every connection at once instead of guessing which one to look at."</a:t>
            </a:r>
          </a:p>
          <a:p>
            <a:endParaRPr dirty="0"/>
          </a:p>
          <a:p>
            <a:r>
              <a:rPr dirty="0"/>
              <a:t>LEVEL 3, only if they're technical and push: "It's the inverse of the covariance matrix. Zeros in it are conditional independence, so a nonzero where the model says zero is a missing link." Numbers: Q[Trap, Issued] = +1.21 where a chain requires zero, partial correlation -0.178, Fisher z = -12.6 on 4,907 records.</a:t>
            </a:r>
          </a:p>
          <a:p>
            <a:endParaRPr dirty="0"/>
          </a:p>
          <a:p>
            <a:r>
              <a:rPr dirty="0"/>
              <a:t>THE PLAIN WAY TO SHOW IT: "Take only the people who filled out the entire application — everyone at the same point, one step from buying. If IT were right, hitting an error shouldn't matter anymore. It matters a lot: 71% of the error group buys, 87% of the clean group. Something is still happening at signature that nobody had drawn."</a:t>
            </a:r>
          </a:p>
          <a:p>
            <a:endParaRPr dirty="0"/>
          </a:p>
          <a:p>
            <a:r>
              <a:rPr dirty="0"/>
              <a:t>WHERE THE MISSING EDGE IS: a direct link from error to not-buying that doesn't run through any funnel stage. IT drew error &gt; stages &gt; application complete &gt; bought. The data has that PLUS an arrow reaching all the way to the buy button.</a:t>
            </a:r>
          </a:p>
          <a:p>
            <a:endParaRPr dirty="0"/>
          </a:p>
          <a:p>
            <a:r>
              <a:rPr dirty="0"/>
              <a:t>WHAT THE ARROW ACTUALLY IS — don't overclaim: could be the error hits at checkout, could be it happened earlier and eroded trust, could be errors just fire on unusual cases that were never going to close. Separating those needs error timestamps against stage timestamps. That's the data request I'd walk out with.</a:t>
            </a:r>
          </a:p>
          <a:p>
            <a:endParaRPr dirty="0"/>
          </a:p>
          <a:p>
            <a:r>
              <a:rPr dirty="0"/>
              <a:t>IF THEY SAY "isn't this just comparing two percentages?" — "It is. What the model adds is showing that every stage is clean and only the last step breaks, so you know exactly where the problem is, not just that one exists."</a:t>
            </a:r>
          </a:p>
          <a:p>
            <a:endParaRPr dirty="0"/>
          </a:p>
          <a:p>
            <a:r>
              <a:rPr dirty="0"/>
              <a:t>THIS RUNS ON REAL DATA. No synthetic anything.</a:t>
            </a:r>
          </a:p>
        </p:txBody>
      </p:sp>
      <p:sp>
        <p:nvSpPr>
          <p:cNvPr id="4" name="Slide Number Placeholder 3">
            <a:extLst>
              <a:ext uri="{FF2B5EF4-FFF2-40B4-BE49-F238E27FC236}">
                <a16:creationId xmlns:a16="http://schemas.microsoft.com/office/drawing/2014/main" id="{0602C015-7E3D-B397-8CD6-7CD9A3ED8D78}"/>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400487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11EE-ED5B-5FFF-3054-DF8BB6080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DE333-385D-5EDE-E29B-519FF5B3039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F1B97D4-AE5D-871A-C932-60A57E20C5FA}"/>
              </a:ext>
            </a:extLst>
          </p:cNvPr>
          <p:cNvSpPr>
            <a:spLocks noGrp="1"/>
          </p:cNvSpPr>
          <p:nvPr>
            <p:ph type="body" idx="1"/>
          </p:nvPr>
        </p:nvSpPr>
        <p:spPr/>
        <p:txBody>
          <a:bodyPr/>
          <a:lstStyle/>
          <a:p>
            <a:r>
              <a:rPr lang="en-US" dirty="0"/>
              <a:t>The last row is the one to volunteer. Q[IT, app complete] gives +0.093 at z = +9.36 — trapped members are MORE likely to reach app complete. That is immortal time bias, because the exposure flag has no gate index. It does not break the terminal result, since that comparison already conditions on reaching app complete. Name it before someone inverts your matrix and finds it.</a:t>
            </a:r>
          </a:p>
        </p:txBody>
      </p:sp>
      <p:sp>
        <p:nvSpPr>
          <p:cNvPr id="4" name="Slide Number Placeholder 3">
            <a:extLst>
              <a:ext uri="{FF2B5EF4-FFF2-40B4-BE49-F238E27FC236}">
                <a16:creationId xmlns:a16="http://schemas.microsoft.com/office/drawing/2014/main" id="{0CAF42E9-9A68-33C2-1C8F-790A50D9D0F6}"/>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3661788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The last row is the one to volunteer. Q[IT, app complete] gives +0.093 at z = +9.36 — trapped members are MORE likely to reach app complete. That is immortal time bias, because the exposure flag has no gate index. It does not break the terminal result, since that comparison already conditions on reaching app complete. Name it before someone inverts your matrix and finds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BDDB7-A4D4-F8AB-9E92-FE5F18D6E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8B2F25-3B82-158B-17A8-C98F4BABFE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E79BA-1CBA-8DBD-1935-3AF34AC45101}"/>
              </a:ext>
            </a:extLst>
          </p:cNvPr>
          <p:cNvSpPr>
            <a:spLocks noGrp="1"/>
          </p:cNvSpPr>
          <p:nvPr>
            <p:ph type="body" idx="1"/>
          </p:nvPr>
        </p:nvSpPr>
        <p:spPr/>
        <p:txBody>
          <a:bodyPr/>
          <a:lstStyle/>
          <a:p>
            <a:r>
              <a:rPr lang="en-US" dirty="0"/>
              <a:t>ARC: they agree on the location, disagree on the meaning, and the only lever anyone can name is volume.
Do NOT say IT thought the transition was fine — their own number flags it as their worst. Say: IT saw a stage performing normally for who reached it; P&amp;C saw the book bleeding.
THE ARITHMETIC, if pushed:
  Survival to Issuance = 4,116 / 9,793 = 42.0%. 1 / 0.420 = 2.4 arrivals per policy.
  245 / 0.4203 = 583 arrivals. Round to 580 when speaking.
  Survival to Application Complete = 4,907 / 9,793 = 50.1% (2.0 arrivals each) — use only if asked about that stage.
  The 245 is a 5 percentage point (absolute) yield gain at App Complete → Issuance, p5 = 0.8388.
LEVERAGE, if she asks which stage to improve: 5 points at Quote Complete → App Start yields 255 policies, the highest of the five. Worst rate, largest loss, and highest leverage all land on the same transition.
This slide sets up the 253. Leave them holding an expensive, uncertain answer before showing the leak.</a:t>
            </a:r>
          </a:p>
        </p:txBody>
      </p:sp>
      <p:sp>
        <p:nvSpPr>
          <p:cNvPr id="4" name="Slide Number Placeholder 3">
            <a:extLst>
              <a:ext uri="{FF2B5EF4-FFF2-40B4-BE49-F238E27FC236}">
                <a16:creationId xmlns:a16="http://schemas.microsoft.com/office/drawing/2014/main" id="{807831AC-2744-9DD3-A487-77CA0A4806F6}"/>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929246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A6EE1-A2D2-581E-8451-D99C3958C5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A0658-4DA4-7BF9-6865-CD6F1152F4B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72A01DD-BEAF-388E-24F4-DDD0E4FB28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543280-C810-E80B-581E-09B3FF07F762}"/>
              </a:ext>
            </a:extLst>
          </p:cNvPr>
          <p:cNvSpPr>
            <a:spLocks noGrp="1"/>
          </p:cNvSpPr>
          <p:nvPr>
            <p:ph type="sldNum" sz="quarter" idx="10"/>
          </p:nvPr>
        </p:nvSpPr>
        <p:spPr/>
        <p:txBody>
          <a:bodyPr/>
          <a:lstStyle/>
          <a:p>
            <a:fld id="{937B8329-EF3A-44F5-8175-4E17119C9101}" type="slidenum">
              <a:rPr lang="en-US" smtClean="0"/>
              <a:t>16</a:t>
            </a:fld>
            <a:endParaRPr lang="en-US" dirty="0"/>
          </a:p>
        </p:txBody>
      </p:sp>
    </p:spTree>
    <p:extLst>
      <p:ext uri="{BB962C8B-B14F-4D97-AF65-F5344CB8AC3E}">
        <p14:creationId xmlns:p14="http://schemas.microsoft.com/office/powerpoint/2010/main" val="3463933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6F6F8-C37A-24C5-D2A7-02247CCB4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33B75-9408-ED5E-83B0-5FD2E1DAA5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E9D85F-4383-2CF7-2E25-3E262101B075}"/>
              </a:ext>
            </a:extLst>
          </p:cNvPr>
          <p:cNvSpPr>
            <a:spLocks noGrp="1"/>
          </p:cNvSpPr>
          <p:nvPr>
            <p:ph type="body" idx="1"/>
          </p:nvPr>
        </p:nvSpPr>
        <p:spPr/>
        <p:txBody>
          <a:bodyPr/>
          <a:lstStyle/>
          <a:p>
            <a:r>
              <a:rPr lang="en-US" dirty="0"/>
              <a:t>Beat: the failure happens after the order is placed and leaves no record. Do not say the error causes drop-off during the journey - the data shows the two arms are identical at all five upstream gates. Open question to close before presenting: when do the traps fire? If most fire near Application Complete, upstream parity is true by construction.</a:t>
            </a:r>
          </a:p>
        </p:txBody>
      </p:sp>
      <p:sp>
        <p:nvSpPr>
          <p:cNvPr id="4" name="Slide Number Placeholder 3">
            <a:extLst>
              <a:ext uri="{FF2B5EF4-FFF2-40B4-BE49-F238E27FC236}">
                <a16:creationId xmlns:a16="http://schemas.microsoft.com/office/drawing/2014/main" id="{AFBE34F9-849D-D094-4565-EB0F4235A890}"/>
              </a:ext>
            </a:extLst>
          </p:cNvPr>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26022632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AD054-B03D-2DE5-C5B0-E515F37EB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C9907-5F5B-8641-5FB4-820757114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077F6-895E-119A-DD0E-D576ECB672BF}"/>
              </a:ext>
            </a:extLst>
          </p:cNvPr>
          <p:cNvSpPr>
            <a:spLocks noGrp="1"/>
          </p:cNvSpPr>
          <p:nvPr>
            <p:ph type="body" idx="1"/>
          </p:nvPr>
        </p:nvSpPr>
        <p:spPr/>
        <p:txBody>
          <a:bodyPr/>
          <a:lstStyle/>
          <a:p>
            <a:r>
              <a:rPr lang="en-US" dirty="0"/>
              <a:t>Beat: the failure happens after the order is placed and leaves no record. Do not say the error causes drop-off during the journey - the data shows the two arms are identical at all five upstream gates. Open question to close before presenting: when do the traps fire? If most fire near Application Complete, upstream parity is true by construction.</a:t>
            </a:r>
          </a:p>
        </p:txBody>
      </p:sp>
      <p:sp>
        <p:nvSpPr>
          <p:cNvPr id="4" name="Slide Number Placeholder 3">
            <a:extLst>
              <a:ext uri="{FF2B5EF4-FFF2-40B4-BE49-F238E27FC236}">
                <a16:creationId xmlns:a16="http://schemas.microsoft.com/office/drawing/2014/main" id="{B716D834-81C7-AD37-4B9C-DD5223CB6B95}"/>
              </a:ext>
            </a:extLst>
          </p:cNvPr>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130906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the failure happens after the order is placed and leaves no record. Do not say the error causes drop-off during the journey - the data shows the two arms are identical at all five upstream gates. Open question to close before presenting: when do the traps fire? If most fire near Application Complete, upstream parity is true by construction.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0A6DA-4464-AD8E-56B7-B9E32873A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E2F33-0C9F-E8A3-B165-0A9E1FF10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F494C-F832-747D-87DF-197FE3344C71}"/>
              </a:ext>
            </a:extLst>
          </p:cNvPr>
          <p:cNvSpPr>
            <a:spLocks noGrp="1"/>
          </p:cNvSpPr>
          <p:nvPr>
            <p:ph type="body" idx="1"/>
          </p:nvPr>
        </p:nvSpPr>
        <p:spPr/>
        <p:txBody>
          <a:bodyPr/>
          <a:lstStyle/>
          <a:p>
            <a:r>
              <a:rPr lang="en-US" dirty="0"/>
              <a:t>Beat: the failure happens after the order is placed and leaves no record. Do not say the error causes drop-off during the journey - the data shows the two arms are identical at all five upstream gates. Open question to close before presenting: when do the traps fire? If most fire near Application Complete, upstream parity is true by construction.</a:t>
            </a:r>
          </a:p>
        </p:txBody>
      </p:sp>
      <p:sp>
        <p:nvSpPr>
          <p:cNvPr id="4" name="Slide Number Placeholder 3">
            <a:extLst>
              <a:ext uri="{FF2B5EF4-FFF2-40B4-BE49-F238E27FC236}">
                <a16:creationId xmlns:a16="http://schemas.microsoft.com/office/drawing/2014/main" id="{1F759FA4-8A67-E437-C1F7-29A34C61B7D0}"/>
              </a:ext>
            </a:extLst>
          </p:cNvPr>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953623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CD45-A4E3-0713-E6F2-ED06DD462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DF024-546A-35C1-5BD5-72793ECB2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C4826-79B0-96AC-FD3E-8BFAC98B61FA}"/>
              </a:ext>
            </a:extLst>
          </p:cNvPr>
          <p:cNvSpPr>
            <a:spLocks noGrp="1"/>
          </p:cNvSpPr>
          <p:nvPr>
            <p:ph type="body" idx="1"/>
          </p:nvPr>
        </p:nvSpPr>
        <p:spPr/>
        <p:txBody>
          <a:bodyPr/>
          <a:lstStyle/>
          <a:p>
            <a:r>
              <a:rPr lang="en-US" dirty="0"/>
              <a:t>Beat: the failure happens after the order is placed and leaves no record. Do not say the error causes drop-off during the journey - the data shows the two arms are identical at all five upstream gates. Open question to close before presenting: when do the traps fire? If most fire near Application Complete, upstream parity is true by construction.</a:t>
            </a:r>
          </a:p>
        </p:txBody>
      </p:sp>
      <p:sp>
        <p:nvSpPr>
          <p:cNvPr id="4" name="Slide Number Placeholder 3">
            <a:extLst>
              <a:ext uri="{FF2B5EF4-FFF2-40B4-BE49-F238E27FC236}">
                <a16:creationId xmlns:a16="http://schemas.microsoft.com/office/drawing/2014/main" id="{C77BBD04-8700-4286-BD66-86EA89E62BBC}"/>
              </a:ext>
            </a:extLst>
          </p:cNvPr>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2235973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5E7872-13F7-4DFB-8593-F552BDCAABF9}" type="slidenum">
              <a:rPr lang="en-US" smtClean="0"/>
              <a:t>‹#›</a:t>
            </a:fld>
            <a:endParaRPr lang="en-US" dirty="0"/>
          </a:p>
        </p:txBody>
      </p:sp>
    </p:spTree>
    <p:extLst>
      <p:ext uri="{BB962C8B-B14F-4D97-AF65-F5344CB8AC3E}">
        <p14:creationId xmlns:p14="http://schemas.microsoft.com/office/powerpoint/2010/main" val="1557065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5E7872-13F7-4DFB-8593-F552BDCAABF9}" type="slidenum">
              <a:rPr lang="en-US" smtClean="0"/>
              <a:t>‹#›</a:t>
            </a:fld>
            <a:endParaRPr lang="en-US" dirty="0"/>
          </a:p>
        </p:txBody>
      </p:sp>
      <p:sp>
        <p:nvSpPr>
          <p:cNvPr id="7" name="Rectangle 6">
            <a:extLst>
              <a:ext uri="{FF2B5EF4-FFF2-40B4-BE49-F238E27FC236}">
                <a16:creationId xmlns:a16="http://schemas.microsoft.com/office/drawing/2014/main" id="{3081F101-94F3-45F4-AF20-43465F645060}"/>
              </a:ext>
            </a:extLst>
          </p:cNvPr>
          <p:cNvSpPr/>
          <p:nvPr userDrawn="1"/>
        </p:nvSpPr>
        <p:spPr>
          <a:xfrm>
            <a:off x="0" y="0"/>
            <a:ext cx="12192000" cy="858982"/>
          </a:xfrm>
          <a:prstGeom prst="rect">
            <a:avLst/>
          </a:prstGeom>
          <a:solidFill>
            <a:srgbClr val="12395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32696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5E7872-13F7-4DFB-8593-F552BDCAABF9}" type="slidenum">
              <a:rPr lang="en-US" smtClean="0"/>
              <a:t>‹#›</a:t>
            </a:fld>
            <a:endParaRPr lang="en-US" dirty="0"/>
          </a:p>
        </p:txBody>
      </p:sp>
    </p:spTree>
    <p:extLst>
      <p:ext uri="{BB962C8B-B14F-4D97-AF65-F5344CB8AC3E}">
        <p14:creationId xmlns:p14="http://schemas.microsoft.com/office/powerpoint/2010/main" val="607730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D5E7872-13F7-4DFB-8593-F552BDCAABF9}" type="slidenum">
              <a:rPr lang="en-US" smtClean="0"/>
              <a:t>‹#›</a:t>
            </a:fld>
            <a:endParaRPr lang="en-US" dirty="0"/>
          </a:p>
        </p:txBody>
      </p:sp>
    </p:spTree>
    <p:extLst>
      <p:ext uri="{BB962C8B-B14F-4D97-AF65-F5344CB8AC3E}">
        <p14:creationId xmlns:p14="http://schemas.microsoft.com/office/powerpoint/2010/main" val="160417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D5E7872-13F7-4DFB-8593-F552BDCAABF9}" type="slidenum">
              <a:rPr lang="en-US" smtClean="0"/>
              <a:t>‹#›</a:t>
            </a:fld>
            <a:endParaRPr lang="en-US" dirty="0"/>
          </a:p>
        </p:txBody>
      </p:sp>
    </p:spTree>
    <p:extLst>
      <p:ext uri="{BB962C8B-B14F-4D97-AF65-F5344CB8AC3E}">
        <p14:creationId xmlns:p14="http://schemas.microsoft.com/office/powerpoint/2010/main" val="1457280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D5E7872-13F7-4DFB-8593-F552BDCAABF9}" type="slidenum">
              <a:rPr lang="en-US" smtClean="0"/>
              <a:t>‹#›</a:t>
            </a:fld>
            <a:endParaRPr lang="en-US" dirty="0"/>
          </a:p>
        </p:txBody>
      </p:sp>
    </p:spTree>
    <p:extLst>
      <p:ext uri="{BB962C8B-B14F-4D97-AF65-F5344CB8AC3E}">
        <p14:creationId xmlns:p14="http://schemas.microsoft.com/office/powerpoint/2010/main" val="1524279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D5E7872-13F7-4DFB-8593-F552BDCAABF9}" type="slidenum">
              <a:rPr lang="en-US" smtClean="0"/>
              <a:t>‹#›</a:t>
            </a:fld>
            <a:endParaRPr lang="en-US" dirty="0"/>
          </a:p>
        </p:txBody>
      </p:sp>
    </p:spTree>
    <p:extLst>
      <p:ext uri="{BB962C8B-B14F-4D97-AF65-F5344CB8AC3E}">
        <p14:creationId xmlns:p14="http://schemas.microsoft.com/office/powerpoint/2010/main" val="1880888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D5E7872-13F7-4DFB-8593-F552BDCAABF9}" type="slidenum">
              <a:rPr lang="en-US" smtClean="0"/>
              <a:t>‹#›</a:t>
            </a:fld>
            <a:endParaRPr lang="en-US" dirty="0"/>
          </a:p>
        </p:txBody>
      </p:sp>
    </p:spTree>
    <p:extLst>
      <p:ext uri="{BB962C8B-B14F-4D97-AF65-F5344CB8AC3E}">
        <p14:creationId xmlns:p14="http://schemas.microsoft.com/office/powerpoint/2010/main" val="2639988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D5E7872-13F7-4DFB-8593-F552BDCAABF9}" type="slidenum">
              <a:rPr lang="en-US" smtClean="0"/>
              <a:t>‹#›</a:t>
            </a:fld>
            <a:endParaRPr lang="en-US" dirty="0"/>
          </a:p>
        </p:txBody>
      </p:sp>
    </p:spTree>
    <p:extLst>
      <p:ext uri="{BB962C8B-B14F-4D97-AF65-F5344CB8AC3E}">
        <p14:creationId xmlns:p14="http://schemas.microsoft.com/office/powerpoint/2010/main" val="932794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5E7872-13F7-4DFB-8593-F552BDCAABF9}" type="slidenum">
              <a:rPr lang="en-US" smtClean="0"/>
              <a:t>‹#›</a:t>
            </a:fld>
            <a:endParaRPr lang="en-US" dirty="0"/>
          </a:p>
        </p:txBody>
      </p:sp>
    </p:spTree>
    <p:extLst>
      <p:ext uri="{BB962C8B-B14F-4D97-AF65-F5344CB8AC3E}">
        <p14:creationId xmlns:p14="http://schemas.microsoft.com/office/powerpoint/2010/main" val="924566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5E7872-13F7-4DFB-8593-F552BDCAABF9}" type="slidenum">
              <a:rPr lang="en-US" smtClean="0"/>
              <a:t>‹#›</a:t>
            </a:fld>
            <a:endParaRPr lang="en-US" dirty="0"/>
          </a:p>
        </p:txBody>
      </p:sp>
    </p:spTree>
    <p:extLst>
      <p:ext uri="{BB962C8B-B14F-4D97-AF65-F5344CB8AC3E}">
        <p14:creationId xmlns:p14="http://schemas.microsoft.com/office/powerpoint/2010/main" val="1478389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618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F6EA2B3-AB5F-4DF6-B32F-84E4479EFA12}"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5E7872-13F7-4DFB-8593-F552BDCAABF9}" type="slidenum">
              <a:rPr lang="en-US" smtClean="0"/>
              <a:t>‹#›</a:t>
            </a:fld>
            <a:endParaRPr lang="en-US" dirty="0"/>
          </a:p>
        </p:txBody>
      </p:sp>
      <p:sp>
        <p:nvSpPr>
          <p:cNvPr id="7" name="Rectangle 6">
            <a:extLst>
              <a:ext uri="{FF2B5EF4-FFF2-40B4-BE49-F238E27FC236}">
                <a16:creationId xmlns:a16="http://schemas.microsoft.com/office/drawing/2014/main" id="{3081F101-94F3-45F4-AF20-43465F645060}"/>
              </a:ext>
            </a:extLst>
          </p:cNvPr>
          <p:cNvSpPr/>
          <p:nvPr userDrawn="1"/>
        </p:nvSpPr>
        <p:spPr>
          <a:xfrm>
            <a:off x="0" y="0"/>
            <a:ext cx="12192000" cy="858982"/>
          </a:xfrm>
          <a:prstGeom prst="rect">
            <a:avLst/>
          </a:prstGeom>
          <a:solidFill>
            <a:srgbClr val="12395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53336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6EA2B3-AB5F-4DF6-B32F-84E4479EFA12}" type="datetimeFigureOut">
              <a:rPr lang="en-US" smtClean="0"/>
              <a:t>10/2/2026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5E7872-13F7-4DFB-8593-F552BDCAABF9}" type="slidenum">
              <a:rPr lang="en-US" smtClean="0"/>
              <a:t>‹#›</a:t>
            </a:fld>
            <a:endParaRPr lang="en-US" dirty="0"/>
          </a:p>
        </p:txBody>
      </p:sp>
    </p:spTree>
    <p:extLst>
      <p:ext uri="{BB962C8B-B14F-4D97-AF65-F5344CB8AC3E}">
        <p14:creationId xmlns:p14="http://schemas.microsoft.com/office/powerpoint/2010/main" val="3528977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4"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70.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53419B-78C3-445F-AE7C-B203E7A2E641}"/>
              </a:ext>
            </a:extLst>
          </p:cNvPr>
          <p:cNvSpPr/>
          <p:nvPr/>
        </p:nvSpPr>
        <p:spPr>
          <a:xfrm>
            <a:off x="250873" y="572839"/>
            <a:ext cx="11690253" cy="1846659"/>
          </a:xfrm>
          <a:prstGeom prst="rect">
            <a:avLst/>
          </a:prstGeom>
        </p:spPr>
        <p:txBody>
          <a:bodyPr wrap="square">
            <a:spAutoFit/>
          </a:bodyPr>
          <a:lstStyle/>
          <a:p>
            <a:r>
              <a:rPr lang="en-US" sz="3200" b="1" dirty="0">
                <a:solidFill>
                  <a:srgbClr val="12395B"/>
                </a:solidFill>
              </a:rPr>
              <a:t>Finding the policies we already won: a silent loss in the issuance funnel</a:t>
            </a:r>
            <a:endParaRPr lang="en-US" sz="3200" b="1" dirty="0">
              <a:solidFill>
                <a:srgbClr val="12395B"/>
              </a:solidFill>
              <a:latin typeface="Arial" panose="020B0604020202020204" pitchFamily="34" charset="0"/>
              <a:cs typeface="Arial" panose="020B0604020202020204" pitchFamily="34" charset="0"/>
            </a:endParaRPr>
          </a:p>
          <a:p>
            <a:endParaRPr lang="en-US" sz="3200" b="1" dirty="0">
              <a:solidFill>
                <a:srgbClr val="12395B"/>
              </a:solidFill>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n-US" b="1" dirty="0">
                <a:solidFill>
                  <a:srgbClr val="12395B"/>
                </a:solidFill>
                <a:latin typeface="Arial" panose="020B0604020202020204" pitchFamily="34" charset="0"/>
                <a:cs typeface="Arial" panose="020B0604020202020204" pitchFamily="34" charset="0"/>
              </a:rPr>
              <a:t>Eric Riley </a:t>
            </a:r>
          </a:p>
        </p:txBody>
      </p:sp>
      <p:sp>
        <p:nvSpPr>
          <p:cNvPr id="3" name="Rectangle 2">
            <a:extLst>
              <a:ext uri="{FF2B5EF4-FFF2-40B4-BE49-F238E27FC236}">
                <a16:creationId xmlns:a16="http://schemas.microsoft.com/office/drawing/2014/main" id="{5BDA2FDE-FAF8-4937-99BA-E502D42165A1}"/>
              </a:ext>
            </a:extLst>
          </p:cNvPr>
          <p:cNvSpPr/>
          <p:nvPr/>
        </p:nvSpPr>
        <p:spPr>
          <a:xfrm>
            <a:off x="253217" y="253219"/>
            <a:ext cx="11690253" cy="6485206"/>
          </a:xfrm>
          <a:prstGeom prst="rect">
            <a:avLst/>
          </a:prstGeom>
          <a:noFill/>
          <a:ln>
            <a:solidFill>
              <a:srgbClr val="1239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09785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0147D-5805-A037-B9AE-E4D20AEDCCB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5A8EEC5-92C5-EEFA-55AD-CE1B50E2614D}"/>
              </a:ext>
            </a:extLst>
          </p:cNvPr>
          <p:cNvSpPr/>
          <p:nvPr/>
        </p:nvSpPr>
        <p:spPr>
          <a:xfrm>
            <a:off x="0" y="0"/>
            <a:ext cx="12191695" cy="8686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146304" rtlCol="0" anchor="ctr"/>
          <a:lstStyle/>
          <a:p>
            <a:r>
              <a:rPr lang="en-US" sz="1900" b="1" dirty="0">
                <a:solidFill>
                  <a:schemeClr val="bg1"/>
                </a:solidFill>
                <a:cs typeface="Arial" panose="020B0604020202020204" pitchFamily="34" charset="0"/>
              </a:rPr>
              <a:t>We know where customers leave the sales funnel. We don't know which losses matter.</a:t>
            </a:r>
          </a:p>
        </p:txBody>
      </p:sp>
      <p:sp>
        <p:nvSpPr>
          <p:cNvPr id="3" name="TextBox 2">
            <a:extLst>
              <a:ext uri="{FF2B5EF4-FFF2-40B4-BE49-F238E27FC236}">
                <a16:creationId xmlns:a16="http://schemas.microsoft.com/office/drawing/2014/main" id="{88271C11-FD1E-74DA-26E3-867AFDA37D5B}"/>
              </a:ext>
            </a:extLst>
          </p:cNvPr>
          <p:cNvSpPr txBox="1"/>
          <p:nvPr/>
        </p:nvSpPr>
        <p:spPr>
          <a:xfrm>
            <a:off x="58056" y="949841"/>
            <a:ext cx="12133944" cy="584775"/>
          </a:xfrm>
          <a:prstGeom prst="rect">
            <a:avLst/>
          </a:prstGeom>
          <a:noFill/>
        </p:spPr>
        <p:txBody>
          <a:bodyPr wrap="square">
            <a:spAutoFit/>
          </a:bodyPr>
          <a:lstStyle/>
          <a:p>
            <a:r>
              <a:rPr lang="en-US" b="1" dirty="0">
                <a:solidFill>
                  <a:srgbClr val="5F5E5A"/>
                </a:solidFill>
              </a:rPr>
              <a:t>Goal: Grow the number of policies we issue from the customers we already attract.</a:t>
            </a:r>
            <a:endParaRPr lang="en-US" b="1" dirty="0">
              <a:solidFill>
                <a:srgbClr val="5F5E5A"/>
              </a:solidFill>
              <a:cs typeface="Arial" panose="020B0604020202020204" pitchFamily="34" charset="0"/>
            </a:endParaRPr>
          </a:p>
          <a:p>
            <a:endParaRPr lang="en-US" sz="1400" dirty="0"/>
          </a:p>
        </p:txBody>
      </p:sp>
      <p:sp>
        <p:nvSpPr>
          <p:cNvPr id="5" name="TextBox 4">
            <a:extLst>
              <a:ext uri="{FF2B5EF4-FFF2-40B4-BE49-F238E27FC236}">
                <a16:creationId xmlns:a16="http://schemas.microsoft.com/office/drawing/2014/main" id="{7DACB9A4-1E32-DBC6-AE22-10311D6A5554}"/>
              </a:ext>
            </a:extLst>
          </p:cNvPr>
          <p:cNvSpPr txBox="1"/>
          <p:nvPr/>
        </p:nvSpPr>
        <p:spPr>
          <a:xfrm>
            <a:off x="58056" y="1359376"/>
            <a:ext cx="11811000" cy="2400657"/>
          </a:xfrm>
          <a:prstGeom prst="rect">
            <a:avLst/>
          </a:prstGeom>
          <a:noFill/>
        </p:spPr>
        <p:txBody>
          <a:bodyPr wrap="square">
            <a:spAutoFit/>
          </a:bodyPr>
          <a:lstStyle/>
          <a:p>
            <a:r>
              <a:rPr lang="en-US" sz="1500" b="1" dirty="0">
                <a:solidFill>
                  <a:srgbClr val="086B94"/>
                </a:solidFill>
                <a:cs typeface="Arial" panose="020B0604020202020204" pitchFamily="34" charset="0"/>
              </a:rPr>
              <a:t>What we see:</a:t>
            </a:r>
            <a:r>
              <a:rPr lang="en-US" sz="1500" dirty="0">
                <a:solidFill>
                  <a:srgbClr val="086B94"/>
                </a:solidFill>
                <a:cs typeface="Arial" panose="020B0604020202020204" pitchFamily="34" charset="0"/>
              </a:rPr>
              <a:t> The biggest drop is after the quote. Both IT and P&amp;C flag it, and the usual explanation is price shopping. </a:t>
            </a:r>
          </a:p>
          <a:p>
            <a:endParaRPr lang="en-US" sz="1500" dirty="0">
              <a:solidFill>
                <a:srgbClr val="086B94"/>
              </a:solidFill>
              <a:cs typeface="Arial" panose="020B0604020202020204" pitchFamily="34" charset="0"/>
            </a:endParaRPr>
          </a:p>
          <a:p>
            <a:r>
              <a:rPr lang="en-US" sz="1500" b="1" dirty="0">
                <a:solidFill>
                  <a:srgbClr val="086B94"/>
                </a:solidFill>
                <a:cs typeface="Arial" panose="020B0604020202020204" pitchFamily="34" charset="0"/>
              </a:rPr>
              <a:t>What we don't see:</a:t>
            </a:r>
            <a:r>
              <a:rPr lang="en-US" sz="1500" dirty="0">
                <a:solidFill>
                  <a:srgbClr val="086B94"/>
                </a:solidFill>
                <a:cs typeface="Arial" panose="020B0604020202020204" pitchFamily="34" charset="0"/>
              </a:rPr>
              <a:t> 791 customers completed an application and never received a policy. By every current measure it's the smallest loss on the chart, so no one has asked why.</a:t>
            </a:r>
          </a:p>
          <a:p>
            <a:endParaRPr lang="en-US" sz="1500" dirty="0">
              <a:solidFill>
                <a:srgbClr val="086B94"/>
              </a:solidFill>
              <a:cs typeface="Arial" panose="020B0604020202020204" pitchFamily="34" charset="0"/>
            </a:endParaRPr>
          </a:p>
          <a:p>
            <a:r>
              <a:rPr lang="en-US" sz="1500" b="1" dirty="0">
                <a:solidFill>
                  <a:srgbClr val="086B94"/>
                </a:solidFill>
                <a:cs typeface="Arial" panose="020B0604020202020204" pitchFamily="34" charset="0"/>
              </a:rPr>
              <a:t>What we don't know:</a:t>
            </a:r>
            <a:r>
              <a:rPr lang="en-US" sz="1500" dirty="0">
                <a:solidFill>
                  <a:srgbClr val="086B94"/>
                </a:solidFill>
                <a:cs typeface="Arial" panose="020B0604020202020204" pitchFamily="34" charset="0"/>
              </a:rPr>
              <a:t> Which of these losses are normal and which aren't. Our reports count how many people leave at each step. They don't tell us whether leaving at that step should be expected.</a:t>
            </a:r>
          </a:p>
          <a:p>
            <a:endParaRPr lang="en-US" sz="1500" dirty="0">
              <a:solidFill>
                <a:srgbClr val="086B94"/>
              </a:solidFill>
              <a:cs typeface="Arial" panose="020B0604020202020204" pitchFamily="34" charset="0"/>
            </a:endParaRPr>
          </a:p>
          <a:p>
            <a:r>
              <a:rPr lang="en-US" sz="1500" b="1" dirty="0">
                <a:solidFill>
                  <a:srgbClr val="086B94"/>
                </a:solidFill>
                <a:cs typeface="Arial" panose="020B0604020202020204" pitchFamily="34" charset="0"/>
              </a:rPr>
              <a:t>So what:</a:t>
            </a:r>
            <a:r>
              <a:rPr lang="en-US" sz="1500" dirty="0">
                <a:solidFill>
                  <a:srgbClr val="086B94"/>
                </a:solidFill>
                <a:cs typeface="Arial" panose="020B0604020202020204" pitchFamily="34" charset="0"/>
              </a:rPr>
              <a:t> Every customer who completes an application represents cost already spent: marketing, quoting, underwriting. </a:t>
            </a:r>
            <a:r>
              <a:rPr lang="en-US" sz="1500" b="1" dirty="0">
                <a:solidFill>
                  <a:srgbClr val="086B94"/>
                </a:solidFill>
                <a:cs typeface="Arial" panose="020B0604020202020204" pitchFamily="34" charset="0"/>
              </a:rPr>
              <a:t>Without knowing which losses are avoidable, we can't tell whether the answer is more shoppers or a better process.</a:t>
            </a:r>
          </a:p>
        </p:txBody>
      </p:sp>
      <p:sp>
        <p:nvSpPr>
          <p:cNvPr id="7" name="Rectangle: Rounded Corners 6">
            <a:extLst>
              <a:ext uri="{FF2B5EF4-FFF2-40B4-BE49-F238E27FC236}">
                <a16:creationId xmlns:a16="http://schemas.microsoft.com/office/drawing/2014/main" id="{9EBB0A8E-B75F-A7B8-496D-78028C2A955C}"/>
              </a:ext>
            </a:extLst>
          </p:cNvPr>
          <p:cNvSpPr/>
          <p:nvPr/>
        </p:nvSpPr>
        <p:spPr>
          <a:xfrm>
            <a:off x="1988183" y="4093063"/>
            <a:ext cx="36576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tx1"/>
                </a:solidFill>
              </a:rPr>
              <a:t>9,793 (100%) </a:t>
            </a:r>
          </a:p>
        </p:txBody>
      </p:sp>
      <p:sp>
        <p:nvSpPr>
          <p:cNvPr id="9" name="Rectangle: Rounded Corners 8">
            <a:extLst>
              <a:ext uri="{FF2B5EF4-FFF2-40B4-BE49-F238E27FC236}">
                <a16:creationId xmlns:a16="http://schemas.microsoft.com/office/drawing/2014/main" id="{BA7D375A-C279-8004-7834-6B6B5162B5E0}"/>
              </a:ext>
            </a:extLst>
          </p:cNvPr>
          <p:cNvSpPr/>
          <p:nvPr/>
        </p:nvSpPr>
        <p:spPr>
          <a:xfrm>
            <a:off x="1988183" y="4507493"/>
            <a:ext cx="32004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b="1" dirty="0">
              <a:solidFill>
                <a:schemeClr val="tx1"/>
              </a:solidFill>
            </a:endParaRPr>
          </a:p>
          <a:p>
            <a:r>
              <a:rPr lang="en-US" sz="1000" b="1" dirty="0">
                <a:solidFill>
                  <a:schemeClr val="tx1"/>
                </a:solidFill>
              </a:rPr>
              <a:t>8,560 (87%) </a:t>
            </a:r>
          </a:p>
          <a:p>
            <a:pPr algn="ctr"/>
            <a:endParaRPr lang="en-US" sz="1000" b="1" dirty="0">
              <a:solidFill>
                <a:schemeClr val="tx1"/>
              </a:solidFill>
            </a:endParaRPr>
          </a:p>
        </p:txBody>
      </p:sp>
      <p:sp>
        <p:nvSpPr>
          <p:cNvPr id="11" name="Rectangle: Rounded Corners 10">
            <a:extLst>
              <a:ext uri="{FF2B5EF4-FFF2-40B4-BE49-F238E27FC236}">
                <a16:creationId xmlns:a16="http://schemas.microsoft.com/office/drawing/2014/main" id="{C5D04D88-91AA-C5A4-A92A-A9B53FC36716}"/>
              </a:ext>
            </a:extLst>
          </p:cNvPr>
          <p:cNvSpPr/>
          <p:nvPr/>
        </p:nvSpPr>
        <p:spPr>
          <a:xfrm>
            <a:off x="1988184" y="4922350"/>
            <a:ext cx="2743200" cy="292100"/>
          </a:xfrm>
          <a:prstGeom prst="roundRect">
            <a:avLst/>
          </a:prstGeom>
          <a:solidFill>
            <a:srgbClr val="534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EEEDFE"/>
                </a:solidFill>
              </a:rPr>
              <a:t>7,287 (74%)</a:t>
            </a:r>
          </a:p>
        </p:txBody>
      </p:sp>
      <p:sp>
        <p:nvSpPr>
          <p:cNvPr id="13" name="Rectangle: Rounded Corners 12">
            <a:extLst>
              <a:ext uri="{FF2B5EF4-FFF2-40B4-BE49-F238E27FC236}">
                <a16:creationId xmlns:a16="http://schemas.microsoft.com/office/drawing/2014/main" id="{E365C309-CE32-B4F2-A55F-871D2BD74E53}"/>
              </a:ext>
            </a:extLst>
          </p:cNvPr>
          <p:cNvSpPr/>
          <p:nvPr/>
        </p:nvSpPr>
        <p:spPr>
          <a:xfrm>
            <a:off x="1988183" y="5367381"/>
            <a:ext cx="219456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tx1"/>
                </a:solidFill>
              </a:rPr>
              <a:t>5,883 (60%)</a:t>
            </a:r>
          </a:p>
        </p:txBody>
      </p:sp>
      <p:sp>
        <p:nvSpPr>
          <p:cNvPr id="15" name="Rectangle: Rounded Corners 14">
            <a:extLst>
              <a:ext uri="{FF2B5EF4-FFF2-40B4-BE49-F238E27FC236}">
                <a16:creationId xmlns:a16="http://schemas.microsoft.com/office/drawing/2014/main" id="{1D79E68F-F538-0C85-DFA8-7AF8AAA8A48A}"/>
              </a:ext>
            </a:extLst>
          </p:cNvPr>
          <p:cNvSpPr/>
          <p:nvPr/>
        </p:nvSpPr>
        <p:spPr>
          <a:xfrm>
            <a:off x="1988184" y="5791812"/>
            <a:ext cx="18288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tx1"/>
                </a:solidFill>
              </a:rPr>
              <a:t>4,907 (50%)</a:t>
            </a:r>
          </a:p>
        </p:txBody>
      </p:sp>
      <p:sp>
        <p:nvSpPr>
          <p:cNvPr id="17" name="Rectangle: Rounded Corners 16">
            <a:extLst>
              <a:ext uri="{FF2B5EF4-FFF2-40B4-BE49-F238E27FC236}">
                <a16:creationId xmlns:a16="http://schemas.microsoft.com/office/drawing/2014/main" id="{01D7F0A8-B84F-2902-E880-AA240154DCE7}"/>
              </a:ext>
            </a:extLst>
          </p:cNvPr>
          <p:cNvSpPr/>
          <p:nvPr/>
        </p:nvSpPr>
        <p:spPr>
          <a:xfrm>
            <a:off x="1988184" y="6244817"/>
            <a:ext cx="1554480" cy="292100"/>
          </a:xfrm>
          <a:prstGeom prst="roundRect">
            <a:avLst/>
          </a:prstGeom>
          <a:solidFill>
            <a:srgbClr val="720C27"/>
          </a:solidFill>
          <a:ln>
            <a:solidFill>
              <a:srgbClr val="72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EEEDFE"/>
                </a:solidFill>
              </a:rPr>
              <a:t>4,116 (42%)</a:t>
            </a:r>
          </a:p>
        </p:txBody>
      </p:sp>
      <p:sp>
        <p:nvSpPr>
          <p:cNvPr id="19" name="TextBox 18">
            <a:extLst>
              <a:ext uri="{FF2B5EF4-FFF2-40B4-BE49-F238E27FC236}">
                <a16:creationId xmlns:a16="http://schemas.microsoft.com/office/drawing/2014/main" id="{92E7735B-7021-2CB9-7FD6-4333B9A077EB}"/>
              </a:ext>
            </a:extLst>
          </p:cNvPr>
          <p:cNvSpPr txBox="1"/>
          <p:nvPr/>
        </p:nvSpPr>
        <p:spPr>
          <a:xfrm>
            <a:off x="4936332" y="4929598"/>
            <a:ext cx="6137274" cy="307777"/>
          </a:xfrm>
          <a:prstGeom prst="rect">
            <a:avLst/>
          </a:prstGeom>
          <a:noFill/>
        </p:spPr>
        <p:txBody>
          <a:bodyPr wrap="square">
            <a:spAutoFit/>
          </a:bodyPr>
          <a:lstStyle/>
          <a:p>
            <a:r>
              <a:rPr lang="en-US" sz="1400" b="1" dirty="0">
                <a:solidFill>
                  <a:srgbClr val="534AB7"/>
                </a:solidFill>
                <a:latin typeface="Arial" panose="020B0604020202020204" pitchFamily="34" charset="0"/>
                <a:cs typeface="Arial" panose="020B0604020202020204" pitchFamily="34" charset="0"/>
              </a:rPr>
              <a:t>Biggest drop: after the quote. IT: lowest pass rate. P&amp;C: largest loss.</a:t>
            </a:r>
          </a:p>
        </p:txBody>
      </p:sp>
      <p:sp>
        <p:nvSpPr>
          <p:cNvPr id="21" name="TextBox 20">
            <a:extLst>
              <a:ext uri="{FF2B5EF4-FFF2-40B4-BE49-F238E27FC236}">
                <a16:creationId xmlns:a16="http://schemas.microsoft.com/office/drawing/2014/main" id="{E1D96591-E0F8-EC2A-C0A8-DBBF539FA69A}"/>
              </a:ext>
            </a:extLst>
          </p:cNvPr>
          <p:cNvSpPr txBox="1"/>
          <p:nvPr/>
        </p:nvSpPr>
        <p:spPr>
          <a:xfrm>
            <a:off x="4936332" y="6229140"/>
            <a:ext cx="6137274" cy="307777"/>
          </a:xfrm>
          <a:prstGeom prst="rect">
            <a:avLst/>
          </a:prstGeom>
          <a:noFill/>
        </p:spPr>
        <p:txBody>
          <a:bodyPr wrap="square">
            <a:spAutoFit/>
          </a:bodyPr>
          <a:lstStyle/>
          <a:p>
            <a:r>
              <a:rPr lang="en-US" sz="1400" b="1" dirty="0">
                <a:solidFill>
                  <a:srgbClr val="720C27"/>
                </a:solidFill>
                <a:latin typeface="Arial" panose="020B0604020202020204" pitchFamily="34" charset="0"/>
                <a:cs typeface="Arial" panose="020B0604020202020204" pitchFamily="34" charset="0"/>
              </a:rPr>
              <a:t>791 completed applications never got a policy: 1 in 6</a:t>
            </a:r>
            <a:endParaRPr lang="en-US" sz="1400" b="1" u="sng" dirty="0">
              <a:solidFill>
                <a:srgbClr val="720C27"/>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1EAD22CA-184B-D4F6-60B8-DBA9EEC5F42A}"/>
              </a:ext>
            </a:extLst>
          </p:cNvPr>
          <p:cNvSpPr txBox="1"/>
          <p:nvPr/>
        </p:nvSpPr>
        <p:spPr>
          <a:xfrm>
            <a:off x="104774" y="4064080"/>
            <a:ext cx="1883409" cy="3754874"/>
          </a:xfrm>
          <a:prstGeom prst="rect">
            <a:avLst/>
          </a:prstGeom>
          <a:noFill/>
        </p:spPr>
        <p:txBody>
          <a:bodyPr wrap="square">
            <a:spAutoFit/>
          </a:bodyPr>
          <a:lstStyle/>
          <a:p>
            <a:r>
              <a:rPr lang="en-US" sz="1400" b="1" dirty="0">
                <a:solidFill>
                  <a:schemeClr val="tx1"/>
                </a:solidFill>
              </a:rPr>
              <a:t>Digital Store Front</a:t>
            </a:r>
          </a:p>
          <a:p>
            <a:endParaRPr lang="en-US" sz="1400" b="1" dirty="0"/>
          </a:p>
          <a:p>
            <a:r>
              <a:rPr lang="en-US" sz="1400" b="1" dirty="0"/>
              <a:t>Quote Start</a:t>
            </a:r>
          </a:p>
          <a:p>
            <a:endParaRPr lang="en-US" sz="1400" b="1" dirty="0"/>
          </a:p>
          <a:p>
            <a:r>
              <a:rPr lang="en-US" sz="1400" b="1" dirty="0"/>
              <a:t>Quote Complete</a:t>
            </a:r>
          </a:p>
          <a:p>
            <a:endParaRPr lang="en-US" sz="1400" b="1" dirty="0"/>
          </a:p>
          <a:p>
            <a:r>
              <a:rPr lang="en-US" sz="1400" b="1" dirty="0"/>
              <a:t>Application Start</a:t>
            </a:r>
          </a:p>
          <a:p>
            <a:endParaRPr lang="en-US" sz="1400" b="1" dirty="0"/>
          </a:p>
          <a:p>
            <a:r>
              <a:rPr lang="en-US" sz="1400" b="1" dirty="0"/>
              <a:t>Application Complete</a:t>
            </a:r>
          </a:p>
          <a:p>
            <a:endParaRPr lang="en-US" sz="1400" b="1" dirty="0"/>
          </a:p>
          <a:p>
            <a:r>
              <a:rPr lang="en-US" sz="1400" b="1" dirty="0"/>
              <a:t>Issuance</a:t>
            </a:r>
          </a:p>
          <a:p>
            <a:endParaRPr lang="en-US" sz="1400" b="1" dirty="0"/>
          </a:p>
          <a:p>
            <a:pPr algn="ctr"/>
            <a:endParaRPr lang="en-US" sz="1400" b="1" dirty="0"/>
          </a:p>
          <a:p>
            <a:pPr algn="ctr"/>
            <a:endParaRPr lang="en-US" sz="1400" b="1" dirty="0"/>
          </a:p>
          <a:p>
            <a:pPr algn="ctr"/>
            <a:endParaRPr lang="en-US" sz="1400" b="1" dirty="0"/>
          </a:p>
          <a:p>
            <a:pPr algn="ctr"/>
            <a:endParaRPr lang="en-US" sz="1400" b="1" dirty="0"/>
          </a:p>
          <a:p>
            <a:pPr algn="ctr"/>
            <a:endParaRPr lang="en-US" sz="1400" b="1" dirty="0">
              <a:solidFill>
                <a:schemeClr val="tx1"/>
              </a:solidFill>
            </a:endParaRPr>
          </a:p>
        </p:txBody>
      </p:sp>
      <p:sp>
        <p:nvSpPr>
          <p:cNvPr id="24" name="Rectangle 23">
            <a:extLst>
              <a:ext uri="{FF2B5EF4-FFF2-40B4-BE49-F238E27FC236}">
                <a16:creationId xmlns:a16="http://schemas.microsoft.com/office/drawing/2014/main" id="{0732F0B8-105F-5E4A-5266-C56D00B4A166}"/>
              </a:ext>
            </a:extLst>
          </p:cNvPr>
          <p:cNvSpPr/>
          <p:nvPr/>
        </p:nvSpPr>
        <p:spPr>
          <a:xfrm>
            <a:off x="58056" y="933450"/>
            <a:ext cx="12075888" cy="5822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75474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D62EA-2C65-229A-AC3A-497922FF142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8FBD637-FF03-85B6-90D5-91325031C7F7}"/>
              </a:ext>
            </a:extLst>
          </p:cNvPr>
          <p:cNvSpPr/>
          <p:nvPr/>
        </p:nvSpPr>
        <p:spPr>
          <a:xfrm>
            <a:off x="0" y="0"/>
            <a:ext cx="12191695" cy="8686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146304" rtlCol="0" anchor="ctr"/>
          <a:lstStyle/>
          <a:p>
            <a:r>
              <a:rPr lang="en-US" sz="1900" b="1" dirty="0">
                <a:solidFill>
                  <a:schemeClr val="bg1"/>
                </a:solidFill>
                <a:cs typeface="Arial" panose="020B0604020202020204" pitchFamily="34" charset="0"/>
              </a:rPr>
              <a:t>The pizza that never came</a:t>
            </a:r>
          </a:p>
        </p:txBody>
      </p:sp>
      <p:sp>
        <p:nvSpPr>
          <p:cNvPr id="24" name="Rectangle 23">
            <a:extLst>
              <a:ext uri="{FF2B5EF4-FFF2-40B4-BE49-F238E27FC236}">
                <a16:creationId xmlns:a16="http://schemas.microsoft.com/office/drawing/2014/main" id="{C889DB3F-7B54-7027-4185-5757C989E583}"/>
              </a:ext>
            </a:extLst>
          </p:cNvPr>
          <p:cNvSpPr/>
          <p:nvPr/>
        </p:nvSpPr>
        <p:spPr>
          <a:xfrm>
            <a:off x="58056" y="933450"/>
            <a:ext cx="12075888" cy="5822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0">
            <a:extLst>
              <a:ext uri="{FF2B5EF4-FFF2-40B4-BE49-F238E27FC236}">
                <a16:creationId xmlns:a16="http://schemas.microsoft.com/office/drawing/2014/main" id="{BC1B749A-E9DD-E8E7-840D-592A0B3D0D3C}"/>
              </a:ext>
            </a:extLst>
          </p:cNvPr>
          <p:cNvSpPr txBox="1"/>
          <p:nvPr/>
        </p:nvSpPr>
        <p:spPr>
          <a:xfrm>
            <a:off x="240981" y="935172"/>
            <a:ext cx="11247120" cy="457200"/>
          </a:xfrm>
          <a:prstGeom prst="rect">
            <a:avLst/>
          </a:prstGeom>
          <a:noFill/>
          <a:ln/>
        </p:spPr>
        <p:txBody>
          <a:bodyPr wrap="square" lIns="0" tIns="0" rIns="0" bIns="0" rtlCol="0" anchor="ctr"/>
          <a:lstStyle/>
          <a:p>
            <a:pPr marL="0" indent="0">
              <a:buNone/>
            </a:pPr>
            <a:endParaRPr lang="en-US" sz="1400" b="1" dirty="0">
              <a:solidFill>
                <a:srgbClr val="12395B"/>
              </a:solidFill>
              <a:latin typeface="Arial" panose="020B0604020202020204" pitchFamily="34" charset="0"/>
              <a:ea typeface="Cambria" pitchFamily="34" charset="-122"/>
              <a:cs typeface="Arial" panose="020B0604020202020204" pitchFamily="34" charset="0"/>
            </a:endParaRPr>
          </a:p>
          <a:p>
            <a:endParaRPr lang="en-US" sz="1600" dirty="0">
              <a:solidFill>
                <a:srgbClr val="5F5E5A"/>
              </a:solidFill>
              <a:latin typeface="Arial" panose="020B0604020202020204" pitchFamily="34" charset="0"/>
              <a:cs typeface="Arial" panose="020B0604020202020204" pitchFamily="34" charset="0"/>
            </a:endParaRPr>
          </a:p>
          <a:p>
            <a:r>
              <a:rPr lang="en-US" sz="1600" b="1" dirty="0">
                <a:solidFill>
                  <a:srgbClr val="12395B"/>
                </a:solidFill>
                <a:latin typeface="Arial" panose="020B0604020202020204" pitchFamily="34" charset="0"/>
                <a:cs typeface="Arial" panose="020B0604020202020204" pitchFamily="34" charset="0"/>
              </a:rPr>
              <a:t>Problem: </a:t>
            </a:r>
            <a:r>
              <a:rPr lang="en-US" sz="1600" dirty="0">
                <a:solidFill>
                  <a:srgbClr val="12395B"/>
                </a:solidFill>
                <a:latin typeface="Arial" panose="020B0604020202020204" pitchFamily="34" charset="0"/>
                <a:cs typeface="Arial" panose="020B0604020202020204" pitchFamily="34" charset="0"/>
              </a:rPr>
              <a:t>You order a pizza online. The site confirms it. The pizza never comes, and you order somewhere else.</a:t>
            </a:r>
            <a:endParaRPr lang="en-US" sz="1600" b="1" dirty="0">
              <a:solidFill>
                <a:srgbClr val="12395B"/>
              </a:solidFill>
              <a:latin typeface="Arial" panose="020B0604020202020204" pitchFamily="34" charset="0"/>
              <a:cs typeface="Arial" panose="020B0604020202020204" pitchFamily="34" charset="0"/>
            </a:endParaRPr>
          </a:p>
          <a:p>
            <a:endParaRPr lang="en-US" sz="1600" dirty="0">
              <a:solidFill>
                <a:srgbClr val="5F5E5A"/>
              </a:solidFill>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F0A538A5-7C0C-D076-2333-30C787971B8E}"/>
              </a:ext>
            </a:extLst>
          </p:cNvPr>
          <p:cNvSpPr txBox="1"/>
          <p:nvPr/>
        </p:nvSpPr>
        <p:spPr>
          <a:xfrm>
            <a:off x="249875" y="3320086"/>
            <a:ext cx="10665460" cy="640080"/>
          </a:xfrm>
          <a:prstGeom prst="rect">
            <a:avLst/>
          </a:prstGeom>
          <a:noFill/>
          <a:ln/>
        </p:spPr>
        <p:txBody>
          <a:bodyPr wrap="square" lIns="0" tIns="0" rIns="0" bIns="0" rtlCol="0" anchor="ctr"/>
          <a:lstStyle/>
          <a:p>
            <a:pPr marL="0" indent="0">
              <a:lnSpc>
                <a:spcPct val="110000"/>
              </a:lnSpc>
              <a:buNone/>
            </a:pPr>
            <a:r>
              <a:rPr lang="en-US" sz="1600" b="1" dirty="0">
                <a:solidFill>
                  <a:srgbClr val="496A7A"/>
                </a:solidFill>
                <a:latin typeface="Arial" panose="020B0604020202020204" pitchFamily="34" charset="0"/>
                <a:ea typeface="Calibri" pitchFamily="34" charset="-122"/>
                <a:cs typeface="Arial" panose="020B0604020202020204" pitchFamily="34" charset="0"/>
              </a:rPr>
              <a:t>The pizza place sees a slightly slow night. No complaint, no refund, no missing payment. Just fewer pizzas than they expected, and no idea why.</a:t>
            </a:r>
            <a:endParaRPr lang="en-US" sz="1600" b="1" dirty="0">
              <a:solidFill>
                <a:srgbClr val="496A7A"/>
              </a:solidFill>
              <a:latin typeface="Arial" panose="020B0604020202020204" pitchFamily="34" charset="0"/>
              <a:cs typeface="Arial" panose="020B0604020202020204" pitchFamily="34" charset="0"/>
            </a:endParaRPr>
          </a:p>
        </p:txBody>
      </p:sp>
      <p:sp>
        <p:nvSpPr>
          <p:cNvPr id="8" name="Rectangle: Rounded Corners 7">
            <a:extLst>
              <a:ext uri="{FF2B5EF4-FFF2-40B4-BE49-F238E27FC236}">
                <a16:creationId xmlns:a16="http://schemas.microsoft.com/office/drawing/2014/main" id="{10F3F287-9411-C047-4E28-9A3273477CBF}"/>
              </a:ext>
            </a:extLst>
          </p:cNvPr>
          <p:cNvSpPr/>
          <p:nvPr/>
        </p:nvSpPr>
        <p:spPr>
          <a:xfrm>
            <a:off x="1073464" y="1978373"/>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cs typeface="Arial" panose="020B0604020202020204" pitchFamily="34" charset="0"/>
              </a:rPr>
              <a:t>Fill out order (Digital Device)</a:t>
            </a:r>
          </a:p>
        </p:txBody>
      </p:sp>
      <p:sp>
        <p:nvSpPr>
          <p:cNvPr id="10" name="Rectangle: Rounded Corners 9">
            <a:extLst>
              <a:ext uri="{FF2B5EF4-FFF2-40B4-BE49-F238E27FC236}">
                <a16:creationId xmlns:a16="http://schemas.microsoft.com/office/drawing/2014/main" id="{802C45BE-DDF4-C5E6-15F2-92DF83EBB4CC}"/>
              </a:ext>
            </a:extLst>
          </p:cNvPr>
          <p:cNvSpPr/>
          <p:nvPr/>
        </p:nvSpPr>
        <p:spPr>
          <a:xfrm>
            <a:off x="2711764" y="1975944"/>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Place order</a:t>
            </a:r>
          </a:p>
        </p:txBody>
      </p:sp>
      <p:sp>
        <p:nvSpPr>
          <p:cNvPr id="12" name="Rectangle: Rounded Corners 11">
            <a:extLst>
              <a:ext uri="{FF2B5EF4-FFF2-40B4-BE49-F238E27FC236}">
                <a16:creationId xmlns:a16="http://schemas.microsoft.com/office/drawing/2014/main" id="{D1AFA255-9E1F-76AC-C161-9BEB003A9465}"/>
              </a:ext>
            </a:extLst>
          </p:cNvPr>
          <p:cNvSpPr/>
          <p:nvPr/>
        </p:nvSpPr>
        <p:spPr>
          <a:xfrm>
            <a:off x="4343713" y="1967747"/>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Get order confirmation</a:t>
            </a:r>
          </a:p>
        </p:txBody>
      </p:sp>
      <p:sp>
        <p:nvSpPr>
          <p:cNvPr id="14" name="Rectangle: Rounded Corners 13">
            <a:extLst>
              <a:ext uri="{FF2B5EF4-FFF2-40B4-BE49-F238E27FC236}">
                <a16:creationId xmlns:a16="http://schemas.microsoft.com/office/drawing/2014/main" id="{211FC7C6-42D5-6A82-E958-3972B4724497}"/>
              </a:ext>
            </a:extLst>
          </p:cNvPr>
          <p:cNvSpPr/>
          <p:nvPr/>
        </p:nvSpPr>
        <p:spPr>
          <a:xfrm>
            <a:off x="6020115" y="1965495"/>
            <a:ext cx="1237617" cy="292100"/>
          </a:xfrm>
          <a:prstGeom prst="roundRect">
            <a:avLst/>
          </a:prstGeom>
          <a:solidFill>
            <a:srgbClr val="06D6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Get Pizza</a:t>
            </a:r>
          </a:p>
        </p:txBody>
      </p:sp>
      <p:sp>
        <p:nvSpPr>
          <p:cNvPr id="16" name="Rectangle: Rounded Corners 15">
            <a:extLst>
              <a:ext uri="{FF2B5EF4-FFF2-40B4-BE49-F238E27FC236}">
                <a16:creationId xmlns:a16="http://schemas.microsoft.com/office/drawing/2014/main" id="{6789485F-EFE5-1425-B801-323F410C0895}"/>
              </a:ext>
            </a:extLst>
          </p:cNvPr>
          <p:cNvSpPr/>
          <p:nvPr/>
        </p:nvSpPr>
        <p:spPr>
          <a:xfrm>
            <a:off x="1067114" y="2541324"/>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cs typeface="Arial" panose="020B0604020202020204" pitchFamily="34" charset="0"/>
              </a:rPr>
              <a:t>Fill out order (Digital Device)</a:t>
            </a:r>
          </a:p>
        </p:txBody>
      </p:sp>
      <p:sp>
        <p:nvSpPr>
          <p:cNvPr id="18" name="Rectangle: Rounded Corners 17">
            <a:extLst>
              <a:ext uri="{FF2B5EF4-FFF2-40B4-BE49-F238E27FC236}">
                <a16:creationId xmlns:a16="http://schemas.microsoft.com/office/drawing/2014/main" id="{24E29BA8-1093-8C9E-3E71-E4354DAFBBA0}"/>
              </a:ext>
            </a:extLst>
          </p:cNvPr>
          <p:cNvSpPr/>
          <p:nvPr/>
        </p:nvSpPr>
        <p:spPr>
          <a:xfrm>
            <a:off x="2711764" y="2538895"/>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Place order</a:t>
            </a:r>
          </a:p>
        </p:txBody>
      </p:sp>
      <p:sp>
        <p:nvSpPr>
          <p:cNvPr id="20" name="Rectangle: Rounded Corners 19">
            <a:extLst>
              <a:ext uri="{FF2B5EF4-FFF2-40B4-BE49-F238E27FC236}">
                <a16:creationId xmlns:a16="http://schemas.microsoft.com/office/drawing/2014/main" id="{11788543-DB27-A5BE-2182-EE293BB49C2D}"/>
              </a:ext>
            </a:extLst>
          </p:cNvPr>
          <p:cNvSpPr/>
          <p:nvPr/>
        </p:nvSpPr>
        <p:spPr>
          <a:xfrm>
            <a:off x="4356414" y="2538895"/>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Get order confirmation</a:t>
            </a:r>
          </a:p>
        </p:txBody>
      </p:sp>
      <p:cxnSp>
        <p:nvCxnSpPr>
          <p:cNvPr id="22" name="Straight Arrow Connector 21">
            <a:extLst>
              <a:ext uri="{FF2B5EF4-FFF2-40B4-BE49-F238E27FC236}">
                <a16:creationId xmlns:a16="http://schemas.microsoft.com/office/drawing/2014/main" id="{7CBDD188-06A7-2DEB-CDCC-798990B01186}"/>
              </a:ext>
            </a:extLst>
          </p:cNvPr>
          <p:cNvCxnSpPr>
            <a:stCxn id="8" idx="3"/>
            <a:endCxn id="10" idx="1"/>
          </p:cNvCxnSpPr>
          <p:nvPr/>
        </p:nvCxnSpPr>
        <p:spPr>
          <a:xfrm flipV="1">
            <a:off x="2311081" y="2121994"/>
            <a:ext cx="400683" cy="2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D8A7FB6-9070-0417-DD63-8F4494D08BF1}"/>
              </a:ext>
            </a:extLst>
          </p:cNvPr>
          <p:cNvCxnSpPr>
            <a:cxnSpLocks/>
            <a:stCxn id="10" idx="3"/>
            <a:endCxn id="12" idx="1"/>
          </p:cNvCxnSpPr>
          <p:nvPr/>
        </p:nvCxnSpPr>
        <p:spPr>
          <a:xfrm flipV="1">
            <a:off x="3949381" y="2113797"/>
            <a:ext cx="394332" cy="81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2F01CB5-18C4-4E61-D819-01D67B4FCF8C}"/>
              </a:ext>
            </a:extLst>
          </p:cNvPr>
          <p:cNvCxnSpPr>
            <a:cxnSpLocks/>
            <a:stCxn id="12" idx="3"/>
            <a:endCxn id="14" idx="1"/>
          </p:cNvCxnSpPr>
          <p:nvPr/>
        </p:nvCxnSpPr>
        <p:spPr>
          <a:xfrm flipV="1">
            <a:off x="5581330" y="2111545"/>
            <a:ext cx="438785" cy="22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B30EE5D-E77A-7EA0-38CA-3141FB5C8158}"/>
              </a:ext>
            </a:extLst>
          </p:cNvPr>
          <p:cNvCxnSpPr>
            <a:cxnSpLocks/>
            <a:stCxn id="16" idx="3"/>
            <a:endCxn id="18" idx="1"/>
          </p:cNvCxnSpPr>
          <p:nvPr/>
        </p:nvCxnSpPr>
        <p:spPr>
          <a:xfrm flipV="1">
            <a:off x="2304731" y="2684945"/>
            <a:ext cx="407033" cy="2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BD2D3D7-D919-CF00-D247-0C5988CE969A}"/>
              </a:ext>
            </a:extLst>
          </p:cNvPr>
          <p:cNvCxnSpPr>
            <a:cxnSpLocks/>
            <a:stCxn id="18" idx="3"/>
            <a:endCxn id="20" idx="1"/>
          </p:cNvCxnSpPr>
          <p:nvPr/>
        </p:nvCxnSpPr>
        <p:spPr>
          <a:xfrm>
            <a:off x="3949381" y="2684945"/>
            <a:ext cx="4070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053CB30-9B54-7503-C9EB-07B00039271A}"/>
              </a:ext>
            </a:extLst>
          </p:cNvPr>
          <p:cNvCxnSpPr>
            <a:cxnSpLocks/>
            <a:stCxn id="20" idx="3"/>
            <a:endCxn id="30" idx="1"/>
          </p:cNvCxnSpPr>
          <p:nvPr/>
        </p:nvCxnSpPr>
        <p:spPr>
          <a:xfrm>
            <a:off x="5594031" y="2684945"/>
            <a:ext cx="4133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0B0DB24B-591F-7655-0842-136F0D2D787F}"/>
              </a:ext>
            </a:extLst>
          </p:cNvPr>
          <p:cNvSpPr/>
          <p:nvPr/>
        </p:nvSpPr>
        <p:spPr>
          <a:xfrm>
            <a:off x="6007414" y="2538895"/>
            <a:ext cx="1237617" cy="292100"/>
          </a:xfrm>
          <a:prstGeom prst="roundRect">
            <a:avLst/>
          </a:prstGeom>
          <a:solidFill>
            <a:srgbClr val="720C27"/>
          </a:solidFill>
          <a:ln>
            <a:solidFill>
              <a:srgbClr val="72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rPr>
              <a:t>No  Pizza</a:t>
            </a:r>
          </a:p>
        </p:txBody>
      </p:sp>
      <p:cxnSp>
        <p:nvCxnSpPr>
          <p:cNvPr id="31" name="Straight Arrow Connector 30">
            <a:extLst>
              <a:ext uri="{FF2B5EF4-FFF2-40B4-BE49-F238E27FC236}">
                <a16:creationId xmlns:a16="http://schemas.microsoft.com/office/drawing/2014/main" id="{76E09897-6F22-29B8-1E45-79567EBB4742}"/>
              </a:ext>
            </a:extLst>
          </p:cNvPr>
          <p:cNvCxnSpPr>
            <a:cxnSpLocks/>
            <a:stCxn id="30" idx="3"/>
            <a:endCxn id="32" idx="1"/>
          </p:cNvCxnSpPr>
          <p:nvPr/>
        </p:nvCxnSpPr>
        <p:spPr>
          <a:xfrm>
            <a:off x="7245031" y="2684945"/>
            <a:ext cx="397191" cy="2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E18B04C0-573B-70B1-138A-AF4CDF907462}"/>
              </a:ext>
            </a:extLst>
          </p:cNvPr>
          <p:cNvSpPr/>
          <p:nvPr/>
        </p:nvSpPr>
        <p:spPr>
          <a:xfrm>
            <a:off x="7642222" y="2541324"/>
            <a:ext cx="1237617" cy="292100"/>
          </a:xfrm>
          <a:prstGeom prst="roundRect">
            <a:avLst/>
          </a:prstGeom>
          <a:solidFill>
            <a:srgbClr val="720C27"/>
          </a:solidFill>
          <a:ln>
            <a:solidFill>
              <a:srgbClr val="72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Order Somewhere else</a:t>
            </a:r>
          </a:p>
        </p:txBody>
      </p:sp>
      <p:sp>
        <p:nvSpPr>
          <p:cNvPr id="33" name="TextBox 32">
            <a:extLst>
              <a:ext uri="{FF2B5EF4-FFF2-40B4-BE49-F238E27FC236}">
                <a16:creationId xmlns:a16="http://schemas.microsoft.com/office/drawing/2014/main" id="{A4618FD0-5779-EF9F-8415-E1EA2C1197AF}"/>
              </a:ext>
            </a:extLst>
          </p:cNvPr>
          <p:cNvSpPr txBox="1"/>
          <p:nvPr/>
        </p:nvSpPr>
        <p:spPr>
          <a:xfrm>
            <a:off x="1010917" y="1594118"/>
            <a:ext cx="6096000" cy="338554"/>
          </a:xfrm>
          <a:prstGeom prst="rect">
            <a:avLst/>
          </a:prstGeom>
          <a:noFill/>
        </p:spPr>
        <p:txBody>
          <a:bodyPr wrap="square">
            <a:spAutoFit/>
          </a:bodyPr>
          <a:lstStyle/>
          <a:p>
            <a:r>
              <a:rPr lang="en-US" sz="1600" b="1" dirty="0">
                <a:solidFill>
                  <a:srgbClr val="496A7A"/>
                </a:solidFill>
              </a:rPr>
              <a:t>The business sees two identical groups.</a:t>
            </a:r>
          </a:p>
        </p:txBody>
      </p:sp>
      <p:sp>
        <p:nvSpPr>
          <p:cNvPr id="34" name="TextBox 33">
            <a:extLst>
              <a:ext uri="{FF2B5EF4-FFF2-40B4-BE49-F238E27FC236}">
                <a16:creationId xmlns:a16="http://schemas.microsoft.com/office/drawing/2014/main" id="{6D7C6D7B-D230-E951-358E-FE5D18C016F9}"/>
              </a:ext>
            </a:extLst>
          </p:cNvPr>
          <p:cNvSpPr txBox="1"/>
          <p:nvPr/>
        </p:nvSpPr>
        <p:spPr>
          <a:xfrm>
            <a:off x="324326" y="1983970"/>
            <a:ext cx="1076960" cy="276999"/>
          </a:xfrm>
          <a:prstGeom prst="rect">
            <a:avLst/>
          </a:prstGeom>
          <a:noFill/>
        </p:spPr>
        <p:txBody>
          <a:bodyPr wrap="square">
            <a:spAutoFit/>
          </a:bodyPr>
          <a:lstStyle/>
          <a:p>
            <a:r>
              <a:rPr lang="en-US" sz="1200" b="1" dirty="0">
                <a:solidFill>
                  <a:srgbClr val="496A7A"/>
                </a:solidFill>
                <a:ea typeface="Calibri" pitchFamily="34" charset="-122"/>
                <a:cs typeface="Arial" panose="020B0604020202020204" pitchFamily="34" charset="0"/>
              </a:rPr>
              <a:t>Group 1:</a:t>
            </a:r>
            <a:endParaRPr lang="en-US" sz="1200" dirty="0">
              <a:solidFill>
                <a:srgbClr val="496A7A"/>
              </a:solidFill>
            </a:endParaRPr>
          </a:p>
        </p:txBody>
      </p:sp>
      <p:sp>
        <p:nvSpPr>
          <p:cNvPr id="35" name="TextBox 34">
            <a:extLst>
              <a:ext uri="{FF2B5EF4-FFF2-40B4-BE49-F238E27FC236}">
                <a16:creationId xmlns:a16="http://schemas.microsoft.com/office/drawing/2014/main" id="{A4689840-D6E5-D1F7-B204-B5D6158354BB}"/>
              </a:ext>
            </a:extLst>
          </p:cNvPr>
          <p:cNvSpPr txBox="1"/>
          <p:nvPr/>
        </p:nvSpPr>
        <p:spPr>
          <a:xfrm>
            <a:off x="294276" y="2540249"/>
            <a:ext cx="1001392" cy="276999"/>
          </a:xfrm>
          <a:prstGeom prst="rect">
            <a:avLst/>
          </a:prstGeom>
          <a:noFill/>
        </p:spPr>
        <p:txBody>
          <a:bodyPr wrap="square">
            <a:spAutoFit/>
          </a:bodyPr>
          <a:lstStyle/>
          <a:p>
            <a:r>
              <a:rPr lang="en-US" sz="1200" b="1" dirty="0">
                <a:solidFill>
                  <a:srgbClr val="496A7A"/>
                </a:solidFill>
                <a:ea typeface="Calibri" pitchFamily="34" charset="-122"/>
                <a:cs typeface="Arial" panose="020B0604020202020204" pitchFamily="34" charset="0"/>
              </a:rPr>
              <a:t>Group 2:</a:t>
            </a:r>
            <a:endParaRPr lang="en-US" sz="1200" dirty="0">
              <a:solidFill>
                <a:srgbClr val="496A7A"/>
              </a:solidFill>
            </a:endParaRPr>
          </a:p>
        </p:txBody>
      </p:sp>
      <p:sp>
        <p:nvSpPr>
          <p:cNvPr id="36" name="TextBox 35">
            <a:extLst>
              <a:ext uri="{FF2B5EF4-FFF2-40B4-BE49-F238E27FC236}">
                <a16:creationId xmlns:a16="http://schemas.microsoft.com/office/drawing/2014/main" id="{37960F90-AAF3-4E5C-061C-3F10133EF684}"/>
              </a:ext>
            </a:extLst>
          </p:cNvPr>
          <p:cNvSpPr txBox="1"/>
          <p:nvPr/>
        </p:nvSpPr>
        <p:spPr>
          <a:xfrm>
            <a:off x="5768972" y="1614938"/>
            <a:ext cx="6096000" cy="338554"/>
          </a:xfrm>
          <a:prstGeom prst="rect">
            <a:avLst/>
          </a:prstGeom>
          <a:noFill/>
        </p:spPr>
        <p:txBody>
          <a:bodyPr wrap="square">
            <a:spAutoFit/>
          </a:bodyPr>
          <a:lstStyle/>
          <a:p>
            <a:r>
              <a:rPr lang="en-US" sz="1600" b="1" dirty="0">
                <a:solidFill>
                  <a:srgbClr val="496A7A"/>
                </a:solidFill>
              </a:rPr>
              <a:t>Only the customer knows the order was never delivered.</a:t>
            </a:r>
          </a:p>
        </p:txBody>
      </p:sp>
      <p:cxnSp>
        <p:nvCxnSpPr>
          <p:cNvPr id="37" name="Straight Connector 36">
            <a:extLst>
              <a:ext uri="{FF2B5EF4-FFF2-40B4-BE49-F238E27FC236}">
                <a16:creationId xmlns:a16="http://schemas.microsoft.com/office/drawing/2014/main" id="{6FE519CF-1430-1E99-68E8-DC6D223075AF}"/>
              </a:ext>
            </a:extLst>
          </p:cNvPr>
          <p:cNvCxnSpPr>
            <a:cxnSpLocks/>
          </p:cNvCxnSpPr>
          <p:nvPr/>
        </p:nvCxnSpPr>
        <p:spPr>
          <a:xfrm>
            <a:off x="5768972" y="1670596"/>
            <a:ext cx="0" cy="1251796"/>
          </a:xfrm>
          <a:prstGeom prst="line">
            <a:avLst/>
          </a:prstGeom>
          <a:ln w="9525">
            <a:solidFill>
              <a:srgbClr val="720C27"/>
            </a:solidFill>
            <a:prstDash val="dash"/>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0B05EBF5-080E-61B8-D8B4-42D60A84750E}"/>
              </a:ext>
            </a:extLst>
          </p:cNvPr>
          <p:cNvSpPr/>
          <p:nvPr/>
        </p:nvSpPr>
        <p:spPr>
          <a:xfrm>
            <a:off x="240980" y="1629988"/>
            <a:ext cx="10674355" cy="1508594"/>
          </a:xfrm>
          <a:prstGeom prst="roundRect">
            <a:avLst/>
          </a:prstGeom>
          <a:noFill/>
          <a:ln>
            <a:solidFill>
              <a:srgbClr val="496A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FB6ACDB0-D8FE-FB41-304F-BD67302694C0}"/>
              </a:ext>
            </a:extLst>
          </p:cNvPr>
          <p:cNvSpPr txBox="1"/>
          <p:nvPr/>
        </p:nvSpPr>
        <p:spPr>
          <a:xfrm>
            <a:off x="4781235" y="2854777"/>
            <a:ext cx="6134100" cy="276999"/>
          </a:xfrm>
          <a:prstGeom prst="rect">
            <a:avLst/>
          </a:prstGeom>
          <a:noFill/>
        </p:spPr>
        <p:txBody>
          <a:bodyPr wrap="square">
            <a:spAutoFit/>
          </a:bodyPr>
          <a:lstStyle/>
          <a:p>
            <a:r>
              <a:rPr lang="en-US" sz="1200" b="1" dirty="0">
                <a:solidFill>
                  <a:srgbClr val="720C27"/>
                </a:solidFill>
                <a:cs typeface="Arial" panose="020B0604020202020204" pitchFamily="34" charset="0"/>
              </a:rPr>
              <a:t>The business's view ends here.</a:t>
            </a:r>
          </a:p>
        </p:txBody>
      </p:sp>
      <p:sp>
        <p:nvSpPr>
          <p:cNvPr id="40" name="TextBox 39">
            <a:extLst>
              <a:ext uri="{FF2B5EF4-FFF2-40B4-BE49-F238E27FC236}">
                <a16:creationId xmlns:a16="http://schemas.microsoft.com/office/drawing/2014/main" id="{2D336CC4-CBFF-5C5D-05C9-01CC77C112B1}"/>
              </a:ext>
            </a:extLst>
          </p:cNvPr>
          <p:cNvSpPr txBox="1"/>
          <p:nvPr/>
        </p:nvSpPr>
        <p:spPr>
          <a:xfrm>
            <a:off x="167640" y="6081376"/>
            <a:ext cx="10665460" cy="369332"/>
          </a:xfrm>
          <a:prstGeom prst="rect">
            <a:avLst/>
          </a:prstGeom>
          <a:noFill/>
        </p:spPr>
        <p:txBody>
          <a:bodyPr wrap="square">
            <a:spAutoFit/>
          </a:bodyPr>
          <a:lstStyle/>
          <a:p>
            <a:r>
              <a:rPr lang="en-US" b="1" dirty="0">
                <a:solidFill>
                  <a:srgbClr val="12395B"/>
                </a:solidFill>
              </a:rPr>
              <a:t>Takeaway:</a:t>
            </a:r>
            <a:r>
              <a:rPr lang="en-US" dirty="0">
                <a:solidFill>
                  <a:srgbClr val="12395B"/>
                </a:solidFill>
              </a:rPr>
              <a:t> No charge, no complaint, no record. A loss nobody can see is a loss nobody fixes.</a:t>
            </a:r>
          </a:p>
        </p:txBody>
      </p:sp>
      <p:sp>
        <p:nvSpPr>
          <p:cNvPr id="41" name="TextBox 40">
            <a:extLst>
              <a:ext uri="{FF2B5EF4-FFF2-40B4-BE49-F238E27FC236}">
                <a16:creationId xmlns:a16="http://schemas.microsoft.com/office/drawing/2014/main" id="{B7EEBD7E-2E77-4BEE-0C2C-44EAD97138D9}"/>
              </a:ext>
            </a:extLst>
          </p:cNvPr>
          <p:cNvSpPr txBox="1"/>
          <p:nvPr/>
        </p:nvSpPr>
        <p:spPr>
          <a:xfrm>
            <a:off x="167640" y="4062539"/>
            <a:ext cx="10580370" cy="1600438"/>
          </a:xfrm>
          <a:prstGeom prst="rect">
            <a:avLst/>
          </a:prstGeom>
          <a:noFill/>
        </p:spPr>
        <p:txBody>
          <a:bodyPr wrap="square">
            <a:spAutoFit/>
          </a:bodyPr>
          <a:lstStyle/>
          <a:p>
            <a:pPr rtl="0">
              <a:buNone/>
            </a:pPr>
            <a:r>
              <a:rPr lang="en-US" sz="1600" b="1" dirty="0">
                <a:solidFill>
                  <a:srgbClr val="086B94"/>
                </a:solidFill>
              </a:rPr>
              <a:t>How each team explains the slow night</a:t>
            </a:r>
            <a:endParaRPr lang="en-US" sz="1600" dirty="0">
              <a:solidFill>
                <a:srgbClr val="086B94"/>
              </a:solidFill>
            </a:endParaRPr>
          </a:p>
          <a:p>
            <a:pPr marL="285750" indent="-285750" rtl="0">
              <a:buFont typeface="Arial" panose="020B0604020202020204" pitchFamily="34" charset="0"/>
              <a:buChar char="•"/>
            </a:pPr>
            <a:r>
              <a:rPr lang="en-US" sz="1600" b="1" dirty="0">
                <a:solidFill>
                  <a:srgbClr val="086B94"/>
                </a:solidFill>
              </a:rPr>
              <a:t>The owner (P&amp;C):</a:t>
            </a:r>
            <a:r>
              <a:rPr lang="en-US" sz="1600" dirty="0">
                <a:solidFill>
                  <a:srgbClr val="086B94"/>
                </a:solidFill>
              </a:rPr>
              <a:t> "Sales are down. Fewer pizzas than we expected.“</a:t>
            </a:r>
          </a:p>
          <a:p>
            <a:pPr marL="285750" indent="-285750" rtl="0">
              <a:buFont typeface="Arial" panose="020B0604020202020204" pitchFamily="34" charset="0"/>
              <a:buChar char="•"/>
            </a:pPr>
            <a:r>
              <a:rPr lang="en-US" sz="1600" b="1" dirty="0">
                <a:solidFill>
                  <a:srgbClr val="086B94"/>
                </a:solidFill>
              </a:rPr>
              <a:t>The website team (IT):</a:t>
            </a:r>
            <a:r>
              <a:rPr lang="en-US" sz="1600" dirty="0">
                <a:solidFill>
                  <a:srgbClr val="086B94"/>
                </a:solidFill>
              </a:rPr>
              <a:t> "Every order went through. Our system shows success.“</a:t>
            </a:r>
          </a:p>
          <a:p>
            <a:pPr marL="285750" indent="-285750" rtl="0">
              <a:buFont typeface="Arial" panose="020B0604020202020204" pitchFamily="34" charset="0"/>
              <a:buChar char="•"/>
            </a:pPr>
            <a:r>
              <a:rPr lang="en-US" sz="1600" b="1" dirty="0">
                <a:solidFill>
                  <a:srgbClr val="086B94"/>
                </a:solidFill>
              </a:rPr>
              <a:t>Marketing:</a:t>
            </a:r>
            <a:r>
              <a:rPr lang="en-US" sz="1600" dirty="0">
                <a:solidFill>
                  <a:srgbClr val="086B94"/>
                </a:solidFill>
              </a:rPr>
              <a:t> "We need more people to see our ads.“</a:t>
            </a:r>
          </a:p>
          <a:p>
            <a:pPr rtl="0"/>
            <a:endParaRPr lang="en-US" sz="1600" dirty="0">
              <a:solidFill>
                <a:srgbClr val="086B94"/>
              </a:solidFill>
            </a:endParaRPr>
          </a:p>
          <a:p>
            <a:r>
              <a:rPr lang="en-US" b="1" dirty="0">
                <a:solidFill>
                  <a:srgbClr val="12395B"/>
                </a:solidFill>
              </a:rPr>
              <a:t>Everyone is right about their own numbers. No one on the business side knows the pizza never came.</a:t>
            </a:r>
          </a:p>
        </p:txBody>
      </p:sp>
    </p:spTree>
    <p:extLst>
      <p:ext uri="{BB962C8B-B14F-4D97-AF65-F5344CB8AC3E}">
        <p14:creationId xmlns:p14="http://schemas.microsoft.com/office/powerpoint/2010/main" val="1271625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6AC35-5800-14A2-2C78-BC20B715D7BE}"/>
            </a:ext>
          </a:extLst>
        </p:cNvPr>
        <p:cNvGrpSpPr/>
        <p:nvPr/>
      </p:nvGrpSpPr>
      <p:grpSpPr>
        <a:xfrm>
          <a:off x="0" y="0"/>
          <a:ext cx="0" cy="0"/>
          <a:chOff x="0" y="0"/>
          <a:chExt cx="0" cy="0"/>
        </a:xfrm>
      </p:grpSpPr>
      <p:sp>
        <p:nvSpPr>
          <p:cNvPr id="225" name="Rectangle: Rounded Corners 224">
            <a:extLst>
              <a:ext uri="{FF2B5EF4-FFF2-40B4-BE49-F238E27FC236}">
                <a16:creationId xmlns:a16="http://schemas.microsoft.com/office/drawing/2014/main" id="{8B5B3F5B-8677-B8D5-6427-DA2C5A802AC1}"/>
              </a:ext>
            </a:extLst>
          </p:cNvPr>
          <p:cNvSpPr/>
          <p:nvPr/>
        </p:nvSpPr>
        <p:spPr>
          <a:xfrm>
            <a:off x="2055708" y="2247900"/>
            <a:ext cx="7475642" cy="348615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00C87642-870B-EA81-F6D5-230B25702FDB}"/>
              </a:ext>
            </a:extLst>
          </p:cNvPr>
          <p:cNvSpPr/>
          <p:nvPr/>
        </p:nvSpPr>
        <p:spPr>
          <a:xfrm>
            <a:off x="0" y="0"/>
            <a:ext cx="12191695" cy="8686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146304" rtlCol="0" anchor="ctr"/>
          <a:lstStyle/>
          <a:p>
            <a:r>
              <a:rPr lang="en-US" sz="1900" b="1" dirty="0">
                <a:solidFill>
                  <a:schemeClr val="bg1"/>
                </a:solidFill>
                <a:cs typeface="Arial" panose="020B0604020202020204" pitchFamily="34" charset="0"/>
              </a:rPr>
              <a:t>Everyone is ‘right’, so no one changes</a:t>
            </a:r>
          </a:p>
        </p:txBody>
      </p:sp>
      <p:sp>
        <p:nvSpPr>
          <p:cNvPr id="24" name="Rectangle 23">
            <a:extLst>
              <a:ext uri="{FF2B5EF4-FFF2-40B4-BE49-F238E27FC236}">
                <a16:creationId xmlns:a16="http://schemas.microsoft.com/office/drawing/2014/main" id="{9A4E20BF-756C-7911-BDE2-C7BFDD9F56C4}"/>
              </a:ext>
            </a:extLst>
          </p:cNvPr>
          <p:cNvSpPr/>
          <p:nvPr/>
        </p:nvSpPr>
        <p:spPr>
          <a:xfrm>
            <a:off x="58056" y="933450"/>
            <a:ext cx="12075888" cy="5822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ED33D184-1517-3CBB-F9DC-26464DF0E06F}"/>
              </a:ext>
            </a:extLst>
          </p:cNvPr>
          <p:cNvSpPr/>
          <p:nvPr/>
        </p:nvSpPr>
        <p:spPr>
          <a:xfrm rot="589342" flipV="1">
            <a:off x="7996058" y="6227424"/>
            <a:ext cx="848517" cy="19875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TextBox 159">
            <a:extLst>
              <a:ext uri="{FF2B5EF4-FFF2-40B4-BE49-F238E27FC236}">
                <a16:creationId xmlns:a16="http://schemas.microsoft.com/office/drawing/2014/main" id="{DFCA94CE-6D30-6229-41B6-C17FDDF103FC}"/>
              </a:ext>
            </a:extLst>
          </p:cNvPr>
          <p:cNvSpPr txBox="1"/>
          <p:nvPr/>
        </p:nvSpPr>
        <p:spPr>
          <a:xfrm>
            <a:off x="299361" y="1280894"/>
            <a:ext cx="10995411" cy="646331"/>
          </a:xfrm>
          <a:prstGeom prst="rect">
            <a:avLst/>
          </a:prstGeom>
          <a:noFill/>
        </p:spPr>
        <p:txBody>
          <a:bodyPr wrap="square" rtlCol="0">
            <a:spAutoFit/>
          </a:bodyPr>
          <a:lstStyle/>
          <a:p>
            <a:r>
              <a:rPr lang="en-US" b="1" dirty="0">
                <a:solidFill>
                  <a:srgbClr val="12395B"/>
                </a:solidFill>
              </a:rPr>
              <a:t>Each team's numbers are right, so each team looks to the others for the answer. Meanwhile, the loss no one can see keeps happening. No one acts, and revenue doesn't move.</a:t>
            </a:r>
          </a:p>
        </p:txBody>
      </p:sp>
      <p:sp>
        <p:nvSpPr>
          <p:cNvPr id="164" name="TextBox 163">
            <a:extLst>
              <a:ext uri="{FF2B5EF4-FFF2-40B4-BE49-F238E27FC236}">
                <a16:creationId xmlns:a16="http://schemas.microsoft.com/office/drawing/2014/main" id="{91D314BF-3D9A-AD6F-9E4E-D39A12BE201D}"/>
              </a:ext>
            </a:extLst>
          </p:cNvPr>
          <p:cNvSpPr txBox="1"/>
          <p:nvPr/>
        </p:nvSpPr>
        <p:spPr>
          <a:xfrm>
            <a:off x="483500" y="6217065"/>
            <a:ext cx="11359250" cy="369332"/>
          </a:xfrm>
          <a:prstGeom prst="rect">
            <a:avLst/>
          </a:prstGeom>
          <a:noFill/>
        </p:spPr>
        <p:txBody>
          <a:bodyPr wrap="square">
            <a:spAutoFit/>
          </a:bodyPr>
          <a:lstStyle/>
          <a:p>
            <a:r>
              <a:rPr lang="en-US" b="1" dirty="0">
                <a:solidFill>
                  <a:srgbClr val="12395B"/>
                </a:solidFill>
              </a:rPr>
              <a:t>No one is wrong, and nothing changes. To break the stalemate, we have to look inside the funnel.</a:t>
            </a:r>
          </a:p>
        </p:txBody>
      </p:sp>
      <p:sp>
        <p:nvSpPr>
          <p:cNvPr id="166" name="Rectangle: Rounded Corners 165">
            <a:extLst>
              <a:ext uri="{FF2B5EF4-FFF2-40B4-BE49-F238E27FC236}">
                <a16:creationId xmlns:a16="http://schemas.microsoft.com/office/drawing/2014/main" id="{D65806E0-899E-E5A7-B687-27B4163724FD}"/>
              </a:ext>
            </a:extLst>
          </p:cNvPr>
          <p:cNvSpPr/>
          <p:nvPr/>
        </p:nvSpPr>
        <p:spPr>
          <a:xfrm>
            <a:off x="3067050" y="3028842"/>
            <a:ext cx="1024272" cy="348673"/>
          </a:xfrm>
          <a:prstGeom prst="roundRect">
            <a:avLst/>
          </a:prstGeom>
          <a:solidFill>
            <a:srgbClr val="12395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P&amp;C</a:t>
            </a:r>
          </a:p>
        </p:txBody>
      </p:sp>
      <p:sp>
        <p:nvSpPr>
          <p:cNvPr id="168" name="Rectangle: Rounded Corners 167">
            <a:extLst>
              <a:ext uri="{FF2B5EF4-FFF2-40B4-BE49-F238E27FC236}">
                <a16:creationId xmlns:a16="http://schemas.microsoft.com/office/drawing/2014/main" id="{40BA55D2-9813-AECD-127C-5ED437E8747F}"/>
              </a:ext>
            </a:extLst>
          </p:cNvPr>
          <p:cNvSpPr/>
          <p:nvPr/>
        </p:nvSpPr>
        <p:spPr>
          <a:xfrm>
            <a:off x="6631868" y="3028841"/>
            <a:ext cx="1024272" cy="348673"/>
          </a:xfrm>
          <a:prstGeom prst="roundRect">
            <a:avLst/>
          </a:prstGeom>
          <a:solidFill>
            <a:srgbClr val="496A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IT</a:t>
            </a:r>
          </a:p>
        </p:txBody>
      </p:sp>
      <p:sp>
        <p:nvSpPr>
          <p:cNvPr id="170" name="Rectangle: Rounded Corners 169">
            <a:extLst>
              <a:ext uri="{FF2B5EF4-FFF2-40B4-BE49-F238E27FC236}">
                <a16:creationId xmlns:a16="http://schemas.microsoft.com/office/drawing/2014/main" id="{D2531BEB-7C3E-7BBE-4788-2027CA09FAEA}"/>
              </a:ext>
            </a:extLst>
          </p:cNvPr>
          <p:cNvSpPr/>
          <p:nvPr/>
        </p:nvSpPr>
        <p:spPr>
          <a:xfrm>
            <a:off x="4606421" y="5124739"/>
            <a:ext cx="1024272" cy="348673"/>
          </a:xfrm>
          <a:prstGeom prst="roundRect">
            <a:avLst/>
          </a:prstGeom>
          <a:solidFill>
            <a:srgbClr val="534A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Marketing</a:t>
            </a:r>
          </a:p>
        </p:txBody>
      </p:sp>
      <p:cxnSp>
        <p:nvCxnSpPr>
          <p:cNvPr id="173" name="Connector: Curved 172">
            <a:extLst>
              <a:ext uri="{FF2B5EF4-FFF2-40B4-BE49-F238E27FC236}">
                <a16:creationId xmlns:a16="http://schemas.microsoft.com/office/drawing/2014/main" id="{1FF124DE-69AD-6B62-406B-5336A0DD5B1D}"/>
              </a:ext>
            </a:extLst>
          </p:cNvPr>
          <p:cNvCxnSpPr>
            <a:cxnSpLocks/>
            <a:stCxn id="166" idx="0"/>
            <a:endCxn id="168" idx="0"/>
          </p:cNvCxnSpPr>
          <p:nvPr/>
        </p:nvCxnSpPr>
        <p:spPr>
          <a:xfrm rot="5400000" flipH="1" flipV="1">
            <a:off x="5361595" y="1246433"/>
            <a:ext cx="1" cy="3564818"/>
          </a:xfrm>
          <a:prstGeom prst="curvedConnector3">
            <a:avLst>
              <a:gd name="adj1" fmla="val 22860100000"/>
            </a:avLst>
          </a:prstGeom>
          <a:ln>
            <a:solidFill>
              <a:srgbClr val="12395B"/>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Connector: Curved 180">
            <a:extLst>
              <a:ext uri="{FF2B5EF4-FFF2-40B4-BE49-F238E27FC236}">
                <a16:creationId xmlns:a16="http://schemas.microsoft.com/office/drawing/2014/main" id="{29DB951B-7CA2-FB32-0C59-6AFF4160A993}"/>
              </a:ext>
            </a:extLst>
          </p:cNvPr>
          <p:cNvCxnSpPr>
            <a:cxnSpLocks/>
            <a:stCxn id="166" idx="3"/>
            <a:endCxn id="170" idx="0"/>
          </p:cNvCxnSpPr>
          <p:nvPr/>
        </p:nvCxnSpPr>
        <p:spPr>
          <a:xfrm>
            <a:off x="4091322" y="3203179"/>
            <a:ext cx="1027235" cy="1921560"/>
          </a:xfrm>
          <a:prstGeom prst="curvedConnector2">
            <a:avLst/>
          </a:prstGeom>
          <a:ln>
            <a:solidFill>
              <a:srgbClr val="7030A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97" name="Connector: Curved 196">
            <a:extLst>
              <a:ext uri="{FF2B5EF4-FFF2-40B4-BE49-F238E27FC236}">
                <a16:creationId xmlns:a16="http://schemas.microsoft.com/office/drawing/2014/main" id="{C3437B98-272E-0CAB-5358-A979DE6BD7CE}"/>
              </a:ext>
            </a:extLst>
          </p:cNvPr>
          <p:cNvCxnSpPr>
            <a:stCxn id="166" idx="2"/>
            <a:endCxn id="170" idx="1"/>
          </p:cNvCxnSpPr>
          <p:nvPr/>
        </p:nvCxnSpPr>
        <p:spPr>
          <a:xfrm rot="16200000" flipH="1">
            <a:off x="3132023" y="3824677"/>
            <a:ext cx="1921561" cy="1027235"/>
          </a:xfrm>
          <a:prstGeom prst="curvedConnector2">
            <a:avLst/>
          </a:prstGeom>
          <a:ln>
            <a:solidFill>
              <a:srgbClr val="086B94"/>
            </a:solidFill>
            <a:tailEnd type="triangle"/>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A07957CE-80E4-29E0-F2F3-ECEDBCEF01A4}"/>
              </a:ext>
            </a:extLst>
          </p:cNvPr>
          <p:cNvSpPr txBox="1"/>
          <p:nvPr/>
        </p:nvSpPr>
        <p:spPr>
          <a:xfrm>
            <a:off x="2055708" y="3443314"/>
            <a:ext cx="1598964" cy="276999"/>
          </a:xfrm>
          <a:prstGeom prst="rect">
            <a:avLst/>
          </a:prstGeom>
          <a:noFill/>
        </p:spPr>
        <p:txBody>
          <a:bodyPr wrap="none" rtlCol="0">
            <a:spAutoFit/>
          </a:bodyPr>
          <a:lstStyle/>
          <a:p>
            <a:r>
              <a:rPr lang="en-US" sz="1200" b="1" dirty="0">
                <a:solidFill>
                  <a:srgbClr val="086B94"/>
                </a:solidFill>
              </a:rPr>
              <a:t>“Bring in more traffic”</a:t>
            </a:r>
          </a:p>
        </p:txBody>
      </p:sp>
      <p:sp>
        <p:nvSpPr>
          <p:cNvPr id="200" name="TextBox 199">
            <a:extLst>
              <a:ext uri="{FF2B5EF4-FFF2-40B4-BE49-F238E27FC236}">
                <a16:creationId xmlns:a16="http://schemas.microsoft.com/office/drawing/2014/main" id="{FDBE903D-DF45-23FE-E843-EF7CA8913263}"/>
              </a:ext>
            </a:extLst>
          </p:cNvPr>
          <p:cNvSpPr txBox="1"/>
          <p:nvPr/>
        </p:nvSpPr>
        <p:spPr>
          <a:xfrm>
            <a:off x="5075019" y="4770689"/>
            <a:ext cx="1297086" cy="276999"/>
          </a:xfrm>
          <a:prstGeom prst="rect">
            <a:avLst/>
          </a:prstGeom>
          <a:noFill/>
        </p:spPr>
        <p:txBody>
          <a:bodyPr wrap="none" rtlCol="0">
            <a:spAutoFit/>
          </a:bodyPr>
          <a:lstStyle/>
          <a:p>
            <a:r>
              <a:rPr lang="en-US" sz="1200" b="1" dirty="0">
                <a:solidFill>
                  <a:srgbClr val="534AB7"/>
                </a:solidFill>
              </a:rPr>
              <a:t>“Fix your pricing”</a:t>
            </a:r>
          </a:p>
        </p:txBody>
      </p:sp>
      <p:sp>
        <p:nvSpPr>
          <p:cNvPr id="202" name="TextBox 201">
            <a:extLst>
              <a:ext uri="{FF2B5EF4-FFF2-40B4-BE49-F238E27FC236}">
                <a16:creationId xmlns:a16="http://schemas.microsoft.com/office/drawing/2014/main" id="{0FA16D15-40D9-C25D-696A-C09B33BD15FD}"/>
              </a:ext>
            </a:extLst>
          </p:cNvPr>
          <p:cNvSpPr txBox="1"/>
          <p:nvPr/>
        </p:nvSpPr>
        <p:spPr>
          <a:xfrm>
            <a:off x="4609882" y="2504371"/>
            <a:ext cx="1503425" cy="276999"/>
          </a:xfrm>
          <a:prstGeom prst="rect">
            <a:avLst/>
          </a:prstGeom>
          <a:noFill/>
        </p:spPr>
        <p:txBody>
          <a:bodyPr wrap="none" rtlCol="0">
            <a:spAutoFit/>
          </a:bodyPr>
          <a:lstStyle/>
          <a:p>
            <a:r>
              <a:rPr lang="en-US" sz="1200" b="1" dirty="0">
                <a:solidFill>
                  <a:srgbClr val="12395B"/>
                </a:solidFill>
              </a:rPr>
              <a:t>“Check your system”</a:t>
            </a:r>
          </a:p>
        </p:txBody>
      </p:sp>
      <p:cxnSp>
        <p:nvCxnSpPr>
          <p:cNvPr id="204" name="Connector: Curved 203">
            <a:extLst>
              <a:ext uri="{FF2B5EF4-FFF2-40B4-BE49-F238E27FC236}">
                <a16:creationId xmlns:a16="http://schemas.microsoft.com/office/drawing/2014/main" id="{A90937D0-7B8A-29C5-FF27-BCBA8F8DA6DD}"/>
              </a:ext>
            </a:extLst>
          </p:cNvPr>
          <p:cNvCxnSpPr>
            <a:cxnSpLocks/>
            <a:stCxn id="168" idx="1"/>
            <a:endCxn id="166" idx="3"/>
          </p:cNvCxnSpPr>
          <p:nvPr/>
        </p:nvCxnSpPr>
        <p:spPr>
          <a:xfrm rot="10800000" flipV="1">
            <a:off x="4091322" y="3203177"/>
            <a:ext cx="2540546" cy="1"/>
          </a:xfrm>
          <a:prstGeom prst="curvedConnector3">
            <a:avLst>
              <a:gd name="adj1" fmla="val 50000"/>
            </a:avLst>
          </a:prstGeom>
          <a:ln>
            <a:solidFill>
              <a:srgbClr val="496A7A"/>
            </a:solidFill>
            <a:tailEnd type="triangle"/>
          </a:ln>
        </p:spPr>
        <p:style>
          <a:lnRef idx="1">
            <a:schemeClr val="accent1"/>
          </a:lnRef>
          <a:fillRef idx="0">
            <a:schemeClr val="accent1"/>
          </a:fillRef>
          <a:effectRef idx="0">
            <a:schemeClr val="accent1"/>
          </a:effectRef>
          <a:fontRef idx="minor">
            <a:schemeClr val="tx1"/>
          </a:fontRef>
        </p:style>
      </p:cxnSp>
      <p:sp>
        <p:nvSpPr>
          <p:cNvPr id="210" name="TextBox 209">
            <a:extLst>
              <a:ext uri="{FF2B5EF4-FFF2-40B4-BE49-F238E27FC236}">
                <a16:creationId xmlns:a16="http://schemas.microsoft.com/office/drawing/2014/main" id="{78AC7F0E-6F7D-3B39-4943-EE251A2BCC65}"/>
              </a:ext>
            </a:extLst>
          </p:cNvPr>
          <p:cNvSpPr txBox="1"/>
          <p:nvPr/>
        </p:nvSpPr>
        <p:spPr>
          <a:xfrm>
            <a:off x="4142575" y="2947353"/>
            <a:ext cx="2438040" cy="276999"/>
          </a:xfrm>
          <a:prstGeom prst="rect">
            <a:avLst/>
          </a:prstGeom>
          <a:noFill/>
        </p:spPr>
        <p:txBody>
          <a:bodyPr wrap="none" rtlCol="0">
            <a:spAutoFit/>
          </a:bodyPr>
          <a:lstStyle/>
          <a:p>
            <a:r>
              <a:rPr lang="en-US" sz="1200" b="1" dirty="0">
                <a:solidFill>
                  <a:srgbClr val="496A7A"/>
                </a:solidFill>
              </a:rPr>
              <a:t>“System meets acceptance criteria”</a:t>
            </a:r>
          </a:p>
        </p:txBody>
      </p:sp>
      <p:sp>
        <p:nvSpPr>
          <p:cNvPr id="215" name="Oval 214">
            <a:extLst>
              <a:ext uri="{FF2B5EF4-FFF2-40B4-BE49-F238E27FC236}">
                <a16:creationId xmlns:a16="http://schemas.microsoft.com/office/drawing/2014/main" id="{A0B7C08B-3BF4-FAC4-C4DD-59B04C27C32E}"/>
              </a:ext>
            </a:extLst>
          </p:cNvPr>
          <p:cNvSpPr/>
          <p:nvPr/>
        </p:nvSpPr>
        <p:spPr>
          <a:xfrm>
            <a:off x="5210516" y="3429000"/>
            <a:ext cx="1051560" cy="1053487"/>
          </a:xfrm>
          <a:prstGeom prst="ellipse">
            <a:avLst/>
          </a:prstGeom>
          <a:solidFill>
            <a:srgbClr val="720C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The Loss</a:t>
            </a:r>
          </a:p>
          <a:p>
            <a:pPr algn="ctr"/>
            <a:r>
              <a:rPr lang="en-US" sz="1000" dirty="0"/>
              <a:t>No one sees</a:t>
            </a:r>
          </a:p>
        </p:txBody>
      </p:sp>
      <p:cxnSp>
        <p:nvCxnSpPr>
          <p:cNvPr id="218" name="Connector: Curved 217">
            <a:extLst>
              <a:ext uri="{FF2B5EF4-FFF2-40B4-BE49-F238E27FC236}">
                <a16:creationId xmlns:a16="http://schemas.microsoft.com/office/drawing/2014/main" id="{C650DBD0-6937-F36E-A0F3-FA315E5DAF22}"/>
              </a:ext>
            </a:extLst>
          </p:cNvPr>
          <p:cNvCxnSpPr>
            <a:cxnSpLocks/>
            <a:stCxn id="170" idx="3"/>
            <a:endCxn id="168" idx="2"/>
          </p:cNvCxnSpPr>
          <p:nvPr/>
        </p:nvCxnSpPr>
        <p:spPr>
          <a:xfrm flipV="1">
            <a:off x="5630693" y="3377514"/>
            <a:ext cx="1513311" cy="1921562"/>
          </a:xfrm>
          <a:prstGeom prst="curvedConnector2">
            <a:avLst/>
          </a:prstGeom>
          <a:ln>
            <a:solidFill>
              <a:srgbClr val="496A7A"/>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22" name="TextBox 221">
            <a:extLst>
              <a:ext uri="{FF2B5EF4-FFF2-40B4-BE49-F238E27FC236}">
                <a16:creationId xmlns:a16="http://schemas.microsoft.com/office/drawing/2014/main" id="{B4163FDF-689D-D5B6-3264-4E7B5B46E78E}"/>
              </a:ext>
            </a:extLst>
          </p:cNvPr>
          <p:cNvSpPr txBox="1"/>
          <p:nvPr/>
        </p:nvSpPr>
        <p:spPr>
          <a:xfrm>
            <a:off x="7134677" y="3495497"/>
            <a:ext cx="2422138" cy="276999"/>
          </a:xfrm>
          <a:prstGeom prst="rect">
            <a:avLst/>
          </a:prstGeom>
          <a:noFill/>
        </p:spPr>
        <p:txBody>
          <a:bodyPr wrap="none" rtlCol="0">
            <a:spAutoFit/>
          </a:bodyPr>
          <a:lstStyle/>
          <a:p>
            <a:r>
              <a:rPr lang="en-US" sz="1200" b="1" dirty="0">
                <a:solidFill>
                  <a:srgbClr val="496A7A"/>
                </a:solidFill>
              </a:rPr>
              <a:t>“Traffic quality is not our problem”</a:t>
            </a:r>
          </a:p>
        </p:txBody>
      </p:sp>
    </p:spTree>
    <p:extLst>
      <p:ext uri="{BB962C8B-B14F-4D97-AF65-F5344CB8AC3E}">
        <p14:creationId xmlns:p14="http://schemas.microsoft.com/office/powerpoint/2010/main" val="19188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C62F0-8726-87E2-79F1-58F528EB3D9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BAF73C-7DAC-63BB-7416-90BB99AB3F7F}"/>
              </a:ext>
            </a:extLst>
          </p:cNvPr>
          <p:cNvSpPr/>
          <p:nvPr/>
        </p:nvSpPr>
        <p:spPr>
          <a:xfrm>
            <a:off x="0" y="0"/>
            <a:ext cx="12191695" cy="8686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146304" rtlCol="0" anchor="ctr"/>
          <a:lstStyle/>
          <a:p>
            <a:r>
              <a:rPr lang="en-US" sz="2000" dirty="0"/>
              <a:t>It turns out we weren't measuring where the loss happens.</a:t>
            </a:r>
            <a:endParaRPr lang="en-US" sz="1900" b="1" dirty="0">
              <a:solidFill>
                <a:schemeClr val="bg1"/>
              </a:solidFill>
              <a:cs typeface="Arial" panose="020B0604020202020204" pitchFamily="34" charset="0"/>
            </a:endParaRPr>
          </a:p>
        </p:txBody>
      </p:sp>
      <p:sp>
        <p:nvSpPr>
          <p:cNvPr id="24" name="Rectangle 23">
            <a:extLst>
              <a:ext uri="{FF2B5EF4-FFF2-40B4-BE49-F238E27FC236}">
                <a16:creationId xmlns:a16="http://schemas.microsoft.com/office/drawing/2014/main" id="{7C9C613B-9985-7FFC-CB76-7D7AD0FC7855}"/>
              </a:ext>
            </a:extLst>
          </p:cNvPr>
          <p:cNvSpPr/>
          <p:nvPr/>
        </p:nvSpPr>
        <p:spPr>
          <a:xfrm>
            <a:off x="58056" y="933450"/>
            <a:ext cx="12075888" cy="5822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TextBox 159">
            <a:extLst>
              <a:ext uri="{FF2B5EF4-FFF2-40B4-BE49-F238E27FC236}">
                <a16:creationId xmlns:a16="http://schemas.microsoft.com/office/drawing/2014/main" id="{80D8BA31-FFDE-074D-BC40-00EF58FA4491}"/>
              </a:ext>
            </a:extLst>
          </p:cNvPr>
          <p:cNvSpPr txBox="1"/>
          <p:nvPr/>
        </p:nvSpPr>
        <p:spPr>
          <a:xfrm>
            <a:off x="6241673" y="1884073"/>
            <a:ext cx="5164756" cy="923330"/>
          </a:xfrm>
          <a:prstGeom prst="rect">
            <a:avLst/>
          </a:prstGeom>
          <a:noFill/>
        </p:spPr>
        <p:txBody>
          <a:bodyPr wrap="square" rtlCol="0">
            <a:spAutoFit/>
          </a:bodyPr>
          <a:lstStyle/>
          <a:p>
            <a:r>
              <a:rPr lang="en-US" dirty="0">
                <a:solidFill>
                  <a:srgbClr val="12395B"/>
                </a:solidFill>
              </a:rPr>
              <a:t>Up to application complete, applications with and without a trap look the same.</a:t>
            </a:r>
            <a:br>
              <a:rPr lang="en-US" dirty="0">
                <a:solidFill>
                  <a:srgbClr val="12395B"/>
                </a:solidFill>
              </a:rPr>
            </a:br>
            <a:endParaRPr lang="en-US" b="1" dirty="0">
              <a:solidFill>
                <a:srgbClr val="12395B"/>
              </a:solidFill>
            </a:endParaRPr>
          </a:p>
        </p:txBody>
      </p:sp>
      <p:sp>
        <p:nvSpPr>
          <p:cNvPr id="4" name="Rectangle: Rounded Corners 3">
            <a:extLst>
              <a:ext uri="{FF2B5EF4-FFF2-40B4-BE49-F238E27FC236}">
                <a16:creationId xmlns:a16="http://schemas.microsoft.com/office/drawing/2014/main" id="{C7D54D52-B285-638E-0663-27A22C9135C4}"/>
              </a:ext>
            </a:extLst>
          </p:cNvPr>
          <p:cNvSpPr/>
          <p:nvPr/>
        </p:nvSpPr>
        <p:spPr>
          <a:xfrm>
            <a:off x="2209349" y="1969431"/>
            <a:ext cx="36576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b="1" dirty="0">
              <a:solidFill>
                <a:srgbClr val="12395B"/>
              </a:solidFill>
            </a:endParaRPr>
          </a:p>
        </p:txBody>
      </p:sp>
      <p:sp>
        <p:nvSpPr>
          <p:cNvPr id="6" name="Rectangle: Rounded Corners 5">
            <a:extLst>
              <a:ext uri="{FF2B5EF4-FFF2-40B4-BE49-F238E27FC236}">
                <a16:creationId xmlns:a16="http://schemas.microsoft.com/office/drawing/2014/main" id="{AE491CB1-E6BA-274B-D67C-B75FFD9E3D29}"/>
              </a:ext>
            </a:extLst>
          </p:cNvPr>
          <p:cNvSpPr/>
          <p:nvPr/>
        </p:nvSpPr>
        <p:spPr>
          <a:xfrm>
            <a:off x="2209349" y="2383861"/>
            <a:ext cx="32004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b="1" dirty="0">
              <a:solidFill>
                <a:srgbClr val="12395B"/>
              </a:solidFill>
            </a:endParaRPr>
          </a:p>
          <a:p>
            <a:pPr algn="ctr"/>
            <a:endParaRPr lang="en-US" sz="1000" b="1" dirty="0">
              <a:solidFill>
                <a:srgbClr val="12395B"/>
              </a:solidFill>
            </a:endParaRPr>
          </a:p>
        </p:txBody>
      </p:sp>
      <p:sp>
        <p:nvSpPr>
          <p:cNvPr id="8" name="Rectangle: Rounded Corners 7">
            <a:extLst>
              <a:ext uri="{FF2B5EF4-FFF2-40B4-BE49-F238E27FC236}">
                <a16:creationId xmlns:a16="http://schemas.microsoft.com/office/drawing/2014/main" id="{FF014E56-4E12-F9A4-D064-34A3656EF74D}"/>
              </a:ext>
            </a:extLst>
          </p:cNvPr>
          <p:cNvSpPr/>
          <p:nvPr/>
        </p:nvSpPr>
        <p:spPr>
          <a:xfrm>
            <a:off x="2209350" y="2798718"/>
            <a:ext cx="27432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b="1" dirty="0">
              <a:solidFill>
                <a:srgbClr val="12395B"/>
              </a:solidFill>
            </a:endParaRPr>
          </a:p>
        </p:txBody>
      </p:sp>
      <p:sp>
        <p:nvSpPr>
          <p:cNvPr id="10" name="Rectangle: Rounded Corners 9">
            <a:extLst>
              <a:ext uri="{FF2B5EF4-FFF2-40B4-BE49-F238E27FC236}">
                <a16:creationId xmlns:a16="http://schemas.microsoft.com/office/drawing/2014/main" id="{282131C5-BE4C-12FA-A4AC-C68BE992301A}"/>
              </a:ext>
            </a:extLst>
          </p:cNvPr>
          <p:cNvSpPr/>
          <p:nvPr/>
        </p:nvSpPr>
        <p:spPr>
          <a:xfrm>
            <a:off x="2209349" y="3243749"/>
            <a:ext cx="219456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b="1" dirty="0">
              <a:solidFill>
                <a:srgbClr val="12395B"/>
              </a:solidFill>
            </a:endParaRPr>
          </a:p>
        </p:txBody>
      </p:sp>
      <p:sp>
        <p:nvSpPr>
          <p:cNvPr id="12" name="Rectangle: Rounded Corners 11">
            <a:extLst>
              <a:ext uri="{FF2B5EF4-FFF2-40B4-BE49-F238E27FC236}">
                <a16:creationId xmlns:a16="http://schemas.microsoft.com/office/drawing/2014/main" id="{B149366D-F6FA-B3DD-C080-0C7F3792E2C7}"/>
              </a:ext>
            </a:extLst>
          </p:cNvPr>
          <p:cNvSpPr/>
          <p:nvPr/>
        </p:nvSpPr>
        <p:spPr>
          <a:xfrm>
            <a:off x="2209350" y="3668180"/>
            <a:ext cx="18288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b="1" dirty="0">
              <a:solidFill>
                <a:srgbClr val="12395B"/>
              </a:solidFill>
            </a:endParaRPr>
          </a:p>
        </p:txBody>
      </p:sp>
      <p:sp>
        <p:nvSpPr>
          <p:cNvPr id="14" name="Rectangle: Rounded Corners 13">
            <a:extLst>
              <a:ext uri="{FF2B5EF4-FFF2-40B4-BE49-F238E27FC236}">
                <a16:creationId xmlns:a16="http://schemas.microsoft.com/office/drawing/2014/main" id="{2D8628C6-713C-391C-EBB6-F83006E261EF}"/>
              </a:ext>
            </a:extLst>
          </p:cNvPr>
          <p:cNvSpPr/>
          <p:nvPr/>
        </p:nvSpPr>
        <p:spPr>
          <a:xfrm>
            <a:off x="2209350" y="4121185"/>
            <a:ext cx="1554480" cy="292100"/>
          </a:xfrm>
          <a:prstGeom prst="roundRect">
            <a:avLst/>
          </a:prstGeom>
          <a:noFill/>
          <a:ln>
            <a:solidFill>
              <a:srgbClr val="72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b="1" dirty="0">
              <a:solidFill>
                <a:schemeClr val="bg1"/>
              </a:solidFill>
            </a:endParaRPr>
          </a:p>
        </p:txBody>
      </p:sp>
      <p:sp>
        <p:nvSpPr>
          <p:cNvPr id="20" name="TextBox 19">
            <a:extLst>
              <a:ext uri="{FF2B5EF4-FFF2-40B4-BE49-F238E27FC236}">
                <a16:creationId xmlns:a16="http://schemas.microsoft.com/office/drawing/2014/main" id="{FD8FDF87-C75F-021A-7DF2-80766D3A97D5}"/>
              </a:ext>
            </a:extLst>
          </p:cNvPr>
          <p:cNvSpPr txBox="1"/>
          <p:nvPr/>
        </p:nvSpPr>
        <p:spPr>
          <a:xfrm>
            <a:off x="382062" y="1927898"/>
            <a:ext cx="1883409" cy="3754874"/>
          </a:xfrm>
          <a:prstGeom prst="rect">
            <a:avLst/>
          </a:prstGeom>
          <a:noFill/>
        </p:spPr>
        <p:txBody>
          <a:bodyPr wrap="square">
            <a:spAutoFit/>
          </a:bodyPr>
          <a:lstStyle/>
          <a:p>
            <a:r>
              <a:rPr lang="en-US" sz="1400" b="1" dirty="0">
                <a:solidFill>
                  <a:schemeClr val="tx1"/>
                </a:solidFill>
              </a:rPr>
              <a:t>Digital Store Front</a:t>
            </a:r>
          </a:p>
          <a:p>
            <a:endParaRPr lang="en-US" sz="1400" b="1" dirty="0"/>
          </a:p>
          <a:p>
            <a:r>
              <a:rPr lang="en-US" sz="1400" b="1" dirty="0"/>
              <a:t>Quote Start</a:t>
            </a:r>
          </a:p>
          <a:p>
            <a:endParaRPr lang="en-US" sz="1400" b="1" dirty="0"/>
          </a:p>
          <a:p>
            <a:r>
              <a:rPr lang="en-US" sz="1400" b="1" dirty="0"/>
              <a:t>Quote Complete</a:t>
            </a:r>
          </a:p>
          <a:p>
            <a:endParaRPr lang="en-US" sz="1400" b="1" dirty="0"/>
          </a:p>
          <a:p>
            <a:r>
              <a:rPr lang="en-US" sz="1400" b="1" dirty="0"/>
              <a:t>Application Start</a:t>
            </a:r>
          </a:p>
          <a:p>
            <a:endParaRPr lang="en-US" sz="1400" b="1" dirty="0"/>
          </a:p>
          <a:p>
            <a:r>
              <a:rPr lang="en-US" sz="1400" b="1" dirty="0"/>
              <a:t>Application Complete</a:t>
            </a:r>
          </a:p>
          <a:p>
            <a:endParaRPr lang="en-US" sz="1400" b="1" dirty="0"/>
          </a:p>
          <a:p>
            <a:r>
              <a:rPr lang="en-US" sz="1400" b="1" dirty="0"/>
              <a:t>Issuance</a:t>
            </a:r>
          </a:p>
          <a:p>
            <a:endParaRPr lang="en-US" sz="1400" b="1" dirty="0"/>
          </a:p>
          <a:p>
            <a:pPr algn="ctr"/>
            <a:endParaRPr lang="en-US" sz="1400" b="1" dirty="0"/>
          </a:p>
          <a:p>
            <a:pPr algn="ctr"/>
            <a:endParaRPr lang="en-US" sz="1400" b="1" dirty="0"/>
          </a:p>
          <a:p>
            <a:pPr algn="ctr"/>
            <a:endParaRPr lang="en-US" sz="1400" b="1" dirty="0"/>
          </a:p>
          <a:p>
            <a:pPr algn="ctr"/>
            <a:endParaRPr lang="en-US" sz="1400" b="1" dirty="0"/>
          </a:p>
          <a:p>
            <a:pPr algn="ctr"/>
            <a:endParaRPr lang="en-US" sz="1400" b="1" dirty="0">
              <a:solidFill>
                <a:schemeClr val="tx1"/>
              </a:solidFill>
            </a:endParaRPr>
          </a:p>
        </p:txBody>
      </p:sp>
      <p:cxnSp>
        <p:nvCxnSpPr>
          <p:cNvPr id="22" name="Straight Connector 21">
            <a:extLst>
              <a:ext uri="{FF2B5EF4-FFF2-40B4-BE49-F238E27FC236}">
                <a16:creationId xmlns:a16="http://schemas.microsoft.com/office/drawing/2014/main" id="{EB8486BA-3B96-0BAB-CEA1-CF274B4D21E2}"/>
              </a:ext>
            </a:extLst>
          </p:cNvPr>
          <p:cNvCxnSpPr>
            <a:cxnSpLocks/>
          </p:cNvCxnSpPr>
          <p:nvPr/>
        </p:nvCxnSpPr>
        <p:spPr>
          <a:xfrm flipV="1">
            <a:off x="196850" y="4002610"/>
            <a:ext cx="10255250" cy="23290"/>
          </a:xfrm>
          <a:prstGeom prst="line">
            <a:avLst/>
          </a:prstGeom>
          <a:ln>
            <a:solidFill>
              <a:srgbClr val="720C27"/>
            </a:solidFill>
            <a:prstDash val="dash"/>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C6CBE4BB-5CC8-BF30-6CDC-D82D61F6428D}"/>
              </a:ext>
            </a:extLst>
          </p:cNvPr>
          <p:cNvSpPr/>
          <p:nvPr/>
        </p:nvSpPr>
        <p:spPr>
          <a:xfrm>
            <a:off x="5975197" y="1946142"/>
            <a:ext cx="120650" cy="2056468"/>
          </a:xfrm>
          <a:prstGeom prst="rightBrace">
            <a:avLst/>
          </a:prstGeom>
          <a:ln>
            <a:solidFill>
              <a:srgbClr val="06D6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26" name="Table 25">
            <a:extLst>
              <a:ext uri="{FF2B5EF4-FFF2-40B4-BE49-F238E27FC236}">
                <a16:creationId xmlns:a16="http://schemas.microsoft.com/office/drawing/2014/main" id="{8A0BE661-A140-63A2-CB3F-2B79B7A908C7}"/>
              </a:ext>
            </a:extLst>
          </p:cNvPr>
          <p:cNvGraphicFramePr>
            <a:graphicFrameLocks noGrp="1"/>
          </p:cNvGraphicFramePr>
          <p:nvPr>
            <p:extLst>
              <p:ext uri="{D42A27DB-BD31-4B8C-83A1-F6EECF244321}">
                <p14:modId xmlns:p14="http://schemas.microsoft.com/office/powerpoint/2010/main" val="3418797971"/>
              </p:ext>
            </p:extLst>
          </p:nvPr>
        </p:nvGraphicFramePr>
        <p:xfrm>
          <a:off x="6339741" y="2525395"/>
          <a:ext cx="2476183" cy="487680"/>
        </p:xfrm>
        <a:graphic>
          <a:graphicData uri="http://schemas.openxmlformats.org/drawingml/2006/table">
            <a:tbl>
              <a:tblPr>
                <a:tableStyleId>{5C22544A-7EE6-4342-B048-85BDC9FD1C3A}</a:tableStyleId>
              </a:tblPr>
              <a:tblGrid>
                <a:gridCol w="897255">
                  <a:extLst>
                    <a:ext uri="{9D8B030D-6E8A-4147-A177-3AD203B41FA5}">
                      <a16:colId xmlns:a16="http://schemas.microsoft.com/office/drawing/2014/main" val="4278196143"/>
                    </a:ext>
                  </a:extLst>
                </a:gridCol>
                <a:gridCol w="611505">
                  <a:extLst>
                    <a:ext uri="{9D8B030D-6E8A-4147-A177-3AD203B41FA5}">
                      <a16:colId xmlns:a16="http://schemas.microsoft.com/office/drawing/2014/main" val="4088580022"/>
                    </a:ext>
                  </a:extLst>
                </a:gridCol>
                <a:gridCol w="528955">
                  <a:extLst>
                    <a:ext uri="{9D8B030D-6E8A-4147-A177-3AD203B41FA5}">
                      <a16:colId xmlns:a16="http://schemas.microsoft.com/office/drawing/2014/main" val="975025356"/>
                    </a:ext>
                  </a:extLst>
                </a:gridCol>
                <a:gridCol w="438468">
                  <a:extLst>
                    <a:ext uri="{9D8B030D-6E8A-4147-A177-3AD203B41FA5}">
                      <a16:colId xmlns:a16="http://schemas.microsoft.com/office/drawing/2014/main" val="1802271297"/>
                    </a:ext>
                  </a:extLst>
                </a:gridCol>
              </a:tblGrid>
              <a:tr h="0">
                <a:tc>
                  <a:txBody>
                    <a:bodyPr/>
                    <a:lstStyle/>
                    <a:p>
                      <a:pPr>
                        <a:buNone/>
                      </a:pPr>
                      <a:endParaRPr lang="en-US" sz="10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95B"/>
                    </a:solidFill>
                  </a:tcPr>
                </a:tc>
                <a:tc>
                  <a:txBody>
                    <a:bodyPr/>
                    <a:lstStyle/>
                    <a:p>
                      <a:pPr>
                        <a:buNone/>
                      </a:pPr>
                      <a:r>
                        <a:rPr lang="en-US" sz="1000" b="1" dirty="0">
                          <a:solidFill>
                            <a:schemeClr val="bg1"/>
                          </a:solidFill>
                        </a:rPr>
                        <a:t>No trap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95B"/>
                    </a:solidFill>
                  </a:tcPr>
                </a:tc>
                <a:tc>
                  <a:txBody>
                    <a:bodyPr/>
                    <a:lstStyle/>
                    <a:p>
                      <a:pPr>
                        <a:buNone/>
                      </a:pPr>
                      <a:r>
                        <a:rPr lang="en-US" sz="1000" b="1" dirty="0">
                          <a:solidFill>
                            <a:schemeClr val="bg1"/>
                          </a:solidFill>
                        </a:rPr>
                        <a:t>Trap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95B"/>
                    </a:solidFill>
                  </a:tcPr>
                </a:tc>
                <a:tc>
                  <a:txBody>
                    <a:bodyPr/>
                    <a:lstStyle/>
                    <a:p>
                      <a:pPr>
                        <a:buNone/>
                      </a:pPr>
                      <a:r>
                        <a:rPr lang="en-US" sz="1000" b="1" dirty="0">
                          <a:solidFill>
                            <a:schemeClr val="bg1"/>
                          </a:solidFill>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95B"/>
                    </a:solidFill>
                  </a:tcPr>
                </a:tc>
                <a:extLst>
                  <a:ext uri="{0D108BD9-81ED-4DB2-BD59-A6C34878D82A}">
                    <a16:rowId xmlns:a16="http://schemas.microsoft.com/office/drawing/2014/main" val="4084350101"/>
                  </a:ext>
                </a:extLst>
              </a:tr>
              <a:tr h="0">
                <a:tc>
                  <a:txBody>
                    <a:bodyPr/>
                    <a:lstStyle/>
                    <a:p>
                      <a:pPr>
                        <a:buNone/>
                      </a:pPr>
                      <a:r>
                        <a:rPr lang="en-US" sz="1000" dirty="0"/>
                        <a:t>IT trap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000" dirty="0"/>
                        <a:t>83.2%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000" dirty="0"/>
                        <a:t>84.3%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000" dirty="0"/>
                        <a:t>0.36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4206419"/>
                  </a:ext>
                </a:extLst>
              </a:tr>
            </a:tbl>
          </a:graphicData>
        </a:graphic>
      </p:graphicFrame>
      <p:sp>
        <p:nvSpPr>
          <p:cNvPr id="31" name="Right Brace 30">
            <a:extLst>
              <a:ext uri="{FF2B5EF4-FFF2-40B4-BE49-F238E27FC236}">
                <a16:creationId xmlns:a16="http://schemas.microsoft.com/office/drawing/2014/main" id="{C3C87900-D2DC-AF54-9B27-F36E7B0971F3}"/>
              </a:ext>
            </a:extLst>
          </p:cNvPr>
          <p:cNvSpPr/>
          <p:nvPr/>
        </p:nvSpPr>
        <p:spPr>
          <a:xfrm>
            <a:off x="5975197" y="4025900"/>
            <a:ext cx="120650" cy="466761"/>
          </a:xfrm>
          <a:prstGeom prst="rightBrace">
            <a:avLst/>
          </a:prstGeom>
          <a:ln>
            <a:solidFill>
              <a:srgbClr val="720C2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33" name="Table 32">
            <a:extLst>
              <a:ext uri="{FF2B5EF4-FFF2-40B4-BE49-F238E27FC236}">
                <a16:creationId xmlns:a16="http://schemas.microsoft.com/office/drawing/2014/main" id="{0D6CB735-6C32-E61F-B850-E88757ADCD4E}"/>
              </a:ext>
            </a:extLst>
          </p:cNvPr>
          <p:cNvGraphicFramePr>
            <a:graphicFrameLocks noGrp="1"/>
          </p:cNvGraphicFramePr>
          <p:nvPr>
            <p:extLst>
              <p:ext uri="{D42A27DB-BD31-4B8C-83A1-F6EECF244321}">
                <p14:modId xmlns:p14="http://schemas.microsoft.com/office/powerpoint/2010/main" val="1268360090"/>
              </p:ext>
            </p:extLst>
          </p:nvPr>
        </p:nvGraphicFramePr>
        <p:xfrm>
          <a:off x="6281096" y="4619311"/>
          <a:ext cx="2776508" cy="487680"/>
        </p:xfrm>
        <a:graphic>
          <a:graphicData uri="http://schemas.openxmlformats.org/drawingml/2006/table">
            <a:tbl>
              <a:tblPr>
                <a:tableStyleId>{5C22544A-7EE6-4342-B048-85BDC9FD1C3A}</a:tableStyleId>
              </a:tblPr>
              <a:tblGrid>
                <a:gridCol w="897255">
                  <a:extLst>
                    <a:ext uri="{9D8B030D-6E8A-4147-A177-3AD203B41FA5}">
                      <a16:colId xmlns:a16="http://schemas.microsoft.com/office/drawing/2014/main" val="2383886564"/>
                    </a:ext>
                  </a:extLst>
                </a:gridCol>
                <a:gridCol w="611505">
                  <a:extLst>
                    <a:ext uri="{9D8B030D-6E8A-4147-A177-3AD203B41FA5}">
                      <a16:colId xmlns:a16="http://schemas.microsoft.com/office/drawing/2014/main" val="1724862810"/>
                    </a:ext>
                  </a:extLst>
                </a:gridCol>
                <a:gridCol w="528955">
                  <a:extLst>
                    <a:ext uri="{9D8B030D-6E8A-4147-A177-3AD203B41FA5}">
                      <a16:colId xmlns:a16="http://schemas.microsoft.com/office/drawing/2014/main" val="1065994052"/>
                    </a:ext>
                  </a:extLst>
                </a:gridCol>
                <a:gridCol w="738793">
                  <a:extLst>
                    <a:ext uri="{9D8B030D-6E8A-4147-A177-3AD203B41FA5}">
                      <a16:colId xmlns:a16="http://schemas.microsoft.com/office/drawing/2014/main" val="1965733095"/>
                    </a:ext>
                  </a:extLst>
                </a:gridCol>
              </a:tblGrid>
              <a:tr h="0">
                <a:tc>
                  <a:txBody>
                    <a:bodyPr/>
                    <a:lstStyle/>
                    <a:p>
                      <a:pPr>
                        <a:buNone/>
                      </a:pPr>
                      <a:endParaRPr lang="en-US"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95B"/>
                    </a:solidFill>
                  </a:tcPr>
                </a:tc>
                <a:tc>
                  <a:txBody>
                    <a:bodyPr/>
                    <a:lstStyle/>
                    <a:p>
                      <a:pPr>
                        <a:buNone/>
                      </a:pPr>
                      <a:r>
                        <a:rPr lang="en-US" sz="1000" b="1" dirty="0">
                          <a:solidFill>
                            <a:schemeClr val="bg1"/>
                          </a:solidFill>
                        </a:rPr>
                        <a:t>No trap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95B"/>
                    </a:solidFill>
                  </a:tcPr>
                </a:tc>
                <a:tc>
                  <a:txBody>
                    <a:bodyPr/>
                    <a:lstStyle/>
                    <a:p>
                      <a:pPr>
                        <a:buNone/>
                      </a:pPr>
                      <a:r>
                        <a:rPr lang="en-US" sz="1000" b="1" dirty="0">
                          <a:solidFill>
                            <a:schemeClr val="bg1"/>
                          </a:solidFill>
                        </a:rPr>
                        <a:t>Trap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95B"/>
                    </a:solidFill>
                  </a:tcPr>
                </a:tc>
                <a:tc>
                  <a:txBody>
                    <a:bodyPr/>
                    <a:lstStyle/>
                    <a:p>
                      <a:pPr>
                        <a:buNone/>
                      </a:pPr>
                      <a:r>
                        <a:rPr lang="en-US" sz="1000" b="1" dirty="0">
                          <a:solidFill>
                            <a:schemeClr val="bg1"/>
                          </a:solidFill>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395B"/>
                    </a:solidFill>
                  </a:tcPr>
                </a:tc>
                <a:extLst>
                  <a:ext uri="{0D108BD9-81ED-4DB2-BD59-A6C34878D82A}">
                    <a16:rowId xmlns:a16="http://schemas.microsoft.com/office/drawing/2014/main" val="3057997181"/>
                  </a:ext>
                </a:extLst>
              </a:tr>
              <a:tr h="0">
                <a:tc>
                  <a:txBody>
                    <a:bodyPr/>
                    <a:lstStyle/>
                    <a:p>
                      <a:pPr>
                        <a:buNone/>
                      </a:pPr>
                      <a:r>
                        <a:rPr lang="en-US" sz="1000" dirty="0"/>
                        <a:t>IT trap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000" dirty="0"/>
                        <a:t>87.4%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000" dirty="0"/>
                        <a:t>71.5%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000" dirty="0"/>
                        <a:t>1.8×10⁻³⁵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5316230"/>
                  </a:ext>
                </a:extLst>
              </a:tr>
            </a:tbl>
          </a:graphicData>
        </a:graphic>
      </p:graphicFrame>
      <p:sp>
        <p:nvSpPr>
          <p:cNvPr id="35" name="TextBox 34">
            <a:extLst>
              <a:ext uri="{FF2B5EF4-FFF2-40B4-BE49-F238E27FC236}">
                <a16:creationId xmlns:a16="http://schemas.microsoft.com/office/drawing/2014/main" id="{F4A0DA21-75FB-96A8-FE6E-1D6518C62EAA}"/>
              </a:ext>
            </a:extLst>
          </p:cNvPr>
          <p:cNvSpPr txBox="1"/>
          <p:nvPr/>
        </p:nvSpPr>
        <p:spPr>
          <a:xfrm>
            <a:off x="6241673" y="3989972"/>
            <a:ext cx="5164756" cy="646331"/>
          </a:xfrm>
          <a:prstGeom prst="rect">
            <a:avLst/>
          </a:prstGeom>
          <a:noFill/>
        </p:spPr>
        <p:txBody>
          <a:bodyPr wrap="square" rtlCol="0">
            <a:spAutoFit/>
          </a:bodyPr>
          <a:lstStyle/>
          <a:p>
            <a:r>
              <a:rPr lang="en-US" dirty="0">
                <a:solidFill>
                  <a:srgbClr val="12395B"/>
                </a:solidFill>
              </a:rPr>
              <a:t>At issuance, applications with a trap fall 16 points behind, and no one flags it here.</a:t>
            </a:r>
          </a:p>
        </p:txBody>
      </p:sp>
      <p:sp>
        <p:nvSpPr>
          <p:cNvPr id="39" name="Shape 7">
            <a:extLst>
              <a:ext uri="{FF2B5EF4-FFF2-40B4-BE49-F238E27FC236}">
                <a16:creationId xmlns:a16="http://schemas.microsoft.com/office/drawing/2014/main" id="{A404D8C8-1B4D-26EB-0379-2B18962D6B07}"/>
              </a:ext>
            </a:extLst>
          </p:cNvPr>
          <p:cNvSpPr/>
          <p:nvPr/>
        </p:nvSpPr>
        <p:spPr>
          <a:xfrm>
            <a:off x="3138989" y="5510162"/>
            <a:ext cx="4013200" cy="1160571"/>
          </a:xfrm>
          <a:prstGeom prst="roundRect">
            <a:avLst>
              <a:gd name="adj" fmla="val 3488"/>
            </a:avLst>
          </a:prstGeom>
          <a:noFill/>
          <a:ln w="12700">
            <a:solidFill>
              <a:srgbClr val="720C27"/>
            </a:solidFill>
            <a:prstDash val="solid"/>
          </a:ln>
        </p:spPr>
        <p:txBody>
          <a:bodyPr/>
          <a:lstStyle/>
          <a:p>
            <a:endParaRPr lang="en-US" dirty="0"/>
          </a:p>
        </p:txBody>
      </p:sp>
      <p:sp>
        <p:nvSpPr>
          <p:cNvPr id="41" name="Text 8">
            <a:extLst>
              <a:ext uri="{FF2B5EF4-FFF2-40B4-BE49-F238E27FC236}">
                <a16:creationId xmlns:a16="http://schemas.microsoft.com/office/drawing/2014/main" id="{363C2D65-9845-5472-1AFF-02B9819CB01A}"/>
              </a:ext>
            </a:extLst>
          </p:cNvPr>
          <p:cNvSpPr txBox="1"/>
          <p:nvPr/>
        </p:nvSpPr>
        <p:spPr>
          <a:xfrm>
            <a:off x="2783389" y="5510162"/>
            <a:ext cx="2286000" cy="731520"/>
          </a:xfrm>
          <a:prstGeom prst="rect">
            <a:avLst/>
          </a:prstGeom>
          <a:noFill/>
          <a:ln/>
        </p:spPr>
        <p:txBody>
          <a:bodyPr wrap="square" lIns="0" tIns="0" rIns="0" bIns="0" rtlCol="0" anchor="ctr"/>
          <a:lstStyle/>
          <a:p>
            <a:pPr marL="0" indent="0" algn="ctr">
              <a:buNone/>
            </a:pPr>
            <a:r>
              <a:rPr lang="en-US" sz="4400" b="1" dirty="0">
                <a:solidFill>
                  <a:srgbClr val="1F3864"/>
                </a:solidFill>
                <a:latin typeface="Cambria" pitchFamily="34" charset="0"/>
                <a:ea typeface="Cambria" pitchFamily="34" charset="-122"/>
                <a:cs typeface="Cambria" pitchFamily="34" charset="-120"/>
              </a:rPr>
              <a:t>87%</a:t>
            </a:r>
            <a:endParaRPr lang="en-US" sz="4400" dirty="0"/>
          </a:p>
        </p:txBody>
      </p:sp>
      <p:sp>
        <p:nvSpPr>
          <p:cNvPr id="43" name="Text 9">
            <a:extLst>
              <a:ext uri="{FF2B5EF4-FFF2-40B4-BE49-F238E27FC236}">
                <a16:creationId xmlns:a16="http://schemas.microsoft.com/office/drawing/2014/main" id="{DA100D62-B845-125E-CB40-706FB68B3453}"/>
              </a:ext>
            </a:extLst>
          </p:cNvPr>
          <p:cNvSpPr txBox="1"/>
          <p:nvPr/>
        </p:nvSpPr>
        <p:spPr>
          <a:xfrm>
            <a:off x="2819102" y="6112590"/>
            <a:ext cx="2286000" cy="228600"/>
          </a:xfrm>
          <a:prstGeom prst="rect">
            <a:avLst/>
          </a:prstGeom>
          <a:noFill/>
          <a:ln/>
        </p:spPr>
        <p:txBody>
          <a:bodyPr wrap="square" lIns="0" tIns="0" rIns="0" bIns="0" rtlCol="0" anchor="ctr"/>
          <a:lstStyle/>
          <a:p>
            <a:pPr algn="ctr"/>
            <a:r>
              <a:rPr lang="en-US" sz="1100" dirty="0"/>
              <a:t>87% issued, clean path</a:t>
            </a:r>
          </a:p>
        </p:txBody>
      </p:sp>
      <p:sp>
        <p:nvSpPr>
          <p:cNvPr id="45" name="Text 10">
            <a:extLst>
              <a:ext uri="{FF2B5EF4-FFF2-40B4-BE49-F238E27FC236}">
                <a16:creationId xmlns:a16="http://schemas.microsoft.com/office/drawing/2014/main" id="{324102EA-6D78-BDE2-940E-25F1CAACD5B6}"/>
              </a:ext>
            </a:extLst>
          </p:cNvPr>
          <p:cNvSpPr txBox="1"/>
          <p:nvPr/>
        </p:nvSpPr>
        <p:spPr>
          <a:xfrm>
            <a:off x="5206549" y="5510162"/>
            <a:ext cx="2286000" cy="731520"/>
          </a:xfrm>
          <a:prstGeom prst="rect">
            <a:avLst/>
          </a:prstGeom>
          <a:noFill/>
          <a:ln/>
        </p:spPr>
        <p:txBody>
          <a:bodyPr wrap="square" lIns="0" tIns="0" rIns="0" bIns="0" rtlCol="0" anchor="ctr"/>
          <a:lstStyle/>
          <a:p>
            <a:pPr marL="0" indent="0" algn="ctr">
              <a:buNone/>
            </a:pPr>
            <a:r>
              <a:rPr lang="en-US" sz="4400" b="1" dirty="0">
                <a:solidFill>
                  <a:srgbClr val="A3282D"/>
                </a:solidFill>
                <a:latin typeface="Cambria" pitchFamily="34" charset="0"/>
                <a:ea typeface="Cambria" pitchFamily="34" charset="-122"/>
                <a:cs typeface="Cambria" pitchFamily="34" charset="-120"/>
              </a:rPr>
              <a:t>72%</a:t>
            </a:r>
            <a:endParaRPr lang="en-US" sz="4400" dirty="0"/>
          </a:p>
        </p:txBody>
      </p:sp>
      <p:sp>
        <p:nvSpPr>
          <p:cNvPr id="47" name="Text 11">
            <a:extLst>
              <a:ext uri="{FF2B5EF4-FFF2-40B4-BE49-F238E27FC236}">
                <a16:creationId xmlns:a16="http://schemas.microsoft.com/office/drawing/2014/main" id="{EA257BE7-7F34-8A40-1355-17A912B11E4E}"/>
              </a:ext>
            </a:extLst>
          </p:cNvPr>
          <p:cNvSpPr txBox="1"/>
          <p:nvPr/>
        </p:nvSpPr>
        <p:spPr>
          <a:xfrm>
            <a:off x="5170836" y="6100612"/>
            <a:ext cx="2286000" cy="228600"/>
          </a:xfrm>
          <a:prstGeom prst="rect">
            <a:avLst/>
          </a:prstGeom>
          <a:noFill/>
          <a:ln/>
        </p:spPr>
        <p:txBody>
          <a:bodyPr wrap="square" lIns="0" tIns="0" rIns="0" bIns="0" rtlCol="0" anchor="ctr"/>
          <a:lstStyle/>
          <a:p>
            <a:pPr algn="ctr"/>
            <a:r>
              <a:rPr lang="en-US" sz="1100" dirty="0"/>
              <a:t>72% issued after a trap</a:t>
            </a:r>
          </a:p>
        </p:txBody>
      </p:sp>
      <p:sp>
        <p:nvSpPr>
          <p:cNvPr id="49" name="Text 12">
            <a:extLst>
              <a:ext uri="{FF2B5EF4-FFF2-40B4-BE49-F238E27FC236}">
                <a16:creationId xmlns:a16="http://schemas.microsoft.com/office/drawing/2014/main" id="{7E819976-064E-09D0-3C8A-C93423D2D9F7}"/>
              </a:ext>
            </a:extLst>
          </p:cNvPr>
          <p:cNvSpPr txBox="1"/>
          <p:nvPr/>
        </p:nvSpPr>
        <p:spPr>
          <a:xfrm>
            <a:off x="2747676" y="6341190"/>
            <a:ext cx="4709160" cy="274320"/>
          </a:xfrm>
          <a:prstGeom prst="rect">
            <a:avLst/>
          </a:prstGeom>
          <a:noFill/>
          <a:ln/>
        </p:spPr>
        <p:txBody>
          <a:bodyPr wrap="square" lIns="0" tIns="0" rIns="0" bIns="0" rtlCol="0" anchor="ctr"/>
          <a:lstStyle/>
          <a:p>
            <a:pPr marL="0" indent="0" algn="ctr">
              <a:buNone/>
            </a:pPr>
            <a:r>
              <a:rPr lang="en-US" sz="1400" b="1" dirty="0">
                <a:solidFill>
                  <a:srgbClr val="086B94"/>
                </a:solidFill>
                <a:latin typeface="Calibri" pitchFamily="34" charset="0"/>
                <a:ea typeface="Calibri" pitchFamily="34" charset="-122"/>
                <a:cs typeface="Calibri" pitchFamily="34" charset="-120"/>
              </a:rPr>
              <a:t>170 more lost than the clean path predicts</a:t>
            </a:r>
            <a:endParaRPr lang="en-US" sz="1400" dirty="0">
              <a:solidFill>
                <a:srgbClr val="086B94"/>
              </a:solidFill>
            </a:endParaRPr>
          </a:p>
        </p:txBody>
      </p:sp>
      <p:sp>
        <p:nvSpPr>
          <p:cNvPr id="51" name="TextBox 50">
            <a:extLst>
              <a:ext uri="{FF2B5EF4-FFF2-40B4-BE49-F238E27FC236}">
                <a16:creationId xmlns:a16="http://schemas.microsoft.com/office/drawing/2014/main" id="{2703EDC7-B669-A2AE-9237-252ED4F5BBF6}"/>
              </a:ext>
            </a:extLst>
          </p:cNvPr>
          <p:cNvSpPr txBox="1"/>
          <p:nvPr/>
        </p:nvSpPr>
        <p:spPr>
          <a:xfrm>
            <a:off x="258629" y="1166539"/>
            <a:ext cx="6096000" cy="369332"/>
          </a:xfrm>
          <a:prstGeom prst="rect">
            <a:avLst/>
          </a:prstGeom>
          <a:noFill/>
        </p:spPr>
        <p:txBody>
          <a:bodyPr wrap="square">
            <a:spAutoFit/>
          </a:bodyPr>
          <a:lstStyle/>
          <a:p>
            <a:r>
              <a:rPr lang="en-US" b="1" dirty="0">
                <a:solidFill>
                  <a:srgbClr val="12395B"/>
                </a:solidFill>
              </a:rPr>
              <a:t>Trap: an application that hits a system error during processing</a:t>
            </a:r>
          </a:p>
        </p:txBody>
      </p:sp>
    </p:spTree>
    <p:extLst>
      <p:ext uri="{BB962C8B-B14F-4D97-AF65-F5344CB8AC3E}">
        <p14:creationId xmlns:p14="http://schemas.microsoft.com/office/powerpoint/2010/main" val="3654582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7394-D63A-F2C6-39DC-311FAB233B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B02080-C417-091E-6715-D6FC50FFED92}"/>
              </a:ext>
            </a:extLst>
          </p:cNvPr>
          <p:cNvSpPr/>
          <p:nvPr/>
        </p:nvSpPr>
        <p:spPr>
          <a:xfrm>
            <a:off x="0" y="0"/>
            <a:ext cx="12191695" cy="8686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146304" rtlCol="0" anchor="ctr"/>
          <a:lstStyle/>
          <a:p>
            <a:r>
              <a:rPr lang="en-US" sz="2000" dirty="0"/>
              <a:t>"No difference" can't produce 768. The trap explains it.</a:t>
            </a:r>
            <a:endParaRPr lang="en-US" sz="1900" b="1" dirty="0">
              <a:solidFill>
                <a:schemeClr val="bg1"/>
              </a:solidFill>
              <a:cs typeface="Arial" panose="020B0604020202020204" pitchFamily="34" charset="0"/>
            </a:endParaRPr>
          </a:p>
        </p:txBody>
      </p:sp>
      <p:sp>
        <p:nvSpPr>
          <p:cNvPr id="24" name="Rectangle 23">
            <a:extLst>
              <a:ext uri="{FF2B5EF4-FFF2-40B4-BE49-F238E27FC236}">
                <a16:creationId xmlns:a16="http://schemas.microsoft.com/office/drawing/2014/main" id="{64CECEB1-FC72-E850-87A0-8EA0328C8179}"/>
              </a:ext>
            </a:extLst>
          </p:cNvPr>
          <p:cNvSpPr/>
          <p:nvPr/>
        </p:nvSpPr>
        <p:spPr>
          <a:xfrm>
            <a:off x="57903" y="911838"/>
            <a:ext cx="12075888" cy="5822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4C7F353A-75B5-B884-5241-DF0E98189BA8}"/>
              </a:ext>
            </a:extLst>
          </p:cNvPr>
          <p:cNvSpPr txBox="1"/>
          <p:nvPr/>
        </p:nvSpPr>
        <p:spPr>
          <a:xfrm>
            <a:off x="328478" y="1029078"/>
            <a:ext cx="11114222" cy="1754326"/>
          </a:xfrm>
          <a:prstGeom prst="rect">
            <a:avLst/>
          </a:prstGeom>
          <a:noFill/>
        </p:spPr>
        <p:txBody>
          <a:bodyPr wrap="square">
            <a:spAutoFit/>
          </a:bodyPr>
          <a:lstStyle/>
          <a:p>
            <a:r>
              <a:rPr lang="en-US" dirty="0">
                <a:solidFill>
                  <a:srgbClr val="12395B"/>
                </a:solidFill>
              </a:rPr>
              <a:t>IT is concerned about dedicating resources to a problem that is not proven. That's reasonable, so we tested it directly. </a:t>
            </a:r>
          </a:p>
          <a:p>
            <a:endParaRPr lang="en-US" dirty="0">
              <a:solidFill>
                <a:srgbClr val="12395B"/>
              </a:solidFill>
            </a:endParaRPr>
          </a:p>
          <a:p>
            <a:r>
              <a:rPr lang="en-US" dirty="0">
                <a:solidFill>
                  <a:srgbClr val="12395B"/>
                </a:solidFill>
              </a:rPr>
              <a:t>If the trap made no difference, we'd expect about 935 policies. We got 768, a gap of about 170.</a:t>
            </a:r>
          </a:p>
          <a:p>
            <a:endParaRPr lang="en-US" dirty="0">
              <a:solidFill>
                <a:srgbClr val="12395B"/>
              </a:solidFill>
            </a:endParaRPr>
          </a:p>
          <a:p>
            <a:r>
              <a:rPr lang="en-US" dirty="0">
                <a:solidFill>
                  <a:srgbClr val="12395B"/>
                </a:solidFill>
              </a:rPr>
              <a:t>None of 40,000 simulated months came close. When trapped applications issue at their own rate, the simulation lands right on 768.</a:t>
            </a:r>
            <a:endParaRPr lang="en-US" b="1" dirty="0">
              <a:solidFill>
                <a:srgbClr val="12395B"/>
              </a:solidFill>
            </a:endParaRPr>
          </a:p>
        </p:txBody>
      </p:sp>
      <p:pic>
        <p:nvPicPr>
          <p:cNvPr id="9" name="Picture 8">
            <a:extLst>
              <a:ext uri="{FF2B5EF4-FFF2-40B4-BE49-F238E27FC236}">
                <a16:creationId xmlns:a16="http://schemas.microsoft.com/office/drawing/2014/main" id="{3308CF63-107D-C002-E108-D8750BA2B083}"/>
              </a:ext>
            </a:extLst>
          </p:cNvPr>
          <p:cNvPicPr>
            <a:picLocks noChangeAspect="1"/>
          </p:cNvPicPr>
          <p:nvPr/>
        </p:nvPicPr>
        <p:blipFill>
          <a:blip r:embed="rId3"/>
          <a:stretch>
            <a:fillRect/>
          </a:stretch>
        </p:blipFill>
        <p:spPr>
          <a:xfrm>
            <a:off x="1989099" y="2900644"/>
            <a:ext cx="5933222" cy="3149735"/>
          </a:xfrm>
          <a:prstGeom prst="rect">
            <a:avLst/>
          </a:prstGeom>
          <a:ln>
            <a:solidFill>
              <a:srgbClr val="12395B"/>
            </a:solidFill>
          </a:ln>
        </p:spPr>
      </p:pic>
      <p:sp>
        <p:nvSpPr>
          <p:cNvPr id="13" name="TextBox 12">
            <a:extLst>
              <a:ext uri="{FF2B5EF4-FFF2-40B4-BE49-F238E27FC236}">
                <a16:creationId xmlns:a16="http://schemas.microsoft.com/office/drawing/2014/main" id="{6D9F6196-B6F0-0B1D-A61D-C0AF920AB380}"/>
              </a:ext>
            </a:extLst>
          </p:cNvPr>
          <p:cNvSpPr txBox="1"/>
          <p:nvPr/>
        </p:nvSpPr>
        <p:spPr>
          <a:xfrm>
            <a:off x="328478" y="6239410"/>
            <a:ext cx="11385550" cy="369332"/>
          </a:xfrm>
          <a:prstGeom prst="rect">
            <a:avLst/>
          </a:prstGeom>
          <a:noFill/>
        </p:spPr>
        <p:txBody>
          <a:bodyPr wrap="square">
            <a:spAutoFit/>
          </a:bodyPr>
          <a:lstStyle/>
          <a:p>
            <a:r>
              <a:rPr lang="en-US" b="1" dirty="0">
                <a:solidFill>
                  <a:srgbClr val="12395B"/>
                </a:solidFill>
              </a:rPr>
              <a:t>Takeaway:</a:t>
            </a:r>
            <a:r>
              <a:rPr lang="en-US" dirty="0">
                <a:solidFill>
                  <a:srgbClr val="12395B"/>
                </a:solidFill>
              </a:rPr>
              <a:t> The trap is real. Next, we show exactly where it leaks, so IT knows where to look.</a:t>
            </a:r>
            <a:endParaRPr lang="en-US" sz="1800" b="1" dirty="0">
              <a:solidFill>
                <a:srgbClr val="12395B"/>
              </a:solidFill>
            </a:endParaRPr>
          </a:p>
        </p:txBody>
      </p:sp>
    </p:spTree>
    <p:extLst>
      <p:ext uri="{BB962C8B-B14F-4D97-AF65-F5344CB8AC3E}">
        <p14:creationId xmlns:p14="http://schemas.microsoft.com/office/powerpoint/2010/main" val="2226765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26873-DCCE-FFE8-F5C2-6A34D14563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91328BA-5B98-B156-E6BF-680A84CC24BD}"/>
              </a:ext>
            </a:extLst>
          </p:cNvPr>
          <p:cNvSpPr/>
          <p:nvPr/>
        </p:nvSpPr>
        <p:spPr>
          <a:xfrm>
            <a:off x="0" y="0"/>
            <a:ext cx="12191695" cy="8686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146304" rtlCol="0" anchor="ctr"/>
          <a:lstStyle/>
          <a:p>
            <a:r>
              <a:rPr lang="en-US" sz="2000" b="1" dirty="0"/>
              <a:t>The funnel works as designed, except for one unexpected path.</a:t>
            </a:r>
            <a:endParaRPr lang="en-US" sz="1900" b="1" dirty="0">
              <a:solidFill>
                <a:schemeClr val="bg1"/>
              </a:solidFill>
              <a:cs typeface="Arial" panose="020B0604020202020204" pitchFamily="34" charset="0"/>
            </a:endParaRPr>
          </a:p>
        </p:txBody>
      </p:sp>
      <p:sp>
        <p:nvSpPr>
          <p:cNvPr id="24" name="Rectangle 23">
            <a:extLst>
              <a:ext uri="{FF2B5EF4-FFF2-40B4-BE49-F238E27FC236}">
                <a16:creationId xmlns:a16="http://schemas.microsoft.com/office/drawing/2014/main" id="{C9E05720-6992-0BB2-67F1-590C8CEFD4FE}"/>
              </a:ext>
            </a:extLst>
          </p:cNvPr>
          <p:cNvSpPr/>
          <p:nvPr/>
        </p:nvSpPr>
        <p:spPr>
          <a:xfrm>
            <a:off x="36432" y="903892"/>
            <a:ext cx="12075888" cy="5822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1F17022A-6C3C-0854-0B02-310C5DE34058}"/>
              </a:ext>
            </a:extLst>
          </p:cNvPr>
          <p:cNvSpPr/>
          <p:nvPr/>
        </p:nvSpPr>
        <p:spPr>
          <a:xfrm>
            <a:off x="305617" y="2401071"/>
            <a:ext cx="584506" cy="1881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IT</a:t>
            </a:r>
          </a:p>
        </p:txBody>
      </p:sp>
      <p:sp>
        <p:nvSpPr>
          <p:cNvPr id="4" name="Rectangle: Rounded Corners 3">
            <a:extLst>
              <a:ext uri="{FF2B5EF4-FFF2-40B4-BE49-F238E27FC236}">
                <a16:creationId xmlns:a16="http://schemas.microsoft.com/office/drawing/2014/main" id="{973A3094-911D-9A4D-4634-DF229E2F7D62}"/>
              </a:ext>
            </a:extLst>
          </p:cNvPr>
          <p:cNvSpPr/>
          <p:nvPr/>
        </p:nvSpPr>
        <p:spPr>
          <a:xfrm>
            <a:off x="1024449" y="2852624"/>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STORE</a:t>
            </a:r>
          </a:p>
        </p:txBody>
      </p:sp>
      <p:cxnSp>
        <p:nvCxnSpPr>
          <p:cNvPr id="5" name="Straight Arrow Connector 4">
            <a:extLst>
              <a:ext uri="{FF2B5EF4-FFF2-40B4-BE49-F238E27FC236}">
                <a16:creationId xmlns:a16="http://schemas.microsoft.com/office/drawing/2014/main" id="{0844D467-8FC6-607F-6ADD-6B8E9A609AF9}"/>
              </a:ext>
            </a:extLst>
          </p:cNvPr>
          <p:cNvCxnSpPr>
            <a:cxnSpLocks/>
            <a:stCxn id="3" idx="3"/>
            <a:endCxn id="4" idx="0"/>
          </p:cNvCxnSpPr>
          <p:nvPr/>
        </p:nvCxnSpPr>
        <p:spPr>
          <a:xfrm>
            <a:off x="890123" y="2495148"/>
            <a:ext cx="449959" cy="3574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4FEE643-EB29-185F-014B-110927ED7D86}"/>
              </a:ext>
            </a:extLst>
          </p:cNvPr>
          <p:cNvCxnSpPr>
            <a:cxnSpLocks/>
            <a:stCxn id="14" idx="3"/>
            <a:endCxn id="4" idx="2"/>
          </p:cNvCxnSpPr>
          <p:nvPr/>
        </p:nvCxnSpPr>
        <p:spPr>
          <a:xfrm flipV="1">
            <a:off x="890122" y="3070722"/>
            <a:ext cx="449960" cy="3268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233D2D5E-B744-F5A8-2D99-7EDD75024784}"/>
              </a:ext>
            </a:extLst>
          </p:cNvPr>
          <p:cNvSpPr/>
          <p:nvPr/>
        </p:nvSpPr>
        <p:spPr>
          <a:xfrm>
            <a:off x="1869088" y="2852624"/>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QSTRT</a:t>
            </a:r>
          </a:p>
        </p:txBody>
      </p:sp>
      <p:sp>
        <p:nvSpPr>
          <p:cNvPr id="8" name="Rectangle: Rounded Corners 7">
            <a:extLst>
              <a:ext uri="{FF2B5EF4-FFF2-40B4-BE49-F238E27FC236}">
                <a16:creationId xmlns:a16="http://schemas.microsoft.com/office/drawing/2014/main" id="{119091EB-EAE3-A0D1-835E-06DA01A7E8D0}"/>
              </a:ext>
            </a:extLst>
          </p:cNvPr>
          <p:cNvSpPr/>
          <p:nvPr/>
        </p:nvSpPr>
        <p:spPr>
          <a:xfrm>
            <a:off x="2713727" y="2852624"/>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QCOMPL</a:t>
            </a:r>
          </a:p>
        </p:txBody>
      </p:sp>
      <p:sp>
        <p:nvSpPr>
          <p:cNvPr id="10" name="Rectangle: Rounded Corners 9">
            <a:extLst>
              <a:ext uri="{FF2B5EF4-FFF2-40B4-BE49-F238E27FC236}">
                <a16:creationId xmlns:a16="http://schemas.microsoft.com/office/drawing/2014/main" id="{DC13A9C7-9D96-940E-67FC-078877115C8E}"/>
              </a:ext>
            </a:extLst>
          </p:cNvPr>
          <p:cNvSpPr/>
          <p:nvPr/>
        </p:nvSpPr>
        <p:spPr>
          <a:xfrm>
            <a:off x="3558366" y="2852624"/>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ASTRT</a:t>
            </a:r>
          </a:p>
        </p:txBody>
      </p:sp>
      <p:sp>
        <p:nvSpPr>
          <p:cNvPr id="11" name="Rectangle: Rounded Corners 10">
            <a:extLst>
              <a:ext uri="{FF2B5EF4-FFF2-40B4-BE49-F238E27FC236}">
                <a16:creationId xmlns:a16="http://schemas.microsoft.com/office/drawing/2014/main" id="{CA161122-315F-71BE-B158-E4B07CC6F2CC}"/>
              </a:ext>
            </a:extLst>
          </p:cNvPr>
          <p:cNvSpPr/>
          <p:nvPr/>
        </p:nvSpPr>
        <p:spPr>
          <a:xfrm>
            <a:off x="4403005" y="2852624"/>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ACOMPL</a:t>
            </a:r>
          </a:p>
        </p:txBody>
      </p:sp>
      <p:sp>
        <p:nvSpPr>
          <p:cNvPr id="12" name="Rectangle: Rounded Corners 11">
            <a:extLst>
              <a:ext uri="{FF2B5EF4-FFF2-40B4-BE49-F238E27FC236}">
                <a16:creationId xmlns:a16="http://schemas.microsoft.com/office/drawing/2014/main" id="{1146E6C9-5DC4-CDFD-6C9D-6CD2BD2C9767}"/>
              </a:ext>
            </a:extLst>
          </p:cNvPr>
          <p:cNvSpPr/>
          <p:nvPr/>
        </p:nvSpPr>
        <p:spPr>
          <a:xfrm>
            <a:off x="5247644" y="2852624"/>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ISSUE</a:t>
            </a:r>
          </a:p>
        </p:txBody>
      </p:sp>
      <p:sp>
        <p:nvSpPr>
          <p:cNvPr id="14" name="Rectangle: Rounded Corners 13">
            <a:extLst>
              <a:ext uri="{FF2B5EF4-FFF2-40B4-BE49-F238E27FC236}">
                <a16:creationId xmlns:a16="http://schemas.microsoft.com/office/drawing/2014/main" id="{09536A34-A3D1-CA49-9631-75064B7226B2}"/>
              </a:ext>
            </a:extLst>
          </p:cNvPr>
          <p:cNvSpPr/>
          <p:nvPr/>
        </p:nvSpPr>
        <p:spPr>
          <a:xfrm>
            <a:off x="305616" y="3303529"/>
            <a:ext cx="584506" cy="1881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Rule</a:t>
            </a:r>
          </a:p>
        </p:txBody>
      </p:sp>
      <p:cxnSp>
        <p:nvCxnSpPr>
          <p:cNvPr id="15" name="Straight Arrow Connector 14">
            <a:extLst>
              <a:ext uri="{FF2B5EF4-FFF2-40B4-BE49-F238E27FC236}">
                <a16:creationId xmlns:a16="http://schemas.microsoft.com/office/drawing/2014/main" id="{C054925C-7780-49E1-67F2-D2F27EFF53AB}"/>
              </a:ext>
            </a:extLst>
          </p:cNvPr>
          <p:cNvCxnSpPr>
            <a:cxnSpLocks/>
            <a:stCxn id="4" idx="3"/>
            <a:endCxn id="7" idx="1"/>
          </p:cNvCxnSpPr>
          <p:nvPr/>
        </p:nvCxnSpPr>
        <p:spPr>
          <a:xfrm>
            <a:off x="1655714" y="2961673"/>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FD4EA65-5026-6C2D-4B47-EEEFA282DDEE}"/>
              </a:ext>
            </a:extLst>
          </p:cNvPr>
          <p:cNvCxnSpPr>
            <a:cxnSpLocks/>
          </p:cNvCxnSpPr>
          <p:nvPr/>
        </p:nvCxnSpPr>
        <p:spPr>
          <a:xfrm>
            <a:off x="2500353" y="2968165"/>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5E4F7E1-621F-F334-53EC-C6C7161DBCD9}"/>
              </a:ext>
            </a:extLst>
          </p:cNvPr>
          <p:cNvCxnSpPr>
            <a:cxnSpLocks/>
          </p:cNvCxnSpPr>
          <p:nvPr/>
        </p:nvCxnSpPr>
        <p:spPr>
          <a:xfrm>
            <a:off x="3353793" y="2968165"/>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FD8CC1E-5DD3-ED0F-8CD2-052A47B86E0C}"/>
              </a:ext>
            </a:extLst>
          </p:cNvPr>
          <p:cNvCxnSpPr>
            <a:cxnSpLocks/>
          </p:cNvCxnSpPr>
          <p:nvPr/>
        </p:nvCxnSpPr>
        <p:spPr>
          <a:xfrm>
            <a:off x="4188945" y="2955973"/>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4728462-1FE6-089A-404C-9E61A365614C}"/>
              </a:ext>
            </a:extLst>
          </p:cNvPr>
          <p:cNvCxnSpPr>
            <a:cxnSpLocks/>
          </p:cNvCxnSpPr>
          <p:nvPr/>
        </p:nvCxnSpPr>
        <p:spPr>
          <a:xfrm>
            <a:off x="5034270" y="2968165"/>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2AB1E9A6-0FBA-8C19-4B99-5AEF760679C1}"/>
              </a:ext>
            </a:extLst>
          </p:cNvPr>
          <p:cNvSpPr/>
          <p:nvPr/>
        </p:nvSpPr>
        <p:spPr>
          <a:xfrm>
            <a:off x="360108" y="4453261"/>
            <a:ext cx="584506" cy="1881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IT</a:t>
            </a:r>
          </a:p>
        </p:txBody>
      </p:sp>
      <p:sp>
        <p:nvSpPr>
          <p:cNvPr id="21" name="Rectangle: Rounded Corners 20">
            <a:extLst>
              <a:ext uri="{FF2B5EF4-FFF2-40B4-BE49-F238E27FC236}">
                <a16:creationId xmlns:a16="http://schemas.microsoft.com/office/drawing/2014/main" id="{DE2D391C-D418-B2C0-3561-EFA1FD6BF6BC}"/>
              </a:ext>
            </a:extLst>
          </p:cNvPr>
          <p:cNvSpPr/>
          <p:nvPr/>
        </p:nvSpPr>
        <p:spPr>
          <a:xfrm>
            <a:off x="1117040" y="494139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STORE</a:t>
            </a:r>
          </a:p>
        </p:txBody>
      </p:sp>
      <p:cxnSp>
        <p:nvCxnSpPr>
          <p:cNvPr id="22" name="Straight Arrow Connector 21">
            <a:extLst>
              <a:ext uri="{FF2B5EF4-FFF2-40B4-BE49-F238E27FC236}">
                <a16:creationId xmlns:a16="http://schemas.microsoft.com/office/drawing/2014/main" id="{70C23911-40D5-5DC5-3EB3-4C2BC72A9D17}"/>
              </a:ext>
            </a:extLst>
          </p:cNvPr>
          <p:cNvCxnSpPr>
            <a:cxnSpLocks/>
            <a:stCxn id="20" idx="3"/>
            <a:endCxn id="21" idx="0"/>
          </p:cNvCxnSpPr>
          <p:nvPr/>
        </p:nvCxnSpPr>
        <p:spPr>
          <a:xfrm>
            <a:off x="944614" y="4547338"/>
            <a:ext cx="488059" cy="3940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C9DFB94-6FDC-BD66-5EF4-6A1119AF623D}"/>
              </a:ext>
            </a:extLst>
          </p:cNvPr>
          <p:cNvCxnSpPr>
            <a:cxnSpLocks/>
            <a:stCxn id="30" idx="3"/>
            <a:endCxn id="21" idx="2"/>
          </p:cNvCxnSpPr>
          <p:nvPr/>
        </p:nvCxnSpPr>
        <p:spPr>
          <a:xfrm flipV="1">
            <a:off x="944614" y="5159488"/>
            <a:ext cx="488059" cy="3146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5199AC18-235D-44A6-5D3D-1A539BAA7D08}"/>
              </a:ext>
            </a:extLst>
          </p:cNvPr>
          <p:cNvSpPr/>
          <p:nvPr/>
        </p:nvSpPr>
        <p:spPr>
          <a:xfrm>
            <a:off x="1961679" y="494139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QSTRT</a:t>
            </a:r>
          </a:p>
        </p:txBody>
      </p:sp>
      <p:sp>
        <p:nvSpPr>
          <p:cNvPr id="26" name="Rectangle: Rounded Corners 25">
            <a:extLst>
              <a:ext uri="{FF2B5EF4-FFF2-40B4-BE49-F238E27FC236}">
                <a16:creationId xmlns:a16="http://schemas.microsoft.com/office/drawing/2014/main" id="{78373310-0904-26AC-F03D-0A12F72A7B3C}"/>
              </a:ext>
            </a:extLst>
          </p:cNvPr>
          <p:cNvSpPr/>
          <p:nvPr/>
        </p:nvSpPr>
        <p:spPr>
          <a:xfrm>
            <a:off x="2806318" y="494139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QCOMPL</a:t>
            </a:r>
          </a:p>
        </p:txBody>
      </p:sp>
      <p:sp>
        <p:nvSpPr>
          <p:cNvPr id="27" name="Rectangle: Rounded Corners 26">
            <a:extLst>
              <a:ext uri="{FF2B5EF4-FFF2-40B4-BE49-F238E27FC236}">
                <a16:creationId xmlns:a16="http://schemas.microsoft.com/office/drawing/2014/main" id="{E517BDCB-0C1C-815E-5379-2F24E9C356FA}"/>
              </a:ext>
            </a:extLst>
          </p:cNvPr>
          <p:cNvSpPr/>
          <p:nvPr/>
        </p:nvSpPr>
        <p:spPr>
          <a:xfrm>
            <a:off x="3650957" y="494139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ASTRT</a:t>
            </a:r>
          </a:p>
        </p:txBody>
      </p:sp>
      <p:sp>
        <p:nvSpPr>
          <p:cNvPr id="28" name="Rectangle: Rounded Corners 27">
            <a:extLst>
              <a:ext uri="{FF2B5EF4-FFF2-40B4-BE49-F238E27FC236}">
                <a16:creationId xmlns:a16="http://schemas.microsoft.com/office/drawing/2014/main" id="{2B66FE15-2EAB-F6CF-E0E4-B6023667284F}"/>
              </a:ext>
            </a:extLst>
          </p:cNvPr>
          <p:cNvSpPr/>
          <p:nvPr/>
        </p:nvSpPr>
        <p:spPr>
          <a:xfrm>
            <a:off x="4495596" y="494139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ACOMPL</a:t>
            </a:r>
          </a:p>
        </p:txBody>
      </p:sp>
      <p:sp>
        <p:nvSpPr>
          <p:cNvPr id="29" name="Rectangle: Rounded Corners 28">
            <a:extLst>
              <a:ext uri="{FF2B5EF4-FFF2-40B4-BE49-F238E27FC236}">
                <a16:creationId xmlns:a16="http://schemas.microsoft.com/office/drawing/2014/main" id="{FDE42BAC-C86D-7E3A-A1F1-C20AD2B4C9B3}"/>
              </a:ext>
            </a:extLst>
          </p:cNvPr>
          <p:cNvSpPr/>
          <p:nvPr/>
        </p:nvSpPr>
        <p:spPr>
          <a:xfrm>
            <a:off x="5359285" y="494139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ISSUE</a:t>
            </a:r>
          </a:p>
        </p:txBody>
      </p:sp>
      <p:sp>
        <p:nvSpPr>
          <p:cNvPr id="30" name="Rectangle: Rounded Corners 29">
            <a:extLst>
              <a:ext uri="{FF2B5EF4-FFF2-40B4-BE49-F238E27FC236}">
                <a16:creationId xmlns:a16="http://schemas.microsoft.com/office/drawing/2014/main" id="{4E99FB0B-ECEA-56E0-2A30-5A1F796D5BF8}"/>
              </a:ext>
            </a:extLst>
          </p:cNvPr>
          <p:cNvSpPr/>
          <p:nvPr/>
        </p:nvSpPr>
        <p:spPr>
          <a:xfrm>
            <a:off x="360108" y="5380103"/>
            <a:ext cx="584506" cy="1881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Rule</a:t>
            </a:r>
          </a:p>
        </p:txBody>
      </p:sp>
      <p:cxnSp>
        <p:nvCxnSpPr>
          <p:cNvPr id="31" name="Straight Arrow Connector 30">
            <a:extLst>
              <a:ext uri="{FF2B5EF4-FFF2-40B4-BE49-F238E27FC236}">
                <a16:creationId xmlns:a16="http://schemas.microsoft.com/office/drawing/2014/main" id="{7DC4A4F9-CF4E-2EB0-EF42-A54762AE5DA4}"/>
              </a:ext>
            </a:extLst>
          </p:cNvPr>
          <p:cNvCxnSpPr>
            <a:cxnSpLocks/>
            <a:stCxn id="21" idx="3"/>
            <a:endCxn id="25" idx="1"/>
          </p:cNvCxnSpPr>
          <p:nvPr/>
        </p:nvCxnSpPr>
        <p:spPr>
          <a:xfrm>
            <a:off x="1748305" y="5050439"/>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6FAE1B9-F3D1-A9E0-B170-B12AD3771498}"/>
              </a:ext>
            </a:extLst>
          </p:cNvPr>
          <p:cNvCxnSpPr>
            <a:cxnSpLocks/>
          </p:cNvCxnSpPr>
          <p:nvPr/>
        </p:nvCxnSpPr>
        <p:spPr>
          <a:xfrm>
            <a:off x="2592944" y="5056931"/>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891DA74-B117-F038-E4AC-CB2A96C427A8}"/>
              </a:ext>
            </a:extLst>
          </p:cNvPr>
          <p:cNvCxnSpPr>
            <a:cxnSpLocks/>
          </p:cNvCxnSpPr>
          <p:nvPr/>
        </p:nvCxnSpPr>
        <p:spPr>
          <a:xfrm>
            <a:off x="3446384" y="5056931"/>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AF324AD-2F97-9946-7A0C-47439738F71B}"/>
              </a:ext>
            </a:extLst>
          </p:cNvPr>
          <p:cNvCxnSpPr>
            <a:cxnSpLocks/>
          </p:cNvCxnSpPr>
          <p:nvPr/>
        </p:nvCxnSpPr>
        <p:spPr>
          <a:xfrm>
            <a:off x="4281536" y="5044739"/>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7883FB2-181E-7A73-E102-2F9B28D9CC5C}"/>
              </a:ext>
            </a:extLst>
          </p:cNvPr>
          <p:cNvCxnSpPr>
            <a:cxnSpLocks/>
          </p:cNvCxnSpPr>
          <p:nvPr/>
        </p:nvCxnSpPr>
        <p:spPr>
          <a:xfrm>
            <a:off x="5126861" y="5056931"/>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4982FD1F-C5AD-1AD6-ED90-896D186DBB19}"/>
              </a:ext>
            </a:extLst>
          </p:cNvPr>
          <p:cNvCxnSpPr>
            <a:stCxn id="20" idx="0"/>
            <a:endCxn id="29" idx="0"/>
          </p:cNvCxnSpPr>
          <p:nvPr/>
        </p:nvCxnSpPr>
        <p:spPr>
          <a:xfrm rot="16200000" flipH="1">
            <a:off x="2919574" y="2186047"/>
            <a:ext cx="488129" cy="5022557"/>
          </a:xfrm>
          <a:prstGeom prst="bentConnector3">
            <a:avLst>
              <a:gd name="adj1" fmla="val -46832"/>
            </a:avLst>
          </a:prstGeom>
          <a:ln>
            <a:solidFill>
              <a:srgbClr val="720C27"/>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B610E7E8-6D5C-F4D0-DB28-A92F9EB59365}"/>
              </a:ext>
            </a:extLst>
          </p:cNvPr>
          <p:cNvCxnSpPr>
            <a:cxnSpLocks/>
            <a:stCxn id="30" idx="2"/>
            <a:endCxn id="29" idx="2"/>
          </p:cNvCxnSpPr>
          <p:nvPr/>
        </p:nvCxnSpPr>
        <p:spPr>
          <a:xfrm rot="5400000" flipH="1" flipV="1">
            <a:off x="2959255" y="2852593"/>
            <a:ext cx="408768" cy="5022557"/>
          </a:xfrm>
          <a:prstGeom prst="bentConnector3">
            <a:avLst>
              <a:gd name="adj1" fmla="val -55924"/>
            </a:avLst>
          </a:prstGeom>
          <a:ln>
            <a:solidFill>
              <a:srgbClr val="00365B"/>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E51B913-1C01-3D95-4022-EF7053FD2226}"/>
              </a:ext>
            </a:extLst>
          </p:cNvPr>
          <p:cNvSpPr txBox="1"/>
          <p:nvPr/>
        </p:nvSpPr>
        <p:spPr>
          <a:xfrm>
            <a:off x="890122" y="5540906"/>
            <a:ext cx="4046108" cy="307777"/>
          </a:xfrm>
          <a:prstGeom prst="rect">
            <a:avLst/>
          </a:prstGeom>
          <a:noFill/>
        </p:spPr>
        <p:txBody>
          <a:bodyPr wrap="none" rtlCol="0">
            <a:spAutoFit/>
          </a:bodyPr>
          <a:lstStyle/>
          <a:p>
            <a:r>
              <a:rPr lang="en-US" sz="1400" b="1" dirty="0">
                <a:solidFill>
                  <a:srgbClr val="12395B"/>
                </a:solidFill>
              </a:rPr>
              <a:t>Some applicants don't qualify. That loss is expected.</a:t>
            </a:r>
          </a:p>
        </p:txBody>
      </p:sp>
      <p:cxnSp>
        <p:nvCxnSpPr>
          <p:cNvPr id="40" name="Straight Connector 39">
            <a:extLst>
              <a:ext uri="{FF2B5EF4-FFF2-40B4-BE49-F238E27FC236}">
                <a16:creationId xmlns:a16="http://schemas.microsoft.com/office/drawing/2014/main" id="{94E09416-0582-A69A-B677-60DB3161AAB5}"/>
              </a:ext>
            </a:extLst>
          </p:cNvPr>
          <p:cNvCxnSpPr>
            <a:cxnSpLocks/>
          </p:cNvCxnSpPr>
          <p:nvPr/>
        </p:nvCxnSpPr>
        <p:spPr>
          <a:xfrm>
            <a:off x="305616" y="3806149"/>
            <a:ext cx="11517789"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25506C0-C9D7-FFE6-4F69-9788A169ED35}"/>
              </a:ext>
            </a:extLst>
          </p:cNvPr>
          <p:cNvSpPr txBox="1"/>
          <p:nvPr/>
        </p:nvSpPr>
        <p:spPr>
          <a:xfrm>
            <a:off x="282667" y="3800896"/>
            <a:ext cx="9049512" cy="338554"/>
          </a:xfrm>
          <a:prstGeom prst="rect">
            <a:avLst/>
          </a:prstGeom>
          <a:noFill/>
        </p:spPr>
        <p:txBody>
          <a:bodyPr wrap="square">
            <a:spAutoFit/>
          </a:bodyPr>
          <a:lstStyle/>
          <a:p>
            <a:r>
              <a:rPr lang="en-US" sz="1600" b="1" dirty="0">
                <a:solidFill>
                  <a:srgbClr val="12395B"/>
                </a:solidFill>
              </a:rPr>
              <a:t>What the data shows:</a:t>
            </a:r>
            <a:r>
              <a:rPr lang="en-US" sz="1600" dirty="0">
                <a:solidFill>
                  <a:srgbClr val="12395B"/>
                </a:solidFill>
              </a:rPr>
              <a:t> two paths skip every stage and go straight to issuance.</a:t>
            </a:r>
            <a:endParaRPr lang="en-US" sz="1600" b="1" dirty="0">
              <a:solidFill>
                <a:srgbClr val="12395B"/>
              </a:solidFill>
            </a:endParaRPr>
          </a:p>
        </p:txBody>
      </p:sp>
      <p:sp>
        <p:nvSpPr>
          <p:cNvPr id="43" name="TextBox 42">
            <a:extLst>
              <a:ext uri="{FF2B5EF4-FFF2-40B4-BE49-F238E27FC236}">
                <a16:creationId xmlns:a16="http://schemas.microsoft.com/office/drawing/2014/main" id="{8A633FCD-14D3-F65C-F159-0D58B081027D}"/>
              </a:ext>
            </a:extLst>
          </p:cNvPr>
          <p:cNvSpPr txBox="1"/>
          <p:nvPr/>
        </p:nvSpPr>
        <p:spPr>
          <a:xfrm>
            <a:off x="6082855" y="4498916"/>
            <a:ext cx="6060461" cy="830997"/>
          </a:xfrm>
          <a:prstGeom prst="rect">
            <a:avLst/>
          </a:prstGeom>
          <a:noFill/>
        </p:spPr>
        <p:txBody>
          <a:bodyPr wrap="square">
            <a:spAutoFit/>
          </a:bodyPr>
          <a:lstStyle/>
          <a:p>
            <a:r>
              <a:rPr lang="en-US" sz="1600" b="1" dirty="0">
                <a:solidFill>
                  <a:srgbClr val="496A7A"/>
                </a:solidFill>
              </a:rPr>
              <a:t>No stage shows it.</a:t>
            </a:r>
            <a:r>
              <a:rPr lang="en-US" sz="1600" dirty="0">
                <a:solidFill>
                  <a:srgbClr val="496A7A"/>
                </a:solidFill>
              </a:rPr>
              <a:t> Trapped and </a:t>
            </a:r>
            <a:r>
              <a:rPr lang="en-US" sz="1600" dirty="0" err="1">
                <a:solidFill>
                  <a:srgbClr val="496A7A"/>
                </a:solidFill>
              </a:rPr>
              <a:t>untrapped</a:t>
            </a:r>
            <a:r>
              <a:rPr lang="en-US" sz="1600" dirty="0">
                <a:solidFill>
                  <a:srgbClr val="496A7A"/>
                </a:solidFill>
              </a:rPr>
              <a:t> applications look the same at every stage until issuance. Then trapped ones issue about 16 points less. That difference is the whole finding.</a:t>
            </a:r>
            <a:endParaRPr lang="en-US" sz="1600" b="1" dirty="0">
              <a:solidFill>
                <a:srgbClr val="496A7A"/>
              </a:solidFill>
            </a:endParaRPr>
          </a:p>
        </p:txBody>
      </p:sp>
      <p:sp>
        <p:nvSpPr>
          <p:cNvPr id="46" name="TextBox 45">
            <a:extLst>
              <a:ext uri="{FF2B5EF4-FFF2-40B4-BE49-F238E27FC236}">
                <a16:creationId xmlns:a16="http://schemas.microsoft.com/office/drawing/2014/main" id="{CD6226B2-C0A7-F0F3-42F3-2654413BEE23}"/>
              </a:ext>
            </a:extLst>
          </p:cNvPr>
          <p:cNvSpPr txBox="1"/>
          <p:nvPr/>
        </p:nvSpPr>
        <p:spPr>
          <a:xfrm>
            <a:off x="57903" y="1912078"/>
            <a:ext cx="11602844" cy="338554"/>
          </a:xfrm>
          <a:prstGeom prst="rect">
            <a:avLst/>
          </a:prstGeom>
          <a:noFill/>
        </p:spPr>
        <p:txBody>
          <a:bodyPr wrap="square">
            <a:spAutoFit/>
          </a:bodyPr>
          <a:lstStyle/>
          <a:p>
            <a:r>
              <a:rPr lang="en-US" sz="1600" b="1" dirty="0">
                <a:solidFill>
                  <a:srgbClr val="12395B"/>
                </a:solidFill>
              </a:rPr>
              <a:t>As designed:</a:t>
            </a:r>
            <a:r>
              <a:rPr lang="en-US" sz="1600" dirty="0">
                <a:solidFill>
                  <a:srgbClr val="12395B"/>
                </a:solidFill>
              </a:rPr>
              <a:t> each stage depends only on the one before it.</a:t>
            </a:r>
          </a:p>
        </p:txBody>
      </p:sp>
      <p:sp>
        <p:nvSpPr>
          <p:cNvPr id="61" name="TextBox 60">
            <a:extLst>
              <a:ext uri="{FF2B5EF4-FFF2-40B4-BE49-F238E27FC236}">
                <a16:creationId xmlns:a16="http://schemas.microsoft.com/office/drawing/2014/main" id="{014ABD0D-C020-C0B3-3D8C-A5D707FCA8BB}"/>
              </a:ext>
            </a:extLst>
          </p:cNvPr>
          <p:cNvSpPr txBox="1"/>
          <p:nvPr/>
        </p:nvSpPr>
        <p:spPr>
          <a:xfrm>
            <a:off x="115628" y="6338136"/>
            <a:ext cx="11749844" cy="369332"/>
          </a:xfrm>
          <a:prstGeom prst="rect">
            <a:avLst/>
          </a:prstGeom>
          <a:noFill/>
        </p:spPr>
        <p:txBody>
          <a:bodyPr wrap="square">
            <a:spAutoFit/>
          </a:bodyPr>
          <a:lstStyle/>
          <a:p>
            <a:r>
              <a:rPr lang="en-US" b="1" dirty="0">
                <a:solidFill>
                  <a:srgbClr val="12395B"/>
                </a:solidFill>
              </a:rPr>
              <a:t>Takeaway:</a:t>
            </a:r>
            <a:r>
              <a:rPr lang="en-US" dirty="0">
                <a:solidFill>
                  <a:srgbClr val="12395B"/>
                </a:solidFill>
              </a:rPr>
              <a:t> Every stage works as designed. One loss is expected; the IT trap is not, and that's where IT should look.</a:t>
            </a:r>
            <a:endParaRPr lang="en-US" b="1" dirty="0">
              <a:solidFill>
                <a:srgbClr val="12395B"/>
              </a:solidFill>
            </a:endParaRPr>
          </a:p>
        </p:txBody>
      </p:sp>
      <p:sp>
        <p:nvSpPr>
          <p:cNvPr id="65" name="TextBox 64">
            <a:extLst>
              <a:ext uri="{FF2B5EF4-FFF2-40B4-BE49-F238E27FC236}">
                <a16:creationId xmlns:a16="http://schemas.microsoft.com/office/drawing/2014/main" id="{675D0CE4-B3EA-F63E-627A-C6F36B0C381A}"/>
              </a:ext>
            </a:extLst>
          </p:cNvPr>
          <p:cNvSpPr txBox="1"/>
          <p:nvPr/>
        </p:nvSpPr>
        <p:spPr>
          <a:xfrm>
            <a:off x="944614" y="4205296"/>
            <a:ext cx="6097772" cy="307777"/>
          </a:xfrm>
          <a:prstGeom prst="rect">
            <a:avLst/>
          </a:prstGeom>
          <a:noFill/>
        </p:spPr>
        <p:txBody>
          <a:bodyPr wrap="square">
            <a:spAutoFit/>
          </a:bodyPr>
          <a:lstStyle/>
          <a:p>
            <a:r>
              <a:rPr lang="en-US" sz="1400" b="1" dirty="0">
                <a:solidFill>
                  <a:srgbClr val="720C27"/>
                </a:solidFill>
              </a:rPr>
              <a:t>The IT trap. That loss is not expected.</a:t>
            </a:r>
          </a:p>
        </p:txBody>
      </p:sp>
      <p:cxnSp>
        <p:nvCxnSpPr>
          <p:cNvPr id="9" name="Straight Connector 8">
            <a:extLst>
              <a:ext uri="{FF2B5EF4-FFF2-40B4-BE49-F238E27FC236}">
                <a16:creationId xmlns:a16="http://schemas.microsoft.com/office/drawing/2014/main" id="{395F019E-3361-BB7A-5388-875F867B1013}"/>
              </a:ext>
            </a:extLst>
          </p:cNvPr>
          <p:cNvCxnSpPr>
            <a:cxnSpLocks/>
          </p:cNvCxnSpPr>
          <p:nvPr/>
        </p:nvCxnSpPr>
        <p:spPr>
          <a:xfrm>
            <a:off x="115628" y="1907499"/>
            <a:ext cx="11517789"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5E6D58D-7052-826E-96C2-8E654C77A81A}"/>
              </a:ext>
            </a:extLst>
          </p:cNvPr>
          <p:cNvSpPr txBox="1"/>
          <p:nvPr/>
        </p:nvSpPr>
        <p:spPr>
          <a:xfrm>
            <a:off x="53141" y="861089"/>
            <a:ext cx="12085412" cy="646331"/>
          </a:xfrm>
          <a:prstGeom prst="rect">
            <a:avLst/>
          </a:prstGeom>
          <a:noFill/>
        </p:spPr>
        <p:txBody>
          <a:bodyPr wrap="square">
            <a:spAutoFit/>
          </a:bodyPr>
          <a:lstStyle/>
          <a:p>
            <a:r>
              <a:rPr lang="en-US" b="1" dirty="0">
                <a:solidFill>
                  <a:srgbClr val="12395B"/>
                </a:solidFill>
              </a:rPr>
              <a:t>IT says the loss is expected; P&amp;C says it isn't. Measured against the system's own clean path, the business-rule loss is expected, but the IT trap's is not.</a:t>
            </a:r>
          </a:p>
        </p:txBody>
      </p:sp>
    </p:spTree>
    <p:extLst>
      <p:ext uri="{BB962C8B-B14F-4D97-AF65-F5344CB8AC3E}">
        <p14:creationId xmlns:p14="http://schemas.microsoft.com/office/powerpoint/2010/main" val="317195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53BFA-1FEC-7B4C-3855-C85823C4D09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967B13E-6DC1-5D2B-6359-92F4F4F38D01}"/>
              </a:ext>
            </a:extLst>
          </p:cNvPr>
          <p:cNvSpPr/>
          <p:nvPr/>
        </p:nvSpPr>
        <p:spPr>
          <a:xfrm>
            <a:off x="0" y="0"/>
            <a:ext cx="12191695" cy="8686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146304" rtlCol="0" anchor="ctr"/>
          <a:lstStyle/>
          <a:p>
            <a:r>
              <a:rPr lang="en-US" sz="2000" b="1" dirty="0"/>
              <a:t>Summary</a:t>
            </a:r>
            <a:r>
              <a:rPr lang="en-US" sz="2000" b="1" dirty="0">
                <a:solidFill>
                  <a:schemeClr val="bg1"/>
                </a:solidFill>
              </a:rPr>
              <a:t>: </a:t>
            </a:r>
            <a:r>
              <a:rPr lang="en-US" sz="2000" dirty="0">
                <a:solidFill>
                  <a:schemeClr val="bg1"/>
                </a:solidFill>
              </a:rPr>
              <a:t>One path, about 170 policies a month, one place to look</a:t>
            </a:r>
          </a:p>
          <a:p>
            <a:endParaRPr lang="en-US" sz="1900" b="1" dirty="0">
              <a:solidFill>
                <a:schemeClr val="bg1"/>
              </a:solidFill>
              <a:cs typeface="Arial" panose="020B0604020202020204" pitchFamily="34" charset="0"/>
            </a:endParaRPr>
          </a:p>
        </p:txBody>
      </p:sp>
      <p:sp>
        <p:nvSpPr>
          <p:cNvPr id="24" name="Rectangle 23">
            <a:extLst>
              <a:ext uri="{FF2B5EF4-FFF2-40B4-BE49-F238E27FC236}">
                <a16:creationId xmlns:a16="http://schemas.microsoft.com/office/drawing/2014/main" id="{C9626A15-5473-637A-D0A6-45BB5347C5F0}"/>
              </a:ext>
            </a:extLst>
          </p:cNvPr>
          <p:cNvSpPr/>
          <p:nvPr/>
        </p:nvSpPr>
        <p:spPr>
          <a:xfrm>
            <a:off x="57903" y="911838"/>
            <a:ext cx="12075888" cy="5822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09448673-2A13-C517-387D-B6B20F5BB1E4}"/>
              </a:ext>
            </a:extLst>
          </p:cNvPr>
          <p:cNvSpPr txBox="1"/>
          <p:nvPr/>
        </p:nvSpPr>
        <p:spPr>
          <a:xfrm>
            <a:off x="123916" y="1216446"/>
            <a:ext cx="11871233" cy="3970318"/>
          </a:xfrm>
          <a:prstGeom prst="rect">
            <a:avLst/>
          </a:prstGeom>
          <a:noFill/>
        </p:spPr>
        <p:txBody>
          <a:bodyPr wrap="square">
            <a:spAutoFit/>
          </a:bodyPr>
          <a:lstStyle/>
          <a:p>
            <a:r>
              <a:rPr lang="en-US" b="1" dirty="0">
                <a:solidFill>
                  <a:srgbClr val="12395B"/>
                </a:solidFill>
              </a:rPr>
              <a:t>The question:</a:t>
            </a:r>
            <a:r>
              <a:rPr lang="en-US" dirty="0">
                <a:solidFill>
                  <a:srgbClr val="12395B"/>
                </a:solidFill>
              </a:rPr>
              <a:t> Are sales slow, or is something in the process losing customers we already won?</a:t>
            </a:r>
          </a:p>
          <a:p>
            <a:endParaRPr lang="en-US" dirty="0">
              <a:solidFill>
                <a:srgbClr val="12395B"/>
              </a:solidFill>
            </a:endParaRPr>
          </a:p>
          <a:p>
            <a:r>
              <a:rPr lang="en-US" b="1" dirty="0">
                <a:solidFill>
                  <a:srgbClr val="12395B"/>
                </a:solidFill>
              </a:rPr>
              <a:t>Why it stayed hidden:</a:t>
            </a:r>
            <a:r>
              <a:rPr lang="en-US" dirty="0">
                <a:solidFill>
                  <a:srgbClr val="12395B"/>
                </a:solidFill>
              </a:rPr>
              <a:t> P&amp;C, IT and Marketing each measure correctly, and they agree where most customers leave. But no one flags the last step, from completed application to issued policy.</a:t>
            </a:r>
          </a:p>
          <a:p>
            <a:endParaRPr lang="en-US" dirty="0">
              <a:solidFill>
                <a:srgbClr val="12395B"/>
              </a:solidFill>
            </a:endParaRPr>
          </a:p>
          <a:p>
            <a:r>
              <a:rPr lang="en-US" b="1" dirty="0">
                <a:solidFill>
                  <a:srgbClr val="12395B"/>
                </a:solidFill>
              </a:rPr>
              <a:t>What we found:</a:t>
            </a:r>
            <a:r>
              <a:rPr lang="en-US" dirty="0">
                <a:solidFill>
                  <a:srgbClr val="12395B"/>
                </a:solidFill>
              </a:rPr>
              <a:t> Trapped applications look normal at every stage until issuance, then issue about 16 points less. If the trap made no difference, none of 40,000 simulated months comes close to what we actually see.</a:t>
            </a:r>
          </a:p>
          <a:p>
            <a:endParaRPr lang="en-US" dirty="0">
              <a:solidFill>
                <a:srgbClr val="12395B"/>
              </a:solidFill>
            </a:endParaRPr>
          </a:p>
          <a:p>
            <a:r>
              <a:rPr lang="en-US" b="1" dirty="0">
                <a:solidFill>
                  <a:srgbClr val="12395B"/>
                </a:solidFill>
              </a:rPr>
              <a:t>Where it is:</a:t>
            </a:r>
            <a:r>
              <a:rPr lang="en-US" dirty="0">
                <a:solidFill>
                  <a:srgbClr val="12395B"/>
                </a:solidFill>
              </a:rPr>
              <a:t> The funnel works as designed except for one unexpected path, from the trap straight to issuance. Underwriting denials are a second path, but that loss is expected.</a:t>
            </a:r>
          </a:p>
          <a:p>
            <a:endParaRPr lang="en-US" dirty="0">
              <a:solidFill>
                <a:srgbClr val="12395B"/>
              </a:solidFill>
            </a:endParaRPr>
          </a:p>
          <a:p>
            <a:r>
              <a:rPr lang="en-US" b="1" dirty="0">
                <a:solidFill>
                  <a:srgbClr val="12395B"/>
                </a:solidFill>
              </a:rPr>
              <a:t>What it means:</a:t>
            </a:r>
            <a:r>
              <a:rPr lang="en-US" dirty="0">
                <a:solidFill>
                  <a:srgbClr val="12395B"/>
                </a:solidFill>
              </a:rPr>
              <a:t> About 170 policies a month, roughly 2,000 a year. IT doesn't need to audit the whole pipeline, just one path.</a:t>
            </a:r>
          </a:p>
          <a:p>
            <a:endParaRPr lang="en-US" dirty="0">
              <a:solidFill>
                <a:srgbClr val="12395B"/>
              </a:solidFill>
            </a:endParaRPr>
          </a:p>
          <a:p>
            <a:endParaRPr lang="en-US" dirty="0">
              <a:solidFill>
                <a:srgbClr val="12395B"/>
              </a:solidFill>
            </a:endParaRPr>
          </a:p>
        </p:txBody>
      </p:sp>
    </p:spTree>
    <p:extLst>
      <p:ext uri="{BB962C8B-B14F-4D97-AF65-F5344CB8AC3E}">
        <p14:creationId xmlns:p14="http://schemas.microsoft.com/office/powerpoint/2010/main" val="1638160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9840D-2BF2-6C0E-2BBF-BC8A6EC3A8FB}"/>
            </a:ext>
          </a:extLst>
        </p:cNvPr>
        <p:cNvGrpSpPr/>
        <p:nvPr/>
      </p:nvGrpSpPr>
      <p:grpSpPr>
        <a:xfrm>
          <a:off x="0" y="0"/>
          <a:ext cx="0" cy="0"/>
          <a:chOff x="0" y="0"/>
          <a:chExt cx="0" cy="0"/>
        </a:xfrm>
      </p:grpSpPr>
      <p:sp>
        <p:nvSpPr>
          <p:cNvPr id="25" name="Shape 15">
            <a:extLst>
              <a:ext uri="{FF2B5EF4-FFF2-40B4-BE49-F238E27FC236}">
                <a16:creationId xmlns:a16="http://schemas.microsoft.com/office/drawing/2014/main" id="{F09B6678-519D-4C33-D465-EF599182957B}"/>
              </a:ext>
            </a:extLst>
          </p:cNvPr>
          <p:cNvSpPr/>
          <p:nvPr/>
        </p:nvSpPr>
        <p:spPr>
          <a:xfrm flipH="1">
            <a:off x="142874" y="1215455"/>
            <a:ext cx="0" cy="1407095"/>
          </a:xfrm>
          <a:prstGeom prst="line">
            <a:avLst/>
          </a:prstGeom>
          <a:noFill/>
          <a:ln w="38100">
            <a:solidFill>
              <a:srgbClr val="06D6A0"/>
            </a:solidFill>
            <a:prstDash val="solid"/>
          </a:ln>
        </p:spPr>
        <p:txBody>
          <a:bodyPr/>
          <a:lstStyle/>
          <a:p>
            <a:endParaRPr lang="en-US" dirty="0"/>
          </a:p>
        </p:txBody>
      </p:sp>
      <p:sp>
        <p:nvSpPr>
          <p:cNvPr id="8" name="TextBox 7">
            <a:extLst>
              <a:ext uri="{FF2B5EF4-FFF2-40B4-BE49-F238E27FC236}">
                <a16:creationId xmlns:a16="http://schemas.microsoft.com/office/drawing/2014/main" id="{8814670B-595F-6638-98D9-E7DE96E74105}"/>
              </a:ext>
            </a:extLst>
          </p:cNvPr>
          <p:cNvSpPr txBox="1"/>
          <p:nvPr/>
        </p:nvSpPr>
        <p:spPr>
          <a:xfrm>
            <a:off x="249237" y="953187"/>
            <a:ext cx="11693526" cy="1938992"/>
          </a:xfrm>
          <a:prstGeom prst="rect">
            <a:avLst/>
          </a:prstGeom>
          <a:noFill/>
        </p:spPr>
        <p:txBody>
          <a:bodyPr wrap="square">
            <a:spAutoFit/>
          </a:bodyPr>
          <a:lstStyle/>
          <a:p>
            <a:endParaRPr lang="en-US" sz="1000" b="1" dirty="0">
              <a:solidFill>
                <a:srgbClr val="12395B"/>
              </a:solidFill>
            </a:endParaRPr>
          </a:p>
          <a:p>
            <a:r>
              <a:rPr lang="en-US" sz="6000" b="1" u="sng" dirty="0"/>
              <a:t>BACK UP </a:t>
            </a:r>
            <a:endParaRPr lang="en-US" sz="6000" b="1" u="sng" dirty="0">
              <a:solidFill>
                <a:srgbClr val="12395B"/>
              </a:solidFill>
            </a:endParaRPr>
          </a:p>
          <a:p>
            <a:endParaRPr lang="en-US" sz="1000" b="1" dirty="0">
              <a:solidFill>
                <a:srgbClr val="12395B"/>
              </a:solidFill>
            </a:endParaRPr>
          </a:p>
          <a:p>
            <a:endParaRPr lang="en-US" sz="1000" b="1" dirty="0">
              <a:solidFill>
                <a:srgbClr val="12395B"/>
              </a:solidFill>
            </a:endParaRPr>
          </a:p>
          <a:p>
            <a:endParaRPr lang="en-US" sz="1000" b="1" dirty="0">
              <a:solidFill>
                <a:srgbClr val="12395B"/>
              </a:solidFill>
            </a:endParaRPr>
          </a:p>
          <a:p>
            <a:endParaRPr lang="en-US" sz="1000" b="1" dirty="0">
              <a:solidFill>
                <a:srgbClr val="12395B"/>
              </a:solidFill>
            </a:endParaRPr>
          </a:p>
          <a:p>
            <a:pPr rtl="0">
              <a:buNone/>
            </a:pPr>
            <a:endParaRPr lang="en-US" sz="1000" dirty="0"/>
          </a:p>
        </p:txBody>
      </p:sp>
    </p:spTree>
    <p:extLst>
      <p:ext uri="{BB962C8B-B14F-4D97-AF65-F5344CB8AC3E}">
        <p14:creationId xmlns:p14="http://schemas.microsoft.com/office/powerpoint/2010/main" val="1980300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093FE-748E-321C-F3FE-02D74E37F600}"/>
            </a:ext>
          </a:extLst>
        </p:cNvPr>
        <p:cNvGrpSpPr/>
        <p:nvPr/>
      </p:nvGrpSpPr>
      <p:grpSpPr>
        <a:xfrm>
          <a:off x="0" y="0"/>
          <a:ext cx="0" cy="0"/>
          <a:chOff x="0" y="0"/>
          <a:chExt cx="0" cy="0"/>
        </a:xfrm>
      </p:grpSpPr>
      <p:sp>
        <p:nvSpPr>
          <p:cNvPr id="25" name="Shape 15">
            <a:extLst>
              <a:ext uri="{FF2B5EF4-FFF2-40B4-BE49-F238E27FC236}">
                <a16:creationId xmlns:a16="http://schemas.microsoft.com/office/drawing/2014/main" id="{D7270C3F-83EB-0A91-DC3B-77A881EE068E}"/>
              </a:ext>
            </a:extLst>
          </p:cNvPr>
          <p:cNvSpPr/>
          <p:nvPr/>
        </p:nvSpPr>
        <p:spPr>
          <a:xfrm flipH="1">
            <a:off x="158750" y="935665"/>
            <a:ext cx="0" cy="2268145"/>
          </a:xfrm>
          <a:prstGeom prst="line">
            <a:avLst/>
          </a:prstGeom>
          <a:noFill/>
          <a:ln w="38100">
            <a:solidFill>
              <a:srgbClr val="06D6A0"/>
            </a:solidFill>
            <a:prstDash val="solid"/>
          </a:ln>
        </p:spPr>
        <p:txBody>
          <a:bodyPr/>
          <a:lstStyle/>
          <a:p>
            <a:endParaRPr lang="en-US" dirty="0"/>
          </a:p>
        </p:txBody>
      </p:sp>
      <p:sp>
        <p:nvSpPr>
          <p:cNvPr id="8" name="TextBox 7">
            <a:extLst>
              <a:ext uri="{FF2B5EF4-FFF2-40B4-BE49-F238E27FC236}">
                <a16:creationId xmlns:a16="http://schemas.microsoft.com/office/drawing/2014/main" id="{08F0B8C0-DE28-1B5F-5A41-32BA1A0BDE37}"/>
              </a:ext>
            </a:extLst>
          </p:cNvPr>
          <p:cNvSpPr txBox="1"/>
          <p:nvPr/>
        </p:nvSpPr>
        <p:spPr>
          <a:xfrm>
            <a:off x="158750" y="1716470"/>
            <a:ext cx="11693526" cy="4955203"/>
          </a:xfrm>
          <a:prstGeom prst="rect">
            <a:avLst/>
          </a:prstGeom>
          <a:noFill/>
        </p:spPr>
        <p:txBody>
          <a:bodyPr wrap="square">
            <a:spAutoFit/>
          </a:bodyPr>
          <a:lstStyle/>
          <a:p>
            <a:pPr rtl="0">
              <a:buNone/>
            </a:pPr>
            <a:endParaRPr lang="en-US" sz="1000" b="1" dirty="0"/>
          </a:p>
          <a:p>
            <a:r>
              <a:rPr lang="en-US" sz="1200" dirty="0"/>
              <a:t>The </a:t>
            </a:r>
            <a:r>
              <a:rPr lang="en-US" sz="1200" b="1" dirty="0"/>
              <a:t>natural assumption</a:t>
            </a:r>
            <a:r>
              <a:rPr lang="en-US" sz="1200" dirty="0"/>
              <a:t> —a bad experience makes people give up and leave. That’s was the hypothesis, and it suggested who owns the fix.</a:t>
            </a:r>
          </a:p>
          <a:p>
            <a:r>
              <a:rPr lang="en-US" sz="1200" dirty="0"/>
              <a:t>If traps drive people away, it's a customer-experience problem. If they don't, it's something else entirely.</a:t>
            </a:r>
          </a:p>
          <a:p>
            <a:endParaRPr lang="en-US" sz="1200" b="1" dirty="0"/>
          </a:p>
          <a:p>
            <a:r>
              <a:rPr lang="en-US" sz="1200" b="1" dirty="0"/>
              <a:t>Simplified</a:t>
            </a:r>
          </a:p>
          <a:p>
            <a:r>
              <a:rPr lang="en-US" sz="1200" dirty="0"/>
              <a:t>Two questions, asked of both traps:</a:t>
            </a:r>
          </a:p>
          <a:p>
            <a:r>
              <a:rPr lang="en-US" sz="1200" b="1" dirty="0"/>
              <a:t>Does hitting a trap make someone less likely to finish their application?</a:t>
            </a:r>
          </a:p>
          <a:p>
            <a:endParaRPr lang="en-US" sz="1200" b="1" dirty="0"/>
          </a:p>
          <a:p>
            <a:endParaRPr lang="en-US" sz="1200" b="1" dirty="0"/>
          </a:p>
          <a:p>
            <a:endParaRPr lang="en-US" sz="1200" dirty="0"/>
          </a:p>
          <a:p>
            <a:pPr rtl="0">
              <a:buNone/>
            </a:pPr>
            <a:endParaRPr lang="en-US" sz="1000" dirty="0"/>
          </a:p>
          <a:p>
            <a:pPr rtl="0">
              <a:buNone/>
            </a:pPr>
            <a:endParaRPr lang="en-US" sz="1000" dirty="0"/>
          </a:p>
          <a:p>
            <a:pPr rtl="0">
              <a:buNone/>
            </a:pPr>
            <a:endParaRPr lang="en-US" sz="1000" dirty="0"/>
          </a:p>
          <a:p>
            <a:r>
              <a:rPr lang="en-US" sz="1200" b="1" dirty="0"/>
              <a:t>No.</a:t>
            </a:r>
            <a:r>
              <a:rPr lang="en-US" sz="1200" dirty="0"/>
              <a:t> Neither one. People finish at the same rate either way.</a:t>
            </a:r>
          </a:p>
          <a:p>
            <a:endParaRPr lang="en-US" sz="1000" dirty="0"/>
          </a:p>
          <a:p>
            <a:r>
              <a:rPr lang="en-US" sz="1200" b="1" dirty="0"/>
              <a:t>Does hitting a trap make a finished application less likely to issue?</a:t>
            </a:r>
          </a:p>
          <a:p>
            <a:endParaRPr lang="en-US" sz="1200" b="1" dirty="0"/>
          </a:p>
          <a:p>
            <a:endParaRPr lang="en-US" sz="1200" b="1" dirty="0"/>
          </a:p>
          <a:p>
            <a:endParaRPr lang="en-US" sz="1200" b="1" dirty="0"/>
          </a:p>
          <a:p>
            <a:endParaRPr lang="en-US" sz="1000" b="1" dirty="0"/>
          </a:p>
          <a:p>
            <a:endParaRPr lang="en-US" sz="1000" b="1" dirty="0"/>
          </a:p>
          <a:p>
            <a:endParaRPr lang="en-US" sz="1000" dirty="0"/>
          </a:p>
          <a:p>
            <a:r>
              <a:rPr lang="en-US" sz="1200" b="1" dirty="0"/>
              <a:t>Yes. Both.</a:t>
            </a:r>
            <a:r>
              <a:rPr lang="en-US" sz="1200" dirty="0"/>
              <a:t> Heavily.</a:t>
            </a:r>
          </a:p>
          <a:p>
            <a:endParaRPr lang="en-US" sz="1000" dirty="0"/>
          </a:p>
          <a:p>
            <a:endParaRPr lang="en-US" sz="1200" dirty="0"/>
          </a:p>
          <a:p>
            <a:r>
              <a:rPr lang="en-US" sz="1200" b="1" dirty="0"/>
              <a:t>Why it matters that they don't cause drop-out:</a:t>
            </a:r>
            <a:r>
              <a:rPr lang="en-US" sz="1200" dirty="0"/>
              <a:t> </a:t>
            </a:r>
            <a:r>
              <a:rPr lang="en-US" sz="1200" dirty="0">
                <a:solidFill>
                  <a:srgbClr val="12395B"/>
                </a:solidFill>
              </a:rPr>
              <a:t>if people were leaving, you'd be trying to change customer behavior, which is slow and uncertain. They aren't leaving. The applications are sitting there, finished, and something </a:t>
            </a:r>
            <a:r>
              <a:rPr lang="en-US" sz="1200" b="1" dirty="0">
                <a:solidFill>
                  <a:srgbClr val="12395B"/>
                </a:solidFill>
              </a:rPr>
              <a:t>at the end isn't completing them. </a:t>
            </a:r>
            <a:r>
              <a:rPr lang="en-US" sz="1200" dirty="0">
                <a:solidFill>
                  <a:srgbClr val="12395B"/>
                </a:solidFill>
              </a:rPr>
              <a:t>That's a systems problem with a known population — 1,809 applications you can point at.</a:t>
            </a:r>
          </a:p>
          <a:p>
            <a:pPr rtl="0">
              <a:buNone/>
            </a:pPr>
            <a:endParaRPr lang="en-US" sz="1000" dirty="0"/>
          </a:p>
        </p:txBody>
      </p:sp>
      <p:graphicFrame>
        <p:nvGraphicFramePr>
          <p:cNvPr id="12" name="Table 11">
            <a:extLst>
              <a:ext uri="{FF2B5EF4-FFF2-40B4-BE49-F238E27FC236}">
                <a16:creationId xmlns:a16="http://schemas.microsoft.com/office/drawing/2014/main" id="{8611E363-A44F-7B57-6D01-60C4956B0E28}"/>
              </a:ext>
            </a:extLst>
          </p:cNvPr>
          <p:cNvGraphicFramePr>
            <a:graphicFrameLocks noGrp="1"/>
          </p:cNvGraphicFramePr>
          <p:nvPr>
            <p:extLst>
              <p:ext uri="{D42A27DB-BD31-4B8C-83A1-F6EECF244321}">
                <p14:modId xmlns:p14="http://schemas.microsoft.com/office/powerpoint/2010/main" val="1380385662"/>
              </p:ext>
            </p:extLst>
          </p:nvPr>
        </p:nvGraphicFramePr>
        <p:xfrm>
          <a:off x="244031" y="3174315"/>
          <a:ext cx="3386306" cy="883920"/>
        </p:xfrm>
        <a:graphic>
          <a:graphicData uri="http://schemas.openxmlformats.org/drawingml/2006/table">
            <a:tbl>
              <a:tblPr>
                <a:tableStyleId>{5C22544A-7EE6-4342-B048-85BDC9FD1C3A}</a:tableStyleId>
              </a:tblPr>
              <a:tblGrid>
                <a:gridCol w="734227">
                  <a:extLst>
                    <a:ext uri="{9D8B030D-6E8A-4147-A177-3AD203B41FA5}">
                      <a16:colId xmlns:a16="http://schemas.microsoft.com/office/drawing/2014/main" val="4278196143"/>
                    </a:ext>
                  </a:extLst>
                </a:gridCol>
                <a:gridCol w="1514793">
                  <a:extLst>
                    <a:ext uri="{9D8B030D-6E8A-4147-A177-3AD203B41FA5}">
                      <a16:colId xmlns:a16="http://schemas.microsoft.com/office/drawing/2014/main" val="4088580022"/>
                    </a:ext>
                  </a:extLst>
                </a:gridCol>
                <a:gridCol w="698818">
                  <a:extLst>
                    <a:ext uri="{9D8B030D-6E8A-4147-A177-3AD203B41FA5}">
                      <a16:colId xmlns:a16="http://schemas.microsoft.com/office/drawing/2014/main" val="975025356"/>
                    </a:ext>
                  </a:extLst>
                </a:gridCol>
                <a:gridCol w="438468">
                  <a:extLst>
                    <a:ext uri="{9D8B030D-6E8A-4147-A177-3AD203B41FA5}">
                      <a16:colId xmlns:a16="http://schemas.microsoft.com/office/drawing/2014/main" val="1802271297"/>
                    </a:ext>
                  </a:extLst>
                </a:gridCol>
              </a:tblGrid>
              <a:tr h="0">
                <a:tc>
                  <a:txBody>
                    <a:bodyPr/>
                    <a:lstStyle/>
                    <a:p>
                      <a:pPr>
                        <a:buNone/>
                      </a:pPr>
                      <a:endParaRPr lang="en-US" sz="1000" b="1" dirty="0">
                        <a:solidFill>
                          <a:schemeClr val="bg1"/>
                        </a:solidFill>
                      </a:endParaRPr>
                    </a:p>
                  </a:txBody>
                  <a:tcPr anchor="ctr">
                    <a:solidFill>
                      <a:srgbClr val="12395B"/>
                    </a:solidFill>
                  </a:tcPr>
                </a:tc>
                <a:tc>
                  <a:txBody>
                    <a:bodyPr/>
                    <a:lstStyle/>
                    <a:p>
                      <a:pPr>
                        <a:buNone/>
                      </a:pPr>
                      <a:r>
                        <a:rPr lang="en-US" sz="1000" b="1" dirty="0">
                          <a:solidFill>
                            <a:schemeClr val="bg1"/>
                          </a:solidFill>
                        </a:rPr>
                        <a:t>Completion rate, no trap</a:t>
                      </a:r>
                    </a:p>
                  </a:txBody>
                  <a:tcPr anchor="ctr">
                    <a:solidFill>
                      <a:srgbClr val="12395B"/>
                    </a:solidFill>
                  </a:tcPr>
                </a:tc>
                <a:tc>
                  <a:txBody>
                    <a:bodyPr/>
                    <a:lstStyle/>
                    <a:p>
                      <a:pPr>
                        <a:buNone/>
                      </a:pPr>
                      <a:r>
                        <a:rPr lang="en-US" sz="1000" b="1" dirty="0">
                          <a:solidFill>
                            <a:schemeClr val="bg1"/>
                          </a:solidFill>
                        </a:rPr>
                        <a:t>with trap</a:t>
                      </a:r>
                    </a:p>
                  </a:txBody>
                  <a:tcPr anchor="ctr">
                    <a:solidFill>
                      <a:srgbClr val="12395B"/>
                    </a:solidFill>
                  </a:tcPr>
                </a:tc>
                <a:tc>
                  <a:txBody>
                    <a:bodyPr/>
                    <a:lstStyle/>
                    <a:p>
                      <a:pPr>
                        <a:buNone/>
                      </a:pPr>
                      <a:r>
                        <a:rPr lang="en-US" sz="1000" b="1" dirty="0">
                          <a:solidFill>
                            <a:schemeClr val="bg1"/>
                          </a:solidFill>
                        </a:rPr>
                        <a:t>p</a:t>
                      </a:r>
                    </a:p>
                  </a:txBody>
                  <a:tcPr anchor="ctr">
                    <a:solidFill>
                      <a:srgbClr val="12395B"/>
                    </a:solidFill>
                  </a:tcPr>
                </a:tc>
                <a:extLst>
                  <a:ext uri="{0D108BD9-81ED-4DB2-BD59-A6C34878D82A}">
                    <a16:rowId xmlns:a16="http://schemas.microsoft.com/office/drawing/2014/main" val="4084350101"/>
                  </a:ext>
                </a:extLst>
              </a:tr>
              <a:tr h="0">
                <a:tc>
                  <a:txBody>
                    <a:bodyPr/>
                    <a:lstStyle/>
                    <a:p>
                      <a:pPr>
                        <a:buNone/>
                      </a:pPr>
                      <a:r>
                        <a:rPr lang="en-US" sz="1000" dirty="0"/>
                        <a:t>IT trap</a:t>
                      </a:r>
                    </a:p>
                  </a:txBody>
                  <a:tcPr anchor="ctr">
                    <a:solidFill>
                      <a:schemeClr val="bg1"/>
                    </a:solidFill>
                  </a:tcPr>
                </a:tc>
                <a:tc>
                  <a:txBody>
                    <a:bodyPr/>
                    <a:lstStyle/>
                    <a:p>
                      <a:pPr>
                        <a:buNone/>
                      </a:pPr>
                      <a:r>
                        <a:rPr lang="en-US" sz="1000" dirty="0"/>
                        <a:t>83.2%</a:t>
                      </a:r>
                    </a:p>
                  </a:txBody>
                  <a:tcPr anchor="ctr">
                    <a:solidFill>
                      <a:schemeClr val="bg1"/>
                    </a:solidFill>
                  </a:tcPr>
                </a:tc>
                <a:tc>
                  <a:txBody>
                    <a:bodyPr/>
                    <a:lstStyle/>
                    <a:p>
                      <a:pPr>
                        <a:buNone/>
                      </a:pPr>
                      <a:r>
                        <a:rPr lang="en-US" sz="1000" dirty="0"/>
                        <a:t>84.3%</a:t>
                      </a:r>
                    </a:p>
                  </a:txBody>
                  <a:tcPr anchor="ctr">
                    <a:solidFill>
                      <a:schemeClr val="bg1"/>
                    </a:solidFill>
                  </a:tcPr>
                </a:tc>
                <a:tc>
                  <a:txBody>
                    <a:bodyPr/>
                    <a:lstStyle/>
                    <a:p>
                      <a:pPr>
                        <a:buNone/>
                      </a:pPr>
                      <a:r>
                        <a:rPr lang="en-US" sz="1000" dirty="0"/>
                        <a:t>0.36</a:t>
                      </a:r>
                    </a:p>
                  </a:txBody>
                  <a:tcPr anchor="ctr">
                    <a:solidFill>
                      <a:schemeClr val="bg1"/>
                    </a:solidFill>
                  </a:tcPr>
                </a:tc>
                <a:extLst>
                  <a:ext uri="{0D108BD9-81ED-4DB2-BD59-A6C34878D82A}">
                    <a16:rowId xmlns:a16="http://schemas.microsoft.com/office/drawing/2014/main" val="2194206419"/>
                  </a:ext>
                </a:extLst>
              </a:tr>
              <a:tr h="0">
                <a:tc>
                  <a:txBody>
                    <a:bodyPr/>
                    <a:lstStyle/>
                    <a:p>
                      <a:pPr>
                        <a:buNone/>
                      </a:pPr>
                      <a:r>
                        <a:rPr lang="en-US" sz="1000" dirty="0"/>
                        <a:t>Business trap</a:t>
                      </a:r>
                    </a:p>
                  </a:txBody>
                  <a:tcPr anchor="ctr">
                    <a:solidFill>
                      <a:schemeClr val="bg1">
                        <a:lumMod val="95000"/>
                      </a:schemeClr>
                    </a:solidFill>
                  </a:tcPr>
                </a:tc>
                <a:tc>
                  <a:txBody>
                    <a:bodyPr/>
                    <a:lstStyle/>
                    <a:p>
                      <a:pPr>
                        <a:buNone/>
                      </a:pPr>
                      <a:r>
                        <a:rPr lang="en-US" sz="1000" dirty="0"/>
                        <a:t>83.3%</a:t>
                      </a:r>
                    </a:p>
                  </a:txBody>
                  <a:tcPr anchor="ctr">
                    <a:solidFill>
                      <a:schemeClr val="bg1">
                        <a:lumMod val="95000"/>
                      </a:schemeClr>
                    </a:solidFill>
                  </a:tcPr>
                </a:tc>
                <a:tc>
                  <a:txBody>
                    <a:bodyPr/>
                    <a:lstStyle/>
                    <a:p>
                      <a:pPr>
                        <a:buNone/>
                      </a:pPr>
                      <a:r>
                        <a:rPr lang="en-US" sz="1000" dirty="0"/>
                        <a:t>83.9%</a:t>
                      </a:r>
                    </a:p>
                  </a:txBody>
                  <a:tcPr anchor="ctr">
                    <a:solidFill>
                      <a:schemeClr val="bg1">
                        <a:lumMod val="95000"/>
                      </a:schemeClr>
                    </a:solidFill>
                  </a:tcPr>
                </a:tc>
                <a:tc>
                  <a:txBody>
                    <a:bodyPr/>
                    <a:lstStyle/>
                    <a:p>
                      <a:pPr>
                        <a:buNone/>
                      </a:pPr>
                      <a:r>
                        <a:rPr lang="en-US" sz="1000" dirty="0"/>
                        <a:t>0.71</a:t>
                      </a:r>
                    </a:p>
                  </a:txBody>
                  <a:tcPr anchor="ctr">
                    <a:solidFill>
                      <a:schemeClr val="bg1">
                        <a:lumMod val="95000"/>
                      </a:schemeClr>
                    </a:solidFill>
                  </a:tcPr>
                </a:tc>
                <a:extLst>
                  <a:ext uri="{0D108BD9-81ED-4DB2-BD59-A6C34878D82A}">
                    <a16:rowId xmlns:a16="http://schemas.microsoft.com/office/drawing/2014/main" val="2602660532"/>
                  </a:ext>
                </a:extLst>
              </a:tr>
            </a:tbl>
          </a:graphicData>
        </a:graphic>
      </p:graphicFrame>
      <p:graphicFrame>
        <p:nvGraphicFramePr>
          <p:cNvPr id="13" name="Table 12">
            <a:extLst>
              <a:ext uri="{FF2B5EF4-FFF2-40B4-BE49-F238E27FC236}">
                <a16:creationId xmlns:a16="http://schemas.microsoft.com/office/drawing/2014/main" id="{57006403-1B5F-3C21-B9A1-819C212DB5C4}"/>
              </a:ext>
            </a:extLst>
          </p:cNvPr>
          <p:cNvGraphicFramePr>
            <a:graphicFrameLocks noGrp="1"/>
          </p:cNvGraphicFramePr>
          <p:nvPr>
            <p:extLst>
              <p:ext uri="{D42A27DB-BD31-4B8C-83A1-F6EECF244321}">
                <p14:modId xmlns:p14="http://schemas.microsoft.com/office/powerpoint/2010/main" val="1171264035"/>
              </p:ext>
            </p:extLst>
          </p:nvPr>
        </p:nvGraphicFramePr>
        <p:xfrm>
          <a:off x="244031" y="4551915"/>
          <a:ext cx="3370234" cy="883920"/>
        </p:xfrm>
        <a:graphic>
          <a:graphicData uri="http://schemas.openxmlformats.org/drawingml/2006/table">
            <a:tbl>
              <a:tblPr>
                <a:tableStyleId>{5C22544A-7EE6-4342-B048-85BDC9FD1C3A}</a:tableStyleId>
              </a:tblPr>
              <a:tblGrid>
                <a:gridCol w="825818">
                  <a:extLst>
                    <a:ext uri="{9D8B030D-6E8A-4147-A177-3AD203B41FA5}">
                      <a16:colId xmlns:a16="http://schemas.microsoft.com/office/drawing/2014/main" val="2383886564"/>
                    </a:ext>
                  </a:extLst>
                </a:gridCol>
                <a:gridCol w="1106805">
                  <a:extLst>
                    <a:ext uri="{9D8B030D-6E8A-4147-A177-3AD203B41FA5}">
                      <a16:colId xmlns:a16="http://schemas.microsoft.com/office/drawing/2014/main" val="1724862810"/>
                    </a:ext>
                  </a:extLst>
                </a:gridCol>
                <a:gridCol w="698818">
                  <a:extLst>
                    <a:ext uri="{9D8B030D-6E8A-4147-A177-3AD203B41FA5}">
                      <a16:colId xmlns:a16="http://schemas.microsoft.com/office/drawing/2014/main" val="1065994052"/>
                    </a:ext>
                  </a:extLst>
                </a:gridCol>
                <a:gridCol w="738793">
                  <a:extLst>
                    <a:ext uri="{9D8B030D-6E8A-4147-A177-3AD203B41FA5}">
                      <a16:colId xmlns:a16="http://schemas.microsoft.com/office/drawing/2014/main" val="1965733095"/>
                    </a:ext>
                  </a:extLst>
                </a:gridCol>
              </a:tblGrid>
              <a:tr h="0">
                <a:tc>
                  <a:txBody>
                    <a:bodyPr/>
                    <a:lstStyle/>
                    <a:p>
                      <a:pPr>
                        <a:buNone/>
                      </a:pPr>
                      <a:endParaRPr lang="en-US" sz="1000" dirty="0"/>
                    </a:p>
                  </a:txBody>
                  <a:tcPr anchor="ctr">
                    <a:solidFill>
                      <a:srgbClr val="12395B"/>
                    </a:solidFill>
                  </a:tcPr>
                </a:tc>
                <a:tc>
                  <a:txBody>
                    <a:bodyPr/>
                    <a:lstStyle/>
                    <a:p>
                      <a:pPr>
                        <a:buNone/>
                      </a:pPr>
                      <a:r>
                        <a:rPr lang="en-US" sz="1000" b="1" dirty="0">
                          <a:solidFill>
                            <a:schemeClr val="bg1"/>
                          </a:solidFill>
                        </a:rPr>
                        <a:t>Issuance, no trap</a:t>
                      </a:r>
                    </a:p>
                  </a:txBody>
                  <a:tcPr anchor="ctr">
                    <a:solidFill>
                      <a:srgbClr val="12395B"/>
                    </a:solidFill>
                  </a:tcPr>
                </a:tc>
                <a:tc>
                  <a:txBody>
                    <a:bodyPr/>
                    <a:lstStyle/>
                    <a:p>
                      <a:pPr>
                        <a:buNone/>
                      </a:pPr>
                      <a:r>
                        <a:rPr lang="en-US" sz="1000" b="1" dirty="0">
                          <a:solidFill>
                            <a:schemeClr val="bg1"/>
                          </a:solidFill>
                        </a:rPr>
                        <a:t>with trap</a:t>
                      </a:r>
                    </a:p>
                  </a:txBody>
                  <a:tcPr anchor="ctr">
                    <a:solidFill>
                      <a:srgbClr val="12395B"/>
                    </a:solidFill>
                  </a:tcPr>
                </a:tc>
                <a:tc>
                  <a:txBody>
                    <a:bodyPr/>
                    <a:lstStyle/>
                    <a:p>
                      <a:pPr>
                        <a:buNone/>
                      </a:pPr>
                      <a:r>
                        <a:rPr lang="en-US" sz="1000" b="1" dirty="0">
                          <a:solidFill>
                            <a:schemeClr val="bg1"/>
                          </a:solidFill>
                        </a:rPr>
                        <a:t>p</a:t>
                      </a:r>
                    </a:p>
                  </a:txBody>
                  <a:tcPr anchor="ctr">
                    <a:solidFill>
                      <a:srgbClr val="12395B"/>
                    </a:solidFill>
                  </a:tcPr>
                </a:tc>
                <a:extLst>
                  <a:ext uri="{0D108BD9-81ED-4DB2-BD59-A6C34878D82A}">
                    <a16:rowId xmlns:a16="http://schemas.microsoft.com/office/drawing/2014/main" val="3057997181"/>
                  </a:ext>
                </a:extLst>
              </a:tr>
              <a:tr h="0">
                <a:tc>
                  <a:txBody>
                    <a:bodyPr/>
                    <a:lstStyle/>
                    <a:p>
                      <a:pPr>
                        <a:buNone/>
                      </a:pPr>
                      <a:r>
                        <a:rPr lang="en-US" sz="1000" dirty="0"/>
                        <a:t>IT trap</a:t>
                      </a:r>
                    </a:p>
                  </a:txBody>
                  <a:tcPr anchor="ctr">
                    <a:solidFill>
                      <a:schemeClr val="bg1"/>
                    </a:solidFill>
                  </a:tcPr>
                </a:tc>
                <a:tc>
                  <a:txBody>
                    <a:bodyPr/>
                    <a:lstStyle/>
                    <a:p>
                      <a:pPr>
                        <a:buNone/>
                      </a:pPr>
                      <a:r>
                        <a:rPr lang="en-US" sz="1000" dirty="0"/>
                        <a:t>87.4%</a:t>
                      </a:r>
                    </a:p>
                  </a:txBody>
                  <a:tcPr anchor="ctr">
                    <a:solidFill>
                      <a:schemeClr val="bg1"/>
                    </a:solidFill>
                  </a:tcPr>
                </a:tc>
                <a:tc>
                  <a:txBody>
                    <a:bodyPr/>
                    <a:lstStyle/>
                    <a:p>
                      <a:pPr>
                        <a:buNone/>
                      </a:pPr>
                      <a:r>
                        <a:rPr lang="en-US" sz="1000" dirty="0"/>
                        <a:t>71.5%</a:t>
                      </a:r>
                    </a:p>
                  </a:txBody>
                  <a:tcPr anchor="ctr">
                    <a:solidFill>
                      <a:schemeClr val="bg1"/>
                    </a:solidFill>
                  </a:tcPr>
                </a:tc>
                <a:tc>
                  <a:txBody>
                    <a:bodyPr/>
                    <a:lstStyle/>
                    <a:p>
                      <a:pPr>
                        <a:buNone/>
                      </a:pPr>
                      <a:r>
                        <a:rPr lang="en-US" sz="1000" dirty="0"/>
                        <a:t>1.8×10⁻³⁵</a:t>
                      </a:r>
                    </a:p>
                  </a:txBody>
                  <a:tcPr anchor="ctr">
                    <a:solidFill>
                      <a:schemeClr val="bg1"/>
                    </a:solidFill>
                  </a:tcPr>
                </a:tc>
                <a:extLst>
                  <a:ext uri="{0D108BD9-81ED-4DB2-BD59-A6C34878D82A}">
                    <a16:rowId xmlns:a16="http://schemas.microsoft.com/office/drawing/2014/main" val="1455316230"/>
                  </a:ext>
                </a:extLst>
              </a:tr>
              <a:tr h="0">
                <a:tc>
                  <a:txBody>
                    <a:bodyPr/>
                    <a:lstStyle/>
                    <a:p>
                      <a:pPr>
                        <a:buNone/>
                      </a:pPr>
                      <a:r>
                        <a:rPr lang="en-US" sz="1000" dirty="0"/>
                        <a:t>Business trap</a:t>
                      </a:r>
                    </a:p>
                  </a:txBody>
                  <a:tcPr anchor="ctr">
                    <a:solidFill>
                      <a:schemeClr val="bg1">
                        <a:lumMod val="95000"/>
                      </a:schemeClr>
                    </a:solidFill>
                  </a:tcPr>
                </a:tc>
                <a:tc>
                  <a:txBody>
                    <a:bodyPr/>
                    <a:lstStyle/>
                    <a:p>
                      <a:pPr>
                        <a:buNone/>
                      </a:pPr>
                      <a:r>
                        <a:rPr lang="en-US" sz="1000" dirty="0"/>
                        <a:t>85.3%</a:t>
                      </a:r>
                    </a:p>
                  </a:txBody>
                  <a:tcPr anchor="ctr">
                    <a:solidFill>
                      <a:schemeClr val="bg1">
                        <a:lumMod val="95000"/>
                      </a:schemeClr>
                    </a:solidFill>
                  </a:tcPr>
                </a:tc>
                <a:tc>
                  <a:txBody>
                    <a:bodyPr/>
                    <a:lstStyle/>
                    <a:p>
                      <a:pPr>
                        <a:buNone/>
                      </a:pPr>
                      <a:r>
                        <a:rPr lang="en-US" sz="1000" dirty="0"/>
                        <a:t>75.9%</a:t>
                      </a:r>
                    </a:p>
                  </a:txBody>
                  <a:tcPr anchor="ctr">
                    <a:solidFill>
                      <a:schemeClr val="bg1">
                        <a:lumMod val="95000"/>
                      </a:schemeClr>
                    </a:solidFill>
                  </a:tcPr>
                </a:tc>
                <a:tc>
                  <a:txBody>
                    <a:bodyPr/>
                    <a:lstStyle/>
                    <a:p>
                      <a:pPr>
                        <a:buNone/>
                      </a:pPr>
                      <a:r>
                        <a:rPr lang="en-US" sz="1000" dirty="0"/>
                        <a:t>2.8×10⁻¹⁰</a:t>
                      </a:r>
                    </a:p>
                  </a:txBody>
                  <a:tcPr anchor="ctr">
                    <a:solidFill>
                      <a:schemeClr val="bg1">
                        <a:lumMod val="95000"/>
                      </a:schemeClr>
                    </a:solidFill>
                  </a:tcPr>
                </a:tc>
                <a:extLst>
                  <a:ext uri="{0D108BD9-81ED-4DB2-BD59-A6C34878D82A}">
                    <a16:rowId xmlns:a16="http://schemas.microsoft.com/office/drawing/2014/main" val="3348231609"/>
                  </a:ext>
                </a:extLst>
              </a:tr>
            </a:tbl>
          </a:graphicData>
        </a:graphic>
      </p:graphicFrame>
      <p:sp>
        <p:nvSpPr>
          <p:cNvPr id="3" name="TextBox 2">
            <a:extLst>
              <a:ext uri="{FF2B5EF4-FFF2-40B4-BE49-F238E27FC236}">
                <a16:creationId xmlns:a16="http://schemas.microsoft.com/office/drawing/2014/main" id="{D656B2CE-7434-6554-9B1E-A235B2841AED}"/>
              </a:ext>
            </a:extLst>
          </p:cNvPr>
          <p:cNvSpPr txBox="1"/>
          <p:nvPr/>
        </p:nvSpPr>
        <p:spPr>
          <a:xfrm>
            <a:off x="158755" y="842608"/>
            <a:ext cx="11693521" cy="954107"/>
          </a:xfrm>
          <a:prstGeom prst="rect">
            <a:avLst/>
          </a:prstGeom>
          <a:noFill/>
        </p:spPr>
        <p:txBody>
          <a:bodyPr wrap="square">
            <a:spAutoFit/>
          </a:bodyPr>
          <a:lstStyle/>
          <a:p>
            <a:pPr marL="342900" indent="-342900">
              <a:buAutoNum type="arabicPeriod"/>
            </a:pPr>
            <a:r>
              <a:rPr lang="en-US" sz="1400" dirty="0">
                <a:solidFill>
                  <a:srgbClr val="086B94"/>
                </a:solidFill>
              </a:rPr>
              <a:t>Started with the declared structure (Draw it out). </a:t>
            </a:r>
          </a:p>
          <a:p>
            <a:pPr marL="342900" indent="-342900">
              <a:buAutoNum type="arabicPeriod"/>
            </a:pPr>
            <a:r>
              <a:rPr lang="en-US" sz="1400" u="sng" dirty="0">
                <a:solidFill>
                  <a:srgbClr val="086B94"/>
                </a:solidFill>
              </a:rPr>
              <a:t>A simulation of the process as drawn and agreed upon can only produce the paths you drew</a:t>
            </a:r>
            <a:r>
              <a:rPr lang="en-US" sz="1400" dirty="0">
                <a:solidFill>
                  <a:srgbClr val="086B94"/>
                </a:solidFill>
              </a:rPr>
              <a:t>.  (Back to : Pizza form Receipt Order received)</a:t>
            </a:r>
          </a:p>
          <a:p>
            <a:pPr marL="342900" indent="-342900">
              <a:buAutoNum type="arabicPeriod"/>
            </a:pPr>
            <a:r>
              <a:rPr lang="en-US" sz="1400" dirty="0">
                <a:solidFill>
                  <a:srgbClr val="086B94"/>
                </a:solidFill>
              </a:rPr>
              <a:t>There was a leak and the leak wasn't on the drawing, so the simulation was never going to find it. </a:t>
            </a:r>
          </a:p>
          <a:p>
            <a:r>
              <a:rPr lang="en-US" sz="1400" dirty="0">
                <a:solidFill>
                  <a:srgbClr val="086B94"/>
                </a:solidFill>
              </a:rPr>
              <a:t>4.    What found it was comparing the real data against the drawing and seeing where they disagreed.</a:t>
            </a:r>
          </a:p>
        </p:txBody>
      </p:sp>
      <p:sp>
        <p:nvSpPr>
          <p:cNvPr id="4" name="Shape 7">
            <a:extLst>
              <a:ext uri="{FF2B5EF4-FFF2-40B4-BE49-F238E27FC236}">
                <a16:creationId xmlns:a16="http://schemas.microsoft.com/office/drawing/2014/main" id="{3550C748-9795-E7B1-6F4B-2B714FB2A51D}"/>
              </a:ext>
            </a:extLst>
          </p:cNvPr>
          <p:cNvSpPr/>
          <p:nvPr/>
        </p:nvSpPr>
        <p:spPr>
          <a:xfrm>
            <a:off x="6720840" y="3200400"/>
            <a:ext cx="4983480" cy="1572768"/>
          </a:xfrm>
          <a:prstGeom prst="roundRect">
            <a:avLst>
              <a:gd name="adj" fmla="val 3488"/>
            </a:avLst>
          </a:prstGeom>
          <a:solidFill>
            <a:srgbClr val="EEF2F8"/>
          </a:solidFill>
          <a:ln w="12700">
            <a:solidFill>
              <a:srgbClr val="EEF2F8"/>
            </a:solidFill>
            <a:prstDash val="solid"/>
          </a:ln>
        </p:spPr>
        <p:txBody>
          <a:bodyPr/>
          <a:lstStyle/>
          <a:p>
            <a:endParaRPr lang="en-US" dirty="0"/>
          </a:p>
        </p:txBody>
      </p:sp>
      <p:sp>
        <p:nvSpPr>
          <p:cNvPr id="6" name="Text 8">
            <a:extLst>
              <a:ext uri="{FF2B5EF4-FFF2-40B4-BE49-F238E27FC236}">
                <a16:creationId xmlns:a16="http://schemas.microsoft.com/office/drawing/2014/main" id="{27CA85EB-D849-E0BD-E72A-ABD28C1EC2BE}"/>
              </a:ext>
            </a:extLst>
          </p:cNvPr>
          <p:cNvSpPr txBox="1"/>
          <p:nvPr/>
        </p:nvSpPr>
        <p:spPr>
          <a:xfrm>
            <a:off x="6858000" y="3310128"/>
            <a:ext cx="2286000" cy="731520"/>
          </a:xfrm>
          <a:prstGeom prst="rect">
            <a:avLst/>
          </a:prstGeom>
          <a:noFill/>
          <a:ln/>
        </p:spPr>
        <p:txBody>
          <a:bodyPr wrap="square" lIns="0" tIns="0" rIns="0" bIns="0" rtlCol="0" anchor="ctr"/>
          <a:lstStyle/>
          <a:p>
            <a:pPr marL="0" indent="0" algn="ctr">
              <a:buNone/>
            </a:pPr>
            <a:r>
              <a:rPr lang="en-US" sz="4400" b="1" dirty="0">
                <a:solidFill>
                  <a:srgbClr val="1F3864"/>
                </a:solidFill>
                <a:latin typeface="Cambria" pitchFamily="34" charset="0"/>
                <a:ea typeface="Cambria" pitchFamily="34" charset="-122"/>
                <a:cs typeface="Cambria" pitchFamily="34" charset="-120"/>
              </a:rPr>
              <a:t>89%</a:t>
            </a:r>
            <a:endParaRPr lang="en-US" sz="4400" dirty="0"/>
          </a:p>
        </p:txBody>
      </p:sp>
      <p:sp>
        <p:nvSpPr>
          <p:cNvPr id="9" name="Text 9">
            <a:extLst>
              <a:ext uri="{FF2B5EF4-FFF2-40B4-BE49-F238E27FC236}">
                <a16:creationId xmlns:a16="http://schemas.microsoft.com/office/drawing/2014/main" id="{03639354-E8D0-C1BE-B004-A4DD34B5A67D}"/>
              </a:ext>
            </a:extLst>
          </p:cNvPr>
          <p:cNvSpPr txBox="1"/>
          <p:nvPr/>
        </p:nvSpPr>
        <p:spPr>
          <a:xfrm>
            <a:off x="6858000" y="4005072"/>
            <a:ext cx="2286000" cy="22860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clean path</a:t>
            </a:r>
            <a:endParaRPr lang="en-US" sz="1100" dirty="0"/>
          </a:p>
        </p:txBody>
      </p:sp>
      <p:sp>
        <p:nvSpPr>
          <p:cNvPr id="11" name="Text 10">
            <a:extLst>
              <a:ext uri="{FF2B5EF4-FFF2-40B4-BE49-F238E27FC236}">
                <a16:creationId xmlns:a16="http://schemas.microsoft.com/office/drawing/2014/main" id="{AD60CAE1-5FF4-9A1C-40EF-AA7528B24614}"/>
              </a:ext>
            </a:extLst>
          </p:cNvPr>
          <p:cNvSpPr txBox="1"/>
          <p:nvPr/>
        </p:nvSpPr>
        <p:spPr>
          <a:xfrm>
            <a:off x="9281160" y="3310128"/>
            <a:ext cx="2286000" cy="731520"/>
          </a:xfrm>
          <a:prstGeom prst="rect">
            <a:avLst/>
          </a:prstGeom>
          <a:noFill/>
          <a:ln/>
        </p:spPr>
        <p:txBody>
          <a:bodyPr wrap="square" lIns="0" tIns="0" rIns="0" bIns="0" rtlCol="0" anchor="ctr"/>
          <a:lstStyle/>
          <a:p>
            <a:pPr marL="0" indent="0" algn="ctr">
              <a:buNone/>
            </a:pPr>
            <a:r>
              <a:rPr lang="en-US" sz="4400" b="1" dirty="0">
                <a:solidFill>
                  <a:srgbClr val="A3282D"/>
                </a:solidFill>
                <a:latin typeface="Cambria" pitchFamily="34" charset="0"/>
                <a:ea typeface="Cambria" pitchFamily="34" charset="-122"/>
                <a:cs typeface="Cambria" pitchFamily="34" charset="-120"/>
              </a:rPr>
              <a:t>72%</a:t>
            </a:r>
            <a:endParaRPr lang="en-US" sz="4400" dirty="0"/>
          </a:p>
        </p:txBody>
      </p:sp>
      <p:sp>
        <p:nvSpPr>
          <p:cNvPr id="15" name="Text 11">
            <a:extLst>
              <a:ext uri="{FF2B5EF4-FFF2-40B4-BE49-F238E27FC236}">
                <a16:creationId xmlns:a16="http://schemas.microsoft.com/office/drawing/2014/main" id="{FA39D07A-D354-D00A-D0C9-55C7830132F8}"/>
              </a:ext>
            </a:extLst>
          </p:cNvPr>
          <p:cNvSpPr txBox="1"/>
          <p:nvPr/>
        </p:nvSpPr>
        <p:spPr>
          <a:xfrm>
            <a:off x="9281160" y="4005072"/>
            <a:ext cx="2286000" cy="22860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hit a system error</a:t>
            </a:r>
            <a:endParaRPr lang="en-US" sz="1100" dirty="0"/>
          </a:p>
        </p:txBody>
      </p:sp>
      <p:sp>
        <p:nvSpPr>
          <p:cNvPr id="17" name="Text 12">
            <a:extLst>
              <a:ext uri="{FF2B5EF4-FFF2-40B4-BE49-F238E27FC236}">
                <a16:creationId xmlns:a16="http://schemas.microsoft.com/office/drawing/2014/main" id="{15F8C5BC-9A89-1E86-D600-870EC1F92837}"/>
              </a:ext>
            </a:extLst>
          </p:cNvPr>
          <p:cNvSpPr txBox="1"/>
          <p:nvPr/>
        </p:nvSpPr>
        <p:spPr>
          <a:xfrm>
            <a:off x="6858000" y="4343400"/>
            <a:ext cx="4709160" cy="274320"/>
          </a:xfrm>
          <a:prstGeom prst="rect">
            <a:avLst/>
          </a:prstGeom>
          <a:noFill/>
          <a:ln/>
        </p:spPr>
        <p:txBody>
          <a:bodyPr wrap="square" lIns="0" tIns="0" rIns="0" bIns="0" rtlCol="0" anchor="ctr"/>
          <a:lstStyle/>
          <a:p>
            <a:pPr marL="0" indent="0" algn="ctr">
              <a:buNone/>
            </a:pPr>
            <a:r>
              <a:rPr lang="en-US" sz="1250" b="1" dirty="0">
                <a:solidFill>
                  <a:srgbClr val="262626"/>
                </a:solidFill>
                <a:latin typeface="Calibri" pitchFamily="34" charset="0"/>
                <a:ea typeface="Calibri" pitchFamily="34" charset="-122"/>
                <a:cs typeface="Calibri" pitchFamily="34" charset="-120"/>
              </a:rPr>
              <a:t>253 completed applications that never became policies.</a:t>
            </a:r>
            <a:endParaRPr lang="en-US" sz="1250" dirty="0"/>
          </a:p>
        </p:txBody>
      </p:sp>
    </p:spTree>
    <p:extLst>
      <p:ext uri="{BB962C8B-B14F-4D97-AF65-F5344CB8AC3E}">
        <p14:creationId xmlns:p14="http://schemas.microsoft.com/office/powerpoint/2010/main" val="1306976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975CC-E2FE-BF5E-37F7-EC578E78EE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3C6134C-1B2B-F33C-DB8A-965A95529C5B}"/>
              </a:ext>
            </a:extLst>
          </p:cNvPr>
          <p:cNvSpPr/>
          <p:nvPr/>
        </p:nvSpPr>
        <p:spPr>
          <a:xfrm>
            <a:off x="0" y="0"/>
            <a:ext cx="12191695" cy="8686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wrap="square" lIns="502920" tIns="146304" rtlCol="0" anchor="ctr"/>
          <a:lstStyle/>
          <a:p>
            <a:r>
              <a:rPr lang="en-US" sz="1900" b="1" dirty="0">
                <a:solidFill>
                  <a:srgbClr val="FFFFFF"/>
                </a:solidFill>
                <a:latin typeface="Cambria"/>
              </a:rPr>
              <a:t>PPC explained simply </a:t>
            </a:r>
            <a:endParaRPr sz="1900" b="1" dirty="0">
              <a:solidFill>
                <a:srgbClr val="FFFFFF"/>
              </a:solidFill>
              <a:latin typeface="Cambria"/>
            </a:endParaRPr>
          </a:p>
        </p:txBody>
      </p:sp>
      <p:sp>
        <p:nvSpPr>
          <p:cNvPr id="3" name="TextBox 2">
            <a:extLst>
              <a:ext uri="{FF2B5EF4-FFF2-40B4-BE49-F238E27FC236}">
                <a16:creationId xmlns:a16="http://schemas.microsoft.com/office/drawing/2014/main" id="{2FC8D452-56F1-FB5C-030A-E68E682F40B5}"/>
              </a:ext>
            </a:extLst>
          </p:cNvPr>
          <p:cNvSpPr txBox="1"/>
          <p:nvPr/>
        </p:nvSpPr>
        <p:spPr>
          <a:xfrm>
            <a:off x="58056" y="868680"/>
            <a:ext cx="12133944" cy="5509200"/>
          </a:xfrm>
          <a:prstGeom prst="rect">
            <a:avLst/>
          </a:prstGeom>
          <a:noFill/>
        </p:spPr>
        <p:txBody>
          <a:bodyPr wrap="square">
            <a:spAutoFit/>
          </a:bodyPr>
          <a:lstStyle/>
          <a:p>
            <a:r>
              <a:rPr lang="en-US" sz="1400" b="1" dirty="0"/>
              <a:t>Free throws</a:t>
            </a:r>
          </a:p>
          <a:p>
            <a:r>
              <a:rPr lang="en-US" sz="1600" b="1" dirty="0"/>
              <a:t>Step 1 — What do we know before?</a:t>
            </a:r>
            <a:endParaRPr lang="en-US" sz="1600" dirty="0"/>
          </a:p>
          <a:p>
            <a:r>
              <a:rPr lang="en-US" sz="1400" dirty="0"/>
              <a:t>Nothing. Never seen this kid shoot. Could be terrible, could be great. </a:t>
            </a:r>
            <a:r>
              <a:rPr lang="en-US" sz="1400" dirty="0">
                <a:solidFill>
                  <a:srgbClr val="720C27"/>
                </a:solidFill>
              </a:rPr>
              <a:t>Uninformative prior </a:t>
            </a:r>
          </a:p>
          <a:p>
            <a:endParaRPr lang="en-US" sz="1400" dirty="0">
              <a:solidFill>
                <a:srgbClr val="720C27"/>
              </a:solidFill>
            </a:endParaRPr>
          </a:p>
          <a:p>
            <a:r>
              <a:rPr lang="en-US" sz="1400" b="1" dirty="0"/>
              <a:t>Step 2 — Watch her shoot.</a:t>
            </a:r>
          </a:p>
          <a:p>
            <a:r>
              <a:rPr lang="en-US" sz="1400" dirty="0"/>
              <a:t>She takes 100 shots. Makes 87. </a:t>
            </a:r>
            <a:r>
              <a:rPr lang="en-US" sz="1400" b="1" dirty="0">
                <a:solidFill>
                  <a:srgbClr val="720C27"/>
                </a:solidFill>
              </a:rPr>
              <a:t>Likelihood</a:t>
            </a:r>
          </a:p>
          <a:p>
            <a:endParaRPr lang="en-US" sz="1400" b="1" dirty="0">
              <a:solidFill>
                <a:srgbClr val="720C27"/>
              </a:solidFill>
            </a:endParaRPr>
          </a:p>
          <a:p>
            <a:r>
              <a:rPr lang="en-US" sz="1400" b="1" dirty="0"/>
              <a:t>Step 3 — Now what do we think?</a:t>
            </a:r>
            <a:endParaRPr lang="en-US" sz="1400" dirty="0"/>
          </a:p>
          <a:p>
            <a:r>
              <a:rPr lang="en-US" sz="1400" dirty="0"/>
              <a:t>She's probably around an 87% shooter. Not exactly — maybe 85, maybe 89. We're not going to pin it down perfectly from 100 shots.</a:t>
            </a:r>
          </a:p>
          <a:p>
            <a:endParaRPr lang="en-US" sz="1400" dirty="0"/>
          </a:p>
          <a:p>
            <a:r>
              <a:rPr lang="en-US" sz="1400" b="1" dirty="0">
                <a:solidFill>
                  <a:srgbClr val="720C27"/>
                </a:solidFill>
              </a:rPr>
              <a:t>That range is what we believe about </a:t>
            </a:r>
            <a:r>
              <a:rPr lang="en-US" sz="1400" b="1" i="1" dirty="0">
                <a:solidFill>
                  <a:srgbClr val="720C27"/>
                </a:solidFill>
              </a:rPr>
              <a:t>her</a:t>
            </a:r>
            <a:r>
              <a:rPr lang="en-US" sz="1400" b="1" dirty="0">
                <a:solidFill>
                  <a:srgbClr val="720C27"/>
                </a:solidFill>
              </a:rPr>
              <a:t>.</a:t>
            </a:r>
            <a:endParaRPr lang="en-US" sz="1400" dirty="0">
              <a:solidFill>
                <a:srgbClr val="720C27"/>
              </a:solidFill>
            </a:endParaRPr>
          </a:p>
          <a:p>
            <a:r>
              <a:rPr lang="en-US" sz="1400" b="1" dirty="0"/>
              <a:t>Step 4 — Now predict.</a:t>
            </a:r>
            <a:endParaRPr lang="en-US" sz="1400" dirty="0"/>
          </a:p>
          <a:p>
            <a:r>
              <a:rPr lang="en-US" sz="1400" dirty="0"/>
              <a:t>She's going to take 100 more shots tomorrow. How many does she make?</a:t>
            </a:r>
          </a:p>
          <a:p>
            <a:r>
              <a:rPr lang="en-US" sz="1400" dirty="0"/>
              <a:t>Not exactly 87. Two things move it around:</a:t>
            </a:r>
          </a:p>
          <a:p>
            <a:r>
              <a:rPr lang="en-US" sz="1400" dirty="0"/>
              <a:t>So the honest answer is: </a:t>
            </a:r>
            <a:r>
              <a:rPr lang="en-US" sz="1400" b="1" dirty="0"/>
              <a:t>probably somewhere around 87, give or take 4.</a:t>
            </a:r>
            <a:r>
              <a:rPr lang="en-US" sz="1400" dirty="0"/>
              <a:t> Say 83 to 91.</a:t>
            </a:r>
          </a:p>
          <a:p>
            <a:r>
              <a:rPr lang="en-US" sz="1400" b="1" dirty="0"/>
              <a:t>That's what we believe about </a:t>
            </a:r>
            <a:r>
              <a:rPr lang="en-US" sz="1400" b="1" i="1" dirty="0"/>
              <a:t>the next hundred shots</a:t>
            </a:r>
            <a:r>
              <a:rPr lang="en-US" sz="1400" b="1" dirty="0"/>
              <a:t>.</a:t>
            </a:r>
          </a:p>
          <a:p>
            <a:endParaRPr lang="en-US" sz="1400" dirty="0"/>
          </a:p>
          <a:p>
            <a:r>
              <a:rPr lang="en-US" sz="1400" b="1" dirty="0"/>
              <a:t>Step 5 — Watch her shoot again.</a:t>
            </a:r>
            <a:endParaRPr lang="en-US" sz="1400" dirty="0"/>
          </a:p>
          <a:p>
            <a:r>
              <a:rPr lang="en-US" sz="1400" dirty="0"/>
              <a:t>She makes </a:t>
            </a:r>
            <a:r>
              <a:rPr lang="en-US" sz="1400" b="1" dirty="0"/>
              <a:t>62</a:t>
            </a:r>
            <a:r>
              <a:rPr lang="en-US" sz="1400" dirty="0"/>
              <a:t>.</a:t>
            </a:r>
          </a:p>
          <a:p>
            <a:endParaRPr lang="en-US" sz="1400" dirty="0"/>
          </a:p>
          <a:p>
            <a:r>
              <a:rPr lang="en-US" sz="1400" b="1" dirty="0"/>
              <a:t>The point</a:t>
            </a:r>
          </a:p>
          <a:p>
            <a:r>
              <a:rPr lang="en-US" sz="1400" dirty="0"/>
              <a:t>62 isn't in the range. Not close to it.</a:t>
            </a:r>
          </a:p>
          <a:p>
            <a:r>
              <a:rPr lang="en-US" sz="1400" dirty="0"/>
              <a:t>We didn't say, "she'll make exactly 87." We gave her every benefit of the doubt — she might be worse than we thought, and she might have an off day. We accounted for both.</a:t>
            </a:r>
          </a:p>
          <a:p>
            <a:r>
              <a:rPr lang="en-US" sz="1400" b="1" dirty="0"/>
              <a:t>62 is still too far.</a:t>
            </a:r>
            <a:r>
              <a:rPr lang="en-US" sz="1400" dirty="0"/>
              <a:t> Something changed that we don't know about. Different gym, injured wrist, something.</a:t>
            </a:r>
          </a:p>
        </p:txBody>
      </p:sp>
    </p:spTree>
    <p:extLst>
      <p:ext uri="{BB962C8B-B14F-4D97-AF65-F5344CB8AC3E}">
        <p14:creationId xmlns:p14="http://schemas.microsoft.com/office/powerpoint/2010/main" val="3301826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551DF-03DE-86B4-A2D6-4D2349002B3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C280908-603E-4885-0091-C745A02AD14E}"/>
              </a:ext>
            </a:extLst>
          </p:cNvPr>
          <p:cNvSpPr/>
          <p:nvPr/>
        </p:nvSpPr>
        <p:spPr>
          <a:xfrm>
            <a:off x="414436" y="296300"/>
            <a:ext cx="11185855" cy="548640"/>
          </a:xfrm>
          <a:prstGeom prst="rect">
            <a:avLst/>
          </a:prstGeom>
          <a:noFill/>
          <a:ln/>
        </p:spPr>
        <p:txBody>
          <a:bodyPr wrap="square" lIns="0" tIns="0" rIns="0" bIns="0" rtlCol="0" anchor="t"/>
          <a:lstStyle/>
          <a:p>
            <a:pPr marL="0" indent="0">
              <a:buNone/>
            </a:pPr>
            <a:r>
              <a:rPr lang="en-US" sz="2600" b="1" dirty="0">
                <a:solidFill>
                  <a:srgbClr val="14213D"/>
                </a:solidFill>
                <a:latin typeface="Cambria" pitchFamily="34" charset="0"/>
                <a:ea typeface="Cambria" pitchFamily="34" charset="-122"/>
                <a:cs typeface="Cambria" pitchFamily="34" charset="-120"/>
              </a:rPr>
              <a:t>I ran what IT believed 40,000 times. It never produced what happened.</a:t>
            </a:r>
            <a:endParaRPr lang="en-US" sz="2600" dirty="0"/>
          </a:p>
        </p:txBody>
      </p:sp>
      <p:sp>
        <p:nvSpPr>
          <p:cNvPr id="5" name="Text 3">
            <a:extLst>
              <a:ext uri="{FF2B5EF4-FFF2-40B4-BE49-F238E27FC236}">
                <a16:creationId xmlns:a16="http://schemas.microsoft.com/office/drawing/2014/main" id="{BA52B070-8004-8D3D-0D08-40E2AE5C2BE0}"/>
              </a:ext>
            </a:extLst>
          </p:cNvPr>
          <p:cNvSpPr/>
          <p:nvPr/>
        </p:nvSpPr>
        <p:spPr>
          <a:xfrm>
            <a:off x="487680" y="1268610"/>
            <a:ext cx="5577840" cy="685800"/>
          </a:xfrm>
          <a:prstGeom prst="rect">
            <a:avLst/>
          </a:prstGeom>
          <a:noFill/>
          <a:ln/>
        </p:spPr>
        <p:txBody>
          <a:bodyPr wrap="square" lIns="0" tIns="0" rIns="0" bIns="0" rtlCol="0" anchor="ctr"/>
          <a:lstStyle/>
          <a:p>
            <a:pPr marL="0" indent="0">
              <a:lnSpc>
                <a:spcPct val="105000"/>
              </a:lnSpc>
              <a:buNone/>
            </a:pPr>
            <a:endParaRPr lang="en-US" sz="1200" dirty="0"/>
          </a:p>
        </p:txBody>
      </p:sp>
      <p:graphicFrame>
        <p:nvGraphicFramePr>
          <p:cNvPr id="6" name="Table 0">
            <a:extLst>
              <a:ext uri="{FF2B5EF4-FFF2-40B4-BE49-F238E27FC236}">
                <a16:creationId xmlns:a16="http://schemas.microsoft.com/office/drawing/2014/main" id="{0C4BD705-F51D-D864-0F05-8A84B9FC672C}"/>
              </a:ext>
            </a:extLst>
          </p:cNvPr>
          <p:cNvGraphicFramePr>
            <a:graphicFrameLocks noGrp="1"/>
          </p:cNvGraphicFramePr>
          <p:nvPr/>
        </p:nvGraphicFramePr>
        <p:xfrm>
          <a:off x="472440" y="1086762"/>
          <a:ext cx="2824163" cy="1774952"/>
        </p:xfrm>
        <a:graphic>
          <a:graphicData uri="http://schemas.openxmlformats.org/drawingml/2006/table">
            <a:tbl>
              <a:tblPr/>
              <a:tblGrid>
                <a:gridCol w="1173163">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gridCol w="409575">
                  <a:extLst>
                    <a:ext uri="{9D8B030D-6E8A-4147-A177-3AD203B41FA5}">
                      <a16:colId xmlns:a16="http://schemas.microsoft.com/office/drawing/2014/main" val="20003"/>
                    </a:ext>
                  </a:extLst>
                </a:gridCol>
              </a:tblGrid>
              <a:tr h="265176">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Check</a:t>
                      </a:r>
                      <a:endParaRPr lang="en-US" sz="9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13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Observed</a:t>
                      </a:r>
                      <a:endParaRPr lang="en-US" sz="9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13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Predicted</a:t>
                      </a:r>
                      <a:endParaRPr lang="en-US" sz="9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13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Z</a:t>
                      </a:r>
                      <a:endParaRPr lang="en-US" sz="9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204670">
                <a:tc>
                  <a:txBody>
                    <a:bodyPr/>
                    <a:lstStyle/>
                    <a:p>
                      <a:pPr marL="0" indent="0" algn="ctr">
                        <a:buNone/>
                      </a:pPr>
                      <a:r>
                        <a:rPr lang="en-US" sz="800" b="1" dirty="0">
                          <a:solidFill>
                            <a:srgbClr val="14213D"/>
                          </a:solidFill>
                          <a:latin typeface="Calibri" pitchFamily="34" charset="0"/>
                          <a:ea typeface="Calibri" pitchFamily="34" charset="-122"/>
                          <a:cs typeface="Calibri" pitchFamily="34" charset="-120"/>
                        </a:rPr>
                        <a:t>Storefront</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2,104</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2,103 ± 10</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+0.05</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172319">
                <a:tc>
                  <a:txBody>
                    <a:bodyPr/>
                    <a:lstStyle/>
                    <a:p>
                      <a:pPr marL="0" indent="0" algn="ctr">
                        <a:buNone/>
                      </a:pPr>
                      <a:r>
                        <a:rPr lang="en-US" sz="800" b="1" dirty="0">
                          <a:solidFill>
                            <a:srgbClr val="14213D"/>
                          </a:solidFill>
                          <a:latin typeface="Calibri" pitchFamily="34" charset="0"/>
                          <a:ea typeface="Calibri" pitchFamily="34" charset="-122"/>
                          <a:cs typeface="Calibri" pitchFamily="34" charset="-120"/>
                        </a:rPr>
                        <a:t>Quote start</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1,876</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1,875 ± 22</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+0.05</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800" b="1" dirty="0">
                          <a:solidFill>
                            <a:srgbClr val="14213D"/>
                          </a:solidFill>
                          <a:latin typeface="Calibri" pitchFamily="34" charset="0"/>
                          <a:ea typeface="Calibri" pitchFamily="34" charset="-122"/>
                          <a:cs typeface="Calibri" pitchFamily="34" charset="-120"/>
                        </a:rPr>
                        <a:t>Quote complete</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1,597</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1,596 ± 29</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+0.05</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0">
                <a:tc>
                  <a:txBody>
                    <a:bodyPr/>
                    <a:lstStyle/>
                    <a:p>
                      <a:pPr marL="0" indent="0" algn="ctr">
                        <a:buNone/>
                      </a:pPr>
                      <a:r>
                        <a:rPr lang="en-US" sz="800" b="1" dirty="0">
                          <a:solidFill>
                            <a:srgbClr val="14213D"/>
                          </a:solidFill>
                          <a:latin typeface="Calibri" pitchFamily="34" charset="0"/>
                          <a:ea typeface="Calibri" pitchFamily="34" charset="-122"/>
                          <a:cs typeface="Calibri" pitchFamily="34" charset="-120"/>
                        </a:rPr>
                        <a:t>Application start</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1,274</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1,273 ± 32</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+0.04</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ctr">
                        <a:buNone/>
                      </a:pPr>
                      <a:r>
                        <a:rPr lang="en-US" sz="800" b="1" dirty="0">
                          <a:solidFill>
                            <a:srgbClr val="14213D"/>
                          </a:solidFill>
                          <a:latin typeface="Calibri" pitchFamily="34" charset="0"/>
                          <a:ea typeface="Calibri" pitchFamily="34" charset="-122"/>
                          <a:cs typeface="Calibri" pitchFamily="34" charset="-120"/>
                        </a:rPr>
                        <a:t>Application complete</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1,074</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1,073 ± 33</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tc>
                  <a:txBody>
                    <a:bodyPr/>
                    <a:lstStyle/>
                    <a:p>
                      <a:pPr marL="0" indent="0" algn="ctr">
                        <a:buNone/>
                      </a:pPr>
                      <a:r>
                        <a:rPr lang="en-US" sz="800" dirty="0">
                          <a:solidFill>
                            <a:srgbClr val="1B2430"/>
                          </a:solidFill>
                          <a:latin typeface="Calibri" pitchFamily="34" charset="0"/>
                          <a:ea typeface="Calibri" pitchFamily="34" charset="-122"/>
                          <a:cs typeface="Calibri" pitchFamily="34" charset="-120"/>
                        </a:rPr>
                        <a:t>+0.03</a:t>
                      </a:r>
                      <a:endParaRPr lang="en-US" sz="800" dirty="0">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r h="265176">
                <a:tc>
                  <a:txBody>
                    <a:bodyPr/>
                    <a:lstStyle/>
                    <a:p>
                      <a:pPr marL="0" indent="0" algn="ctr">
                        <a:buNone/>
                      </a:pPr>
                      <a:r>
                        <a:rPr lang="en-US" sz="800" b="1" dirty="0">
                          <a:solidFill>
                            <a:srgbClr val="720C27"/>
                          </a:solidFill>
                          <a:latin typeface="Calibri" pitchFamily="34" charset="0"/>
                          <a:ea typeface="Calibri" pitchFamily="34" charset="-122"/>
                          <a:cs typeface="Calibri" pitchFamily="34" charset="-120"/>
                        </a:rPr>
                        <a:t>POLICIES ISSUED</a:t>
                      </a:r>
                      <a:endParaRPr lang="en-US" sz="800" dirty="0">
                        <a:solidFill>
                          <a:srgbClr val="720C27"/>
                        </a:solidFill>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720C27"/>
                          </a:solidFill>
                          <a:latin typeface="Calibri" pitchFamily="34" charset="0"/>
                          <a:ea typeface="Calibri" pitchFamily="34" charset="-122"/>
                          <a:cs typeface="Calibri" pitchFamily="34" charset="-120"/>
                        </a:rPr>
                        <a:t>768</a:t>
                      </a:r>
                      <a:endParaRPr lang="en-US" sz="800" dirty="0">
                        <a:solidFill>
                          <a:srgbClr val="720C27"/>
                        </a:solidFill>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720C27"/>
                          </a:solidFill>
                          <a:latin typeface="Calibri" pitchFamily="34" charset="0"/>
                          <a:ea typeface="Calibri" pitchFamily="34" charset="-122"/>
                          <a:cs typeface="Calibri" pitchFamily="34" charset="-120"/>
                        </a:rPr>
                        <a:t>937 ± 31</a:t>
                      </a:r>
                      <a:endParaRPr lang="en-US" sz="800" dirty="0">
                        <a:solidFill>
                          <a:srgbClr val="720C27"/>
                        </a:solidFill>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720C27"/>
                          </a:solidFill>
                          <a:latin typeface="Calibri" pitchFamily="34" charset="0"/>
                          <a:ea typeface="Calibri" pitchFamily="34" charset="-122"/>
                          <a:cs typeface="Calibri" pitchFamily="34" charset="-120"/>
                        </a:rPr>
                        <a:t>−5.41</a:t>
                      </a:r>
                      <a:endParaRPr lang="en-US" sz="800" dirty="0">
                        <a:solidFill>
                          <a:srgbClr val="720C27"/>
                        </a:solidFill>
                        <a:latin typeface="Calibri" charset="0"/>
                        <a:ea typeface="Calibri" charset="0"/>
                        <a:cs typeface="Calibri" charset="0"/>
                      </a:endParaRPr>
                    </a:p>
                  </a:txBody>
                  <a:tcPr marL="63500" marR="63500" marT="63500" marB="6350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 5">
            <a:extLst>
              <a:ext uri="{FF2B5EF4-FFF2-40B4-BE49-F238E27FC236}">
                <a16:creationId xmlns:a16="http://schemas.microsoft.com/office/drawing/2014/main" id="{0BA0383C-CC05-12F4-EEA0-E15FA603A5F5}"/>
              </a:ext>
            </a:extLst>
          </p:cNvPr>
          <p:cNvSpPr/>
          <p:nvPr/>
        </p:nvSpPr>
        <p:spPr>
          <a:xfrm>
            <a:off x="6392646" y="640473"/>
            <a:ext cx="5662094" cy="640080"/>
          </a:xfrm>
          <a:prstGeom prst="rect">
            <a:avLst/>
          </a:prstGeom>
          <a:noFill/>
          <a:ln/>
        </p:spPr>
        <p:txBody>
          <a:bodyPr wrap="square" lIns="0" tIns="0" rIns="0" bIns="0" rtlCol="0" anchor="t"/>
          <a:lstStyle/>
          <a:p>
            <a:pPr marL="0" indent="0">
              <a:lnSpc>
                <a:spcPct val="105000"/>
              </a:lnSpc>
              <a:buNone/>
            </a:pPr>
            <a:r>
              <a:rPr lang="en-US" sz="1400" b="1" i="1" dirty="0">
                <a:solidFill>
                  <a:srgbClr val="14213D"/>
                </a:solidFill>
                <a:latin typeface="Cambria" pitchFamily="34" charset="0"/>
                <a:ea typeface="Cambria" pitchFamily="34" charset="-122"/>
                <a:cs typeface="Cambria" pitchFamily="34" charset="-120"/>
              </a:rPr>
              <a:t>“</a:t>
            </a:r>
            <a:r>
              <a:rPr lang="en-US" sz="1400" b="1" i="1" dirty="0">
                <a:solidFill>
                  <a:srgbClr val="00365B"/>
                </a:solidFill>
                <a:latin typeface="Cambria" pitchFamily="34" charset="0"/>
                <a:ea typeface="Cambria" pitchFamily="34" charset="-122"/>
                <a:cs typeface="Cambria" pitchFamily="34" charset="-120"/>
              </a:rPr>
              <a:t>Their assumption predicts 937. Reality is 768. The assumption is the only thing I borrowed — so the gap is theirs.”</a:t>
            </a:r>
            <a:endParaRPr lang="en-US" sz="1400" dirty="0">
              <a:solidFill>
                <a:srgbClr val="00365B"/>
              </a:solidFill>
            </a:endParaRPr>
          </a:p>
        </p:txBody>
      </p:sp>
      <p:pic>
        <p:nvPicPr>
          <p:cNvPr id="9" name="Image 0" descr="assets/real_ppc.png">
            <a:extLst>
              <a:ext uri="{FF2B5EF4-FFF2-40B4-BE49-F238E27FC236}">
                <a16:creationId xmlns:a16="http://schemas.microsoft.com/office/drawing/2014/main" id="{52E13737-B459-AE2C-68C2-9E874C9A7721}"/>
              </a:ext>
            </a:extLst>
          </p:cNvPr>
          <p:cNvPicPr>
            <a:picLocks noChangeAspect="1"/>
          </p:cNvPicPr>
          <p:nvPr/>
        </p:nvPicPr>
        <p:blipFill>
          <a:blip r:embed="rId3"/>
          <a:stretch>
            <a:fillRect/>
          </a:stretch>
        </p:blipFill>
        <p:spPr>
          <a:xfrm>
            <a:off x="6413884" y="1059652"/>
            <a:ext cx="5212080" cy="3502152"/>
          </a:xfrm>
          <a:prstGeom prst="rect">
            <a:avLst/>
          </a:prstGeom>
        </p:spPr>
      </p:pic>
      <p:sp>
        <p:nvSpPr>
          <p:cNvPr id="10" name="Shape 6">
            <a:extLst>
              <a:ext uri="{FF2B5EF4-FFF2-40B4-BE49-F238E27FC236}">
                <a16:creationId xmlns:a16="http://schemas.microsoft.com/office/drawing/2014/main" id="{EB2D5AC3-B4F4-19B6-6F6F-CB32E0D45FAE}"/>
              </a:ext>
            </a:extLst>
          </p:cNvPr>
          <p:cNvSpPr/>
          <p:nvPr/>
        </p:nvSpPr>
        <p:spPr>
          <a:xfrm>
            <a:off x="6870854" y="4904446"/>
            <a:ext cx="2468880" cy="1097280"/>
          </a:xfrm>
          <a:prstGeom prst="roundRect">
            <a:avLst>
              <a:gd name="adj" fmla="val 6667"/>
            </a:avLst>
          </a:prstGeom>
          <a:solidFill>
            <a:srgbClr val="14213D"/>
          </a:solidFill>
          <a:ln w="12700">
            <a:solidFill>
              <a:srgbClr val="14213D"/>
            </a:solidFill>
            <a:prstDash val="solid"/>
          </a:ln>
        </p:spPr>
        <p:txBody>
          <a:bodyPr/>
          <a:lstStyle/>
          <a:p>
            <a:endParaRPr lang="en-US" dirty="0"/>
          </a:p>
        </p:txBody>
      </p:sp>
      <p:sp>
        <p:nvSpPr>
          <p:cNvPr id="11" name="Text 7">
            <a:extLst>
              <a:ext uri="{FF2B5EF4-FFF2-40B4-BE49-F238E27FC236}">
                <a16:creationId xmlns:a16="http://schemas.microsoft.com/office/drawing/2014/main" id="{62EDE939-4E9C-81EF-6409-CEAE75F6B960}"/>
              </a:ext>
            </a:extLst>
          </p:cNvPr>
          <p:cNvSpPr/>
          <p:nvPr/>
        </p:nvSpPr>
        <p:spPr>
          <a:xfrm>
            <a:off x="6882829" y="4906873"/>
            <a:ext cx="246888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0</a:t>
            </a:r>
            <a:endParaRPr lang="en-US" sz="3000" dirty="0"/>
          </a:p>
        </p:txBody>
      </p:sp>
      <p:sp>
        <p:nvSpPr>
          <p:cNvPr id="12" name="Text 8">
            <a:extLst>
              <a:ext uri="{FF2B5EF4-FFF2-40B4-BE49-F238E27FC236}">
                <a16:creationId xmlns:a16="http://schemas.microsoft.com/office/drawing/2014/main" id="{6EA18550-DEA7-E209-E395-187F842AAF63}"/>
              </a:ext>
            </a:extLst>
          </p:cNvPr>
          <p:cNvSpPr/>
          <p:nvPr/>
        </p:nvSpPr>
        <p:spPr>
          <a:xfrm>
            <a:off x="7010845" y="5407964"/>
            <a:ext cx="2212848" cy="438912"/>
          </a:xfrm>
          <a:prstGeom prst="rect">
            <a:avLst/>
          </a:prstGeom>
          <a:noFill/>
          <a:ln/>
        </p:spPr>
        <p:txBody>
          <a:bodyPr wrap="square" lIns="0" tIns="0" rIns="0" bIns="0" rtlCol="0" anchor="t"/>
          <a:lstStyle/>
          <a:p>
            <a:pPr marL="0" indent="0" algn="ctr">
              <a:lnSpc>
                <a:spcPct val="95000"/>
              </a:lnSpc>
              <a:buNone/>
            </a:pPr>
            <a:r>
              <a:rPr lang="en-US" sz="1100" dirty="0">
                <a:solidFill>
                  <a:srgbClr val="C9D4E4"/>
                </a:solidFill>
                <a:latin typeface="Calibri" pitchFamily="34" charset="0"/>
                <a:ea typeface="Calibri" pitchFamily="34" charset="-122"/>
                <a:cs typeface="Calibri" pitchFamily="34" charset="-120"/>
              </a:rPr>
              <a:t>of 40,000 draws reached 768</a:t>
            </a:r>
            <a:endParaRPr lang="en-US" sz="1100" dirty="0"/>
          </a:p>
        </p:txBody>
      </p:sp>
      <p:sp>
        <p:nvSpPr>
          <p:cNvPr id="13" name="Shape 9">
            <a:extLst>
              <a:ext uri="{FF2B5EF4-FFF2-40B4-BE49-F238E27FC236}">
                <a16:creationId xmlns:a16="http://schemas.microsoft.com/office/drawing/2014/main" id="{084B60C6-6D99-31EF-5588-1A6E9D86F3AB}"/>
              </a:ext>
            </a:extLst>
          </p:cNvPr>
          <p:cNvSpPr/>
          <p:nvPr/>
        </p:nvSpPr>
        <p:spPr>
          <a:xfrm>
            <a:off x="9626029" y="4865069"/>
            <a:ext cx="2468880" cy="1097280"/>
          </a:xfrm>
          <a:prstGeom prst="roundRect">
            <a:avLst>
              <a:gd name="adj" fmla="val 6667"/>
            </a:avLst>
          </a:prstGeom>
          <a:solidFill>
            <a:srgbClr val="F4636A"/>
          </a:solidFill>
          <a:ln w="12700">
            <a:solidFill>
              <a:srgbClr val="F4636A"/>
            </a:solidFill>
            <a:prstDash val="solid"/>
          </a:ln>
        </p:spPr>
        <p:txBody>
          <a:bodyPr/>
          <a:lstStyle/>
          <a:p>
            <a:endParaRPr lang="en-US" dirty="0"/>
          </a:p>
        </p:txBody>
      </p:sp>
      <p:sp>
        <p:nvSpPr>
          <p:cNvPr id="14" name="Text 10">
            <a:extLst>
              <a:ext uri="{FF2B5EF4-FFF2-40B4-BE49-F238E27FC236}">
                <a16:creationId xmlns:a16="http://schemas.microsoft.com/office/drawing/2014/main" id="{69CA2D6F-F8D7-5F5D-7B37-C499ED549733}"/>
              </a:ext>
            </a:extLst>
          </p:cNvPr>
          <p:cNvSpPr/>
          <p:nvPr/>
        </p:nvSpPr>
        <p:spPr>
          <a:xfrm>
            <a:off x="9626029" y="4906873"/>
            <a:ext cx="246888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809</a:t>
            </a:r>
            <a:endParaRPr lang="en-US" sz="3000" dirty="0"/>
          </a:p>
        </p:txBody>
      </p:sp>
      <p:sp>
        <p:nvSpPr>
          <p:cNvPr id="15" name="Text 11">
            <a:extLst>
              <a:ext uri="{FF2B5EF4-FFF2-40B4-BE49-F238E27FC236}">
                <a16:creationId xmlns:a16="http://schemas.microsoft.com/office/drawing/2014/main" id="{C73F3AB5-14CE-A270-0DEA-1718667E775D}"/>
              </a:ext>
            </a:extLst>
          </p:cNvPr>
          <p:cNvSpPr/>
          <p:nvPr/>
        </p:nvSpPr>
        <p:spPr>
          <a:xfrm>
            <a:off x="9754045" y="5407964"/>
            <a:ext cx="2212848" cy="438912"/>
          </a:xfrm>
          <a:prstGeom prst="rect">
            <a:avLst/>
          </a:prstGeom>
          <a:noFill/>
          <a:ln/>
        </p:spPr>
        <p:txBody>
          <a:bodyPr wrap="square" lIns="0" tIns="0" rIns="0" bIns="0" rtlCol="0" anchor="t"/>
          <a:lstStyle/>
          <a:p>
            <a:pPr marL="0" indent="0" algn="ctr">
              <a:lnSpc>
                <a:spcPct val="95000"/>
              </a:lnSpc>
              <a:buNone/>
            </a:pPr>
            <a:r>
              <a:rPr lang="en-US" sz="1100" dirty="0">
                <a:solidFill>
                  <a:srgbClr val="FFF1F2"/>
                </a:solidFill>
                <a:latin typeface="Calibri" pitchFamily="34" charset="0"/>
                <a:ea typeface="Calibri" pitchFamily="34" charset="-122"/>
                <a:cs typeface="Calibri" pitchFamily="34" charset="-120"/>
              </a:rPr>
              <a:t>lowest the model ever produced</a:t>
            </a:r>
            <a:endParaRPr lang="en-US" sz="1100" dirty="0"/>
          </a:p>
        </p:txBody>
      </p:sp>
      <p:sp>
        <p:nvSpPr>
          <p:cNvPr id="16" name="Text 12">
            <a:extLst>
              <a:ext uri="{FF2B5EF4-FFF2-40B4-BE49-F238E27FC236}">
                <a16:creationId xmlns:a16="http://schemas.microsoft.com/office/drawing/2014/main" id="{C5A990A3-845D-10D3-257F-4D5D68769E41}"/>
              </a:ext>
            </a:extLst>
          </p:cNvPr>
          <p:cNvSpPr/>
          <p:nvPr/>
        </p:nvSpPr>
        <p:spPr>
          <a:xfrm>
            <a:off x="6849043" y="6156575"/>
            <a:ext cx="5252021" cy="548640"/>
          </a:xfrm>
          <a:prstGeom prst="rect">
            <a:avLst/>
          </a:prstGeom>
          <a:noFill/>
          <a:ln/>
        </p:spPr>
        <p:txBody>
          <a:bodyPr wrap="square" lIns="0" tIns="0" rIns="0" bIns="0" rtlCol="0" anchor="ctr"/>
          <a:lstStyle/>
          <a:p>
            <a:r>
              <a:rPr lang="en-US" sz="1200" b="1" dirty="0">
                <a:solidFill>
                  <a:srgbClr val="1B2430"/>
                </a:solidFill>
                <a:latin typeface="Calibri" pitchFamily="34" charset="0"/>
                <a:ea typeface="Calibri" pitchFamily="34" charset="-122"/>
                <a:cs typeface="Calibri" pitchFamily="34" charset="-120"/>
              </a:rPr>
              <a:t>And the localization: </a:t>
            </a:r>
            <a:r>
              <a:rPr lang="en-US" sz="1200" dirty="0">
                <a:solidFill>
                  <a:srgbClr val="1B2430"/>
                </a:solidFill>
                <a:latin typeface="Calibri" pitchFamily="34" charset="0"/>
                <a:ea typeface="Calibri" pitchFamily="34" charset="-122"/>
                <a:cs typeface="Calibri" pitchFamily="34" charset="-120"/>
              </a:rPr>
              <a:t>conditioning on a completed application, Q[Trap, Issued] = +1.21 where a chain requires zero. Partial correlation. The defect is the edge, not the coefficients.</a:t>
            </a:r>
            <a:r>
              <a:rPr lang="en-US" sz="1200" b="1" dirty="0"/>
              <a:t> </a:t>
            </a:r>
            <a:r>
              <a:rPr lang="en-US" sz="1200" b="1" u="sng" dirty="0">
                <a:solidFill>
                  <a:srgbClr val="00365B"/>
                </a:solidFill>
              </a:rPr>
              <a:t>No combination of settings and luck ever got there. Not once in 50,000 tries. So it's not bad luck. Something about the gates is wrong.</a:t>
            </a:r>
          </a:p>
          <a:p>
            <a:pPr marL="0" indent="0">
              <a:lnSpc>
                <a:spcPct val="102000"/>
              </a:lnSpc>
              <a:buNone/>
            </a:pPr>
            <a:endParaRPr lang="en-US" sz="1050" dirty="0"/>
          </a:p>
        </p:txBody>
      </p:sp>
      <p:sp>
        <p:nvSpPr>
          <p:cNvPr id="18" name="Text 13">
            <a:extLst>
              <a:ext uri="{FF2B5EF4-FFF2-40B4-BE49-F238E27FC236}">
                <a16:creationId xmlns:a16="http://schemas.microsoft.com/office/drawing/2014/main" id="{C73D01A0-7316-616F-B7DE-0451F2DB71A5}"/>
              </a:ext>
            </a:extLst>
          </p:cNvPr>
          <p:cNvSpPr/>
          <p:nvPr/>
        </p:nvSpPr>
        <p:spPr>
          <a:xfrm>
            <a:off x="11414455" y="6382512"/>
            <a:ext cx="365760" cy="256032"/>
          </a:xfrm>
          <a:prstGeom prst="rect">
            <a:avLst/>
          </a:prstGeom>
          <a:noFill/>
          <a:ln/>
        </p:spPr>
        <p:txBody>
          <a:bodyPr wrap="square" lIns="0" tIns="0" rIns="0" bIns="0" rtlCol="0" anchor="ctr"/>
          <a:lstStyle/>
          <a:p>
            <a:pPr marL="0" indent="0" algn="r">
              <a:buNone/>
            </a:pPr>
            <a:r>
              <a:rPr lang="en-US" sz="1000" dirty="0">
                <a:solidFill>
                  <a:srgbClr val="9AA5B4"/>
                </a:solidFill>
                <a:latin typeface="Calibri" pitchFamily="34" charset="0"/>
                <a:ea typeface="Calibri" pitchFamily="34" charset="-122"/>
                <a:cs typeface="Calibri" pitchFamily="34" charset="-120"/>
              </a:rPr>
              <a:t>5</a:t>
            </a:r>
            <a:endParaRPr lang="en-US" sz="1000" dirty="0"/>
          </a:p>
        </p:txBody>
      </p:sp>
      <p:sp>
        <p:nvSpPr>
          <p:cNvPr id="17" name="Rectangle: Rounded Corners 16">
            <a:extLst>
              <a:ext uri="{FF2B5EF4-FFF2-40B4-BE49-F238E27FC236}">
                <a16:creationId xmlns:a16="http://schemas.microsoft.com/office/drawing/2014/main" id="{09F2E6B3-CCE0-3D19-0A1E-FC4602133481}"/>
              </a:ext>
            </a:extLst>
          </p:cNvPr>
          <p:cNvSpPr/>
          <p:nvPr/>
        </p:nvSpPr>
        <p:spPr>
          <a:xfrm>
            <a:off x="239776" y="3371222"/>
            <a:ext cx="757990" cy="361910"/>
          </a:xfrm>
          <a:prstGeom prst="roundRect">
            <a:avLst/>
          </a:prstGeom>
          <a:solidFill>
            <a:srgbClr val="00365B"/>
          </a:solidFill>
          <a:ln>
            <a:solidFill>
              <a:srgbClr val="1F5C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Hit IT Error</a:t>
            </a:r>
          </a:p>
        </p:txBody>
      </p:sp>
      <p:sp>
        <p:nvSpPr>
          <p:cNvPr id="20" name="Rectangle: Rounded Corners 19">
            <a:extLst>
              <a:ext uri="{FF2B5EF4-FFF2-40B4-BE49-F238E27FC236}">
                <a16:creationId xmlns:a16="http://schemas.microsoft.com/office/drawing/2014/main" id="{312B8064-082A-E206-EF5B-80E957763CCB}"/>
              </a:ext>
            </a:extLst>
          </p:cNvPr>
          <p:cNvSpPr/>
          <p:nvPr/>
        </p:nvSpPr>
        <p:spPr>
          <a:xfrm>
            <a:off x="1561646" y="3371222"/>
            <a:ext cx="757990" cy="3619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Complete App.</a:t>
            </a:r>
          </a:p>
        </p:txBody>
      </p:sp>
      <p:sp>
        <p:nvSpPr>
          <p:cNvPr id="22" name="Rectangle: Rounded Corners 21">
            <a:extLst>
              <a:ext uri="{FF2B5EF4-FFF2-40B4-BE49-F238E27FC236}">
                <a16:creationId xmlns:a16="http://schemas.microsoft.com/office/drawing/2014/main" id="{06894F98-BBE7-500C-1D4D-4FED397AE3E8}"/>
              </a:ext>
            </a:extLst>
          </p:cNvPr>
          <p:cNvSpPr/>
          <p:nvPr/>
        </p:nvSpPr>
        <p:spPr>
          <a:xfrm>
            <a:off x="2883516" y="3364471"/>
            <a:ext cx="757990" cy="361910"/>
          </a:xfrm>
          <a:prstGeom prst="roundRect">
            <a:avLst/>
          </a:prstGeom>
          <a:solidFill>
            <a:srgbClr val="534A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t>Issuance</a:t>
            </a:r>
          </a:p>
          <a:p>
            <a:pPr algn="ctr"/>
            <a:r>
              <a:rPr lang="en-US" sz="800" b="1" dirty="0"/>
              <a:t>(71%)</a:t>
            </a:r>
          </a:p>
        </p:txBody>
      </p:sp>
      <p:cxnSp>
        <p:nvCxnSpPr>
          <p:cNvPr id="24" name="Straight Arrow Connector 23">
            <a:extLst>
              <a:ext uri="{FF2B5EF4-FFF2-40B4-BE49-F238E27FC236}">
                <a16:creationId xmlns:a16="http://schemas.microsoft.com/office/drawing/2014/main" id="{413003BD-8D30-62E8-085D-92B5CD65487F}"/>
              </a:ext>
            </a:extLst>
          </p:cNvPr>
          <p:cNvCxnSpPr>
            <a:stCxn id="17" idx="3"/>
            <a:endCxn id="20" idx="1"/>
          </p:cNvCxnSpPr>
          <p:nvPr/>
        </p:nvCxnSpPr>
        <p:spPr>
          <a:xfrm>
            <a:off x="997766" y="3552177"/>
            <a:ext cx="5638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3B0012-0E5A-7F80-9F3C-FB4EFAF4CA83}"/>
              </a:ext>
            </a:extLst>
          </p:cNvPr>
          <p:cNvCxnSpPr/>
          <p:nvPr/>
        </p:nvCxnSpPr>
        <p:spPr>
          <a:xfrm>
            <a:off x="2319636" y="3545426"/>
            <a:ext cx="5638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83680BE-D426-E882-E9C8-0D2686CCEF80}"/>
              </a:ext>
            </a:extLst>
          </p:cNvPr>
          <p:cNvSpPr txBox="1"/>
          <p:nvPr/>
        </p:nvSpPr>
        <p:spPr>
          <a:xfrm>
            <a:off x="62475" y="5227899"/>
            <a:ext cx="5867082" cy="461665"/>
          </a:xfrm>
          <a:prstGeom prst="rect">
            <a:avLst/>
          </a:prstGeom>
          <a:noFill/>
        </p:spPr>
        <p:txBody>
          <a:bodyPr wrap="square">
            <a:spAutoFit/>
          </a:bodyPr>
          <a:lstStyle/>
          <a:p>
            <a:r>
              <a:rPr lang="en-US" sz="1200" b="1" dirty="0">
                <a:solidFill>
                  <a:srgbClr val="00365B"/>
                </a:solidFill>
              </a:rPr>
              <a:t>Conditioning: Same funnel position, split by error. The funnel can't explain the gap because I already removed it.   </a:t>
            </a:r>
          </a:p>
        </p:txBody>
      </p:sp>
      <p:sp>
        <p:nvSpPr>
          <p:cNvPr id="35" name="TextBox 34">
            <a:extLst>
              <a:ext uri="{FF2B5EF4-FFF2-40B4-BE49-F238E27FC236}">
                <a16:creationId xmlns:a16="http://schemas.microsoft.com/office/drawing/2014/main" id="{BE91338E-EFDF-B33D-3A15-125363DD2885}"/>
              </a:ext>
            </a:extLst>
          </p:cNvPr>
          <p:cNvSpPr txBox="1"/>
          <p:nvPr/>
        </p:nvSpPr>
        <p:spPr>
          <a:xfrm>
            <a:off x="123821" y="2967051"/>
            <a:ext cx="3262137" cy="246221"/>
          </a:xfrm>
          <a:prstGeom prst="rect">
            <a:avLst/>
          </a:prstGeom>
          <a:noFill/>
        </p:spPr>
        <p:txBody>
          <a:bodyPr wrap="square">
            <a:spAutoFit/>
          </a:bodyPr>
          <a:lstStyle/>
          <a:p>
            <a:r>
              <a:rPr lang="en-US" sz="1000" b="1" u="sng" dirty="0">
                <a:solidFill>
                  <a:srgbClr val="00365B"/>
                </a:solidFill>
              </a:rPr>
              <a:t>Draw it out</a:t>
            </a:r>
          </a:p>
        </p:txBody>
      </p:sp>
      <p:cxnSp>
        <p:nvCxnSpPr>
          <p:cNvPr id="37" name="Straight Connector 36">
            <a:extLst>
              <a:ext uri="{FF2B5EF4-FFF2-40B4-BE49-F238E27FC236}">
                <a16:creationId xmlns:a16="http://schemas.microsoft.com/office/drawing/2014/main" id="{86ED4638-B543-C027-8D3A-D9D08E1C1399}"/>
              </a:ext>
            </a:extLst>
          </p:cNvPr>
          <p:cNvCxnSpPr>
            <a:cxnSpLocks/>
          </p:cNvCxnSpPr>
          <p:nvPr/>
        </p:nvCxnSpPr>
        <p:spPr>
          <a:xfrm flipV="1">
            <a:off x="141302" y="2913501"/>
            <a:ext cx="5895474" cy="2755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5EF1AA0-F30F-58B0-E49F-FBBB420B5937}"/>
                  </a:ext>
                </a:extLst>
              </p:cNvPr>
              <p:cNvSpPr txBox="1"/>
              <p:nvPr/>
            </p:nvSpPr>
            <p:spPr>
              <a:xfrm>
                <a:off x="62475" y="4479221"/>
                <a:ext cx="5212080" cy="1754326"/>
              </a:xfrm>
              <a:prstGeom prst="rect">
                <a:avLst/>
              </a:prstGeom>
              <a:noFill/>
            </p:spPr>
            <p:txBody>
              <a:bodyPr wrap="square">
                <a:spAutoFit/>
              </a:bodyPr>
              <a:lstStyle/>
              <a:p>
                <a:r>
                  <a:rPr lang="en-US" sz="1200" b="1" dirty="0">
                    <a:solidFill>
                      <a:srgbClr val="00365B"/>
                    </a:solidFill>
                  </a:rPr>
                  <a:t>What IT's chain requires: Trap is </a:t>
                </a:r>
                <a:r>
                  <a:rPr lang="en-US" sz="1200" b="1" u="sng" dirty="0">
                    <a:solidFill>
                      <a:srgbClr val="00365B"/>
                    </a:solidFill>
                  </a:rPr>
                  <a:t>independent</a:t>
                </a:r>
                <a:r>
                  <a:rPr lang="en-US" sz="1200" b="1" dirty="0">
                    <a:solidFill>
                      <a:srgbClr val="00365B"/>
                    </a:solidFill>
                  </a:rPr>
                  <a:t> of Issuance, given App Complete</a:t>
                </a:r>
                <a:r>
                  <a:rPr lang="en-US" sz="800" b="1" dirty="0">
                    <a:solidFill>
                      <a:srgbClr val="00365B"/>
                    </a:solidFill>
                  </a:rPr>
                  <a:t>.</a:t>
                </a:r>
              </a:p>
              <a:p>
                <a:endParaRPr lang="en-US" sz="800" dirty="0"/>
              </a:p>
              <a:p>
                <a:r>
                  <a:rPr lang="en-US" sz="1200" b="1" dirty="0"/>
                  <a:t>Trap </a:t>
                </a:r>
                <a14:m>
                  <m:oMath xmlns:m="http://schemas.openxmlformats.org/officeDocument/2006/math">
                    <m:r>
                      <a:rPr lang="en-US" sz="1200" b="1" i="1" smtClean="0">
                        <a:latin typeface="Cambria Math" panose="02040503050406030204" pitchFamily="18" charset="0"/>
                      </a:rPr>
                      <m:t>⊥⊥</m:t>
                    </m:r>
                  </m:oMath>
                </a14:m>
                <a:r>
                  <a:rPr lang="en-US" sz="1200" b="1" dirty="0"/>
                  <a:t> Issuance | App Complete</a:t>
                </a:r>
                <a:r>
                  <a:rPr lang="en-US" sz="1200" dirty="0"/>
                  <a:t>. </a:t>
                </a:r>
                <a:r>
                  <a:rPr lang="en-US" sz="1200" i="1" dirty="0">
                    <a:solidFill>
                      <a:srgbClr val="720C27"/>
                    </a:solidFill>
                  </a:rPr>
                  <a:t>This says that once I know App Complete, Trap and Issuance  are independent. </a:t>
                </a:r>
              </a:p>
              <a:p>
                <a:endParaRPr lang="en-US" sz="1200" i="1" dirty="0">
                  <a:solidFill>
                    <a:srgbClr val="720C27"/>
                  </a:solidFill>
                </a:endParaRPr>
              </a:p>
              <a:p>
                <a:endParaRPr lang="en-US" sz="1000" dirty="0"/>
              </a:p>
              <a:p>
                <a:endParaRPr lang="en-US" sz="1000" dirty="0"/>
              </a:p>
              <a:p>
                <a:r>
                  <a:rPr lang="en-US" sz="1200" b="1" dirty="0">
                    <a:solidFill>
                      <a:srgbClr val="720C27"/>
                    </a:solidFill>
                  </a:rPr>
                  <a:t>The finding is that it fails:</a:t>
                </a:r>
              </a:p>
              <a:p>
                <a:r>
                  <a:rPr lang="en-US" sz="1200" b="1" dirty="0"/>
                  <a:t>Trap </a:t>
                </a:r>
                <a14:m>
                  <m:oMath xmlns:m="http://schemas.openxmlformats.org/officeDocument/2006/math">
                    <m:r>
                      <a:rPr lang="en-US" sz="1200" b="1" i="1">
                        <a:latin typeface="Cambria Math" panose="02040503050406030204" pitchFamily="18" charset="0"/>
                      </a:rPr>
                      <m:t>⊥⊥</m:t>
                    </m:r>
                  </m:oMath>
                </a14:m>
                <a:r>
                  <a:rPr lang="en-US" sz="1200" b="1" dirty="0"/>
                  <a:t> Issuance | App Complete</a:t>
                </a:r>
              </a:p>
              <a:p>
                <a:pPr rtl="0">
                  <a:buNone/>
                </a:pPr>
                <a:endParaRPr lang="en-US" sz="800" dirty="0"/>
              </a:p>
            </p:txBody>
          </p:sp>
        </mc:Choice>
        <mc:Fallback xmlns="">
          <p:sp>
            <p:nvSpPr>
              <p:cNvPr id="40" name="TextBox 39">
                <a:extLst>
                  <a:ext uri="{FF2B5EF4-FFF2-40B4-BE49-F238E27FC236}">
                    <a16:creationId xmlns:a16="http://schemas.microsoft.com/office/drawing/2014/main" id="{25EF1AA0-F30F-58B0-E49F-FBBB420B5937}"/>
                  </a:ext>
                </a:extLst>
              </p:cNvPr>
              <p:cNvSpPr txBox="1">
                <a:spLocks noRot="1" noChangeAspect="1" noMove="1" noResize="1" noEditPoints="1" noAdjustHandles="1" noChangeArrowheads="1" noChangeShapeType="1" noTextEdit="1"/>
              </p:cNvSpPr>
              <p:nvPr/>
            </p:nvSpPr>
            <p:spPr>
              <a:xfrm>
                <a:off x="62475" y="4479221"/>
                <a:ext cx="5212080" cy="1754326"/>
              </a:xfrm>
              <a:prstGeom prst="rect">
                <a:avLst/>
              </a:prstGeom>
              <a:blipFill>
                <a:blip r:embed="rId4"/>
                <a:stretch>
                  <a:fillRect t="-347"/>
                </a:stretch>
              </a:blipFill>
            </p:spPr>
            <p:txBody>
              <a:bodyPr/>
              <a:lstStyle/>
              <a:p>
                <a:r>
                  <a:rPr lang="en-US">
                    <a:noFill/>
                  </a:rPr>
                  <a:t> </a:t>
                </a:r>
              </a:p>
            </p:txBody>
          </p:sp>
        </mc:Fallback>
      </mc:AlternateContent>
      <p:cxnSp>
        <p:nvCxnSpPr>
          <p:cNvPr id="42" name="Straight Connector 41">
            <a:extLst>
              <a:ext uri="{FF2B5EF4-FFF2-40B4-BE49-F238E27FC236}">
                <a16:creationId xmlns:a16="http://schemas.microsoft.com/office/drawing/2014/main" id="{68B8C104-299A-22B1-3618-1846342009D1}"/>
              </a:ext>
            </a:extLst>
          </p:cNvPr>
          <p:cNvCxnSpPr>
            <a:cxnSpLocks/>
          </p:cNvCxnSpPr>
          <p:nvPr/>
        </p:nvCxnSpPr>
        <p:spPr>
          <a:xfrm>
            <a:off x="514014" y="5934843"/>
            <a:ext cx="102268" cy="55013"/>
          </a:xfrm>
          <a:prstGeom prst="line">
            <a:avLst/>
          </a:prstGeom>
          <a:ln>
            <a:solidFill>
              <a:srgbClr val="720C27"/>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3102EEC-06E0-7D7B-747B-299D7F388DD8}"/>
              </a:ext>
            </a:extLst>
          </p:cNvPr>
          <p:cNvSpPr txBox="1"/>
          <p:nvPr/>
        </p:nvSpPr>
        <p:spPr>
          <a:xfrm>
            <a:off x="62475" y="6077087"/>
            <a:ext cx="6637711" cy="646331"/>
          </a:xfrm>
          <a:prstGeom prst="rect">
            <a:avLst/>
          </a:prstGeom>
          <a:noFill/>
        </p:spPr>
        <p:txBody>
          <a:bodyPr wrap="square">
            <a:spAutoFit/>
          </a:bodyPr>
          <a:lstStyle/>
          <a:p>
            <a:r>
              <a:rPr lang="en-US" sz="1200" b="1" u="sng" dirty="0">
                <a:solidFill>
                  <a:srgbClr val="00365B"/>
                </a:solidFill>
              </a:rPr>
              <a:t>Key takeaway:</a:t>
            </a:r>
          </a:p>
          <a:p>
            <a:r>
              <a:rPr lang="en-US" sz="1200" b="1" dirty="0">
                <a:solidFill>
                  <a:srgbClr val="00365B"/>
                </a:solidFill>
              </a:rPr>
              <a:t>There’s a connection left after accounting for everything else in the model.</a:t>
            </a:r>
            <a:r>
              <a:rPr lang="en-US" sz="1200" dirty="0">
                <a:solidFill>
                  <a:srgbClr val="00365B"/>
                </a:solidFill>
              </a:rPr>
              <a:t> </a:t>
            </a:r>
            <a:r>
              <a:rPr lang="en-US" sz="1200" b="1" dirty="0">
                <a:solidFill>
                  <a:srgbClr val="00365B"/>
                </a:solidFill>
              </a:rPr>
              <a:t>The funnel variables don't explain it away.</a:t>
            </a:r>
            <a:r>
              <a:rPr lang="en-US" sz="1200" dirty="0"/>
              <a:t> </a:t>
            </a:r>
            <a:endParaRPr lang="en-US" sz="1200" dirty="0">
              <a:solidFill>
                <a:srgbClr val="086B94"/>
              </a:solidFill>
            </a:endParaRPr>
          </a:p>
        </p:txBody>
      </p:sp>
      <p:sp>
        <p:nvSpPr>
          <p:cNvPr id="19" name="Rectangle: Rounded Corners 18">
            <a:extLst>
              <a:ext uri="{FF2B5EF4-FFF2-40B4-BE49-F238E27FC236}">
                <a16:creationId xmlns:a16="http://schemas.microsoft.com/office/drawing/2014/main" id="{52B830EF-11BB-F4CF-4E85-241BAF514FA9}"/>
              </a:ext>
            </a:extLst>
          </p:cNvPr>
          <p:cNvSpPr/>
          <p:nvPr/>
        </p:nvSpPr>
        <p:spPr>
          <a:xfrm>
            <a:off x="206139" y="4024172"/>
            <a:ext cx="757990" cy="361910"/>
          </a:xfrm>
          <a:prstGeom prst="roundRect">
            <a:avLst/>
          </a:prstGeom>
          <a:solidFill>
            <a:srgbClr val="00365B"/>
          </a:solidFill>
          <a:ln>
            <a:solidFill>
              <a:srgbClr val="1F5C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No  IT Error</a:t>
            </a:r>
          </a:p>
        </p:txBody>
      </p:sp>
      <p:sp>
        <p:nvSpPr>
          <p:cNvPr id="21" name="Rectangle: Rounded Corners 20">
            <a:extLst>
              <a:ext uri="{FF2B5EF4-FFF2-40B4-BE49-F238E27FC236}">
                <a16:creationId xmlns:a16="http://schemas.microsoft.com/office/drawing/2014/main" id="{DB33F463-7A39-C748-6B27-84290698E8A7}"/>
              </a:ext>
            </a:extLst>
          </p:cNvPr>
          <p:cNvSpPr/>
          <p:nvPr/>
        </p:nvSpPr>
        <p:spPr>
          <a:xfrm>
            <a:off x="1559759" y="4024172"/>
            <a:ext cx="757990" cy="3619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Complete App.</a:t>
            </a:r>
          </a:p>
        </p:txBody>
      </p:sp>
      <p:cxnSp>
        <p:nvCxnSpPr>
          <p:cNvPr id="26" name="Straight Arrow Connector 25">
            <a:extLst>
              <a:ext uri="{FF2B5EF4-FFF2-40B4-BE49-F238E27FC236}">
                <a16:creationId xmlns:a16="http://schemas.microsoft.com/office/drawing/2014/main" id="{C5E13B1B-9741-FC30-ADD3-B2B8DC5CC2BE}"/>
              </a:ext>
            </a:extLst>
          </p:cNvPr>
          <p:cNvCxnSpPr>
            <a:stCxn id="19" idx="3"/>
            <a:endCxn id="21" idx="1"/>
          </p:cNvCxnSpPr>
          <p:nvPr/>
        </p:nvCxnSpPr>
        <p:spPr>
          <a:xfrm>
            <a:off x="964129" y="4205127"/>
            <a:ext cx="5956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1073E7C-408F-3722-9958-BBE95FB83669}"/>
              </a:ext>
            </a:extLst>
          </p:cNvPr>
          <p:cNvCxnSpPr/>
          <p:nvPr/>
        </p:nvCxnSpPr>
        <p:spPr>
          <a:xfrm>
            <a:off x="2285999" y="4198376"/>
            <a:ext cx="5638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22E4D275-1619-D835-B909-52B37BA07299}"/>
              </a:ext>
            </a:extLst>
          </p:cNvPr>
          <p:cNvSpPr/>
          <p:nvPr/>
        </p:nvSpPr>
        <p:spPr>
          <a:xfrm>
            <a:off x="2883516" y="4019536"/>
            <a:ext cx="757990" cy="361910"/>
          </a:xfrm>
          <a:prstGeom prst="roundRect">
            <a:avLst/>
          </a:prstGeom>
          <a:solidFill>
            <a:srgbClr val="534A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t>Issuance (87%)</a:t>
            </a:r>
          </a:p>
        </p:txBody>
      </p:sp>
      <p:cxnSp>
        <p:nvCxnSpPr>
          <p:cNvPr id="41" name="Straight Connector 40">
            <a:extLst>
              <a:ext uri="{FF2B5EF4-FFF2-40B4-BE49-F238E27FC236}">
                <a16:creationId xmlns:a16="http://schemas.microsoft.com/office/drawing/2014/main" id="{857808CB-47F4-7517-0295-369D16A30BDB}"/>
              </a:ext>
            </a:extLst>
          </p:cNvPr>
          <p:cNvCxnSpPr>
            <a:stCxn id="20" idx="2"/>
            <a:endCxn id="21" idx="0"/>
          </p:cNvCxnSpPr>
          <p:nvPr/>
        </p:nvCxnSpPr>
        <p:spPr>
          <a:xfrm flipH="1">
            <a:off x="1938754" y="3733132"/>
            <a:ext cx="1887" cy="291040"/>
          </a:xfrm>
          <a:prstGeom prst="line">
            <a:avLst/>
          </a:prstGeom>
          <a:ln>
            <a:solidFill>
              <a:srgbClr val="00365B"/>
            </a:solidFill>
            <a:prstDash val="dashDot"/>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230CA50-F728-77AB-4051-206162BA5CCA}"/>
              </a:ext>
            </a:extLst>
          </p:cNvPr>
          <p:cNvSpPr txBox="1"/>
          <p:nvPr/>
        </p:nvSpPr>
        <p:spPr>
          <a:xfrm>
            <a:off x="201859" y="3159378"/>
            <a:ext cx="3262137" cy="230832"/>
          </a:xfrm>
          <a:prstGeom prst="rect">
            <a:avLst/>
          </a:prstGeom>
          <a:noFill/>
        </p:spPr>
        <p:txBody>
          <a:bodyPr wrap="square">
            <a:spAutoFit/>
          </a:bodyPr>
          <a:lstStyle/>
          <a:p>
            <a:r>
              <a:rPr lang="en-US" sz="900" b="1" u="sng" dirty="0">
                <a:solidFill>
                  <a:srgbClr val="00365B"/>
                </a:solidFill>
              </a:rPr>
              <a:t>Path 1: </a:t>
            </a:r>
            <a:r>
              <a:rPr lang="en-US" sz="800" b="1" dirty="0">
                <a:solidFill>
                  <a:srgbClr val="720C27"/>
                </a:solidFill>
                <a:latin typeface="Arial" panose="020B0604020202020204" pitchFamily="34" charset="0"/>
                <a:cs typeface="Arial" panose="020B0604020202020204" pitchFamily="34" charset="0"/>
              </a:rPr>
              <a:t>Trapped Flow</a:t>
            </a:r>
            <a:endParaRPr lang="en-US" sz="800" b="1" u="sng" dirty="0">
              <a:solidFill>
                <a:srgbClr val="720C27"/>
              </a:solidFill>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D96A9E17-9314-6F22-9EC2-7D5289930EC6}"/>
              </a:ext>
            </a:extLst>
          </p:cNvPr>
          <p:cNvSpPr txBox="1"/>
          <p:nvPr/>
        </p:nvSpPr>
        <p:spPr>
          <a:xfrm>
            <a:off x="141302" y="3807900"/>
            <a:ext cx="3262137" cy="230832"/>
          </a:xfrm>
          <a:prstGeom prst="rect">
            <a:avLst/>
          </a:prstGeom>
          <a:noFill/>
        </p:spPr>
        <p:txBody>
          <a:bodyPr wrap="square">
            <a:spAutoFit/>
          </a:bodyPr>
          <a:lstStyle/>
          <a:p>
            <a:r>
              <a:rPr lang="en-US" sz="900" b="1" u="sng" dirty="0">
                <a:solidFill>
                  <a:srgbClr val="00365B"/>
                </a:solidFill>
              </a:rPr>
              <a:t>Path 2: </a:t>
            </a:r>
            <a:r>
              <a:rPr lang="en-US" sz="900" b="1" dirty="0">
                <a:solidFill>
                  <a:srgbClr val="496A7A"/>
                </a:solidFill>
              </a:rPr>
              <a:t>Clean Flow</a:t>
            </a:r>
          </a:p>
        </p:txBody>
      </p:sp>
      <p:sp>
        <p:nvSpPr>
          <p:cNvPr id="50" name="TextBox 49">
            <a:extLst>
              <a:ext uri="{FF2B5EF4-FFF2-40B4-BE49-F238E27FC236}">
                <a16:creationId xmlns:a16="http://schemas.microsoft.com/office/drawing/2014/main" id="{33D6ECA4-192B-EAD8-2058-D565BF4AB023}"/>
              </a:ext>
            </a:extLst>
          </p:cNvPr>
          <p:cNvSpPr txBox="1"/>
          <p:nvPr/>
        </p:nvSpPr>
        <p:spPr>
          <a:xfrm>
            <a:off x="2108869" y="3695092"/>
            <a:ext cx="1509173" cy="338554"/>
          </a:xfrm>
          <a:prstGeom prst="rect">
            <a:avLst/>
          </a:prstGeom>
          <a:noFill/>
        </p:spPr>
        <p:txBody>
          <a:bodyPr wrap="square">
            <a:spAutoFit/>
          </a:bodyPr>
          <a:lstStyle/>
          <a:p>
            <a:r>
              <a:rPr lang="en-US" sz="800" b="1" u="sng" dirty="0">
                <a:solidFill>
                  <a:srgbClr val="720C27"/>
                </a:solidFill>
              </a:rPr>
              <a:t>IT only looks here and assumes the two states are identical</a:t>
            </a:r>
          </a:p>
        </p:txBody>
      </p:sp>
      <p:cxnSp>
        <p:nvCxnSpPr>
          <p:cNvPr id="52" name="Straight Arrow Connector 51">
            <a:extLst>
              <a:ext uri="{FF2B5EF4-FFF2-40B4-BE49-F238E27FC236}">
                <a16:creationId xmlns:a16="http://schemas.microsoft.com/office/drawing/2014/main" id="{A759ED21-9DDA-8DD1-8049-B8AC4F24BF3B}"/>
              </a:ext>
            </a:extLst>
          </p:cNvPr>
          <p:cNvCxnSpPr>
            <a:cxnSpLocks/>
          </p:cNvCxnSpPr>
          <p:nvPr/>
        </p:nvCxnSpPr>
        <p:spPr>
          <a:xfrm flipH="1">
            <a:off x="1975837" y="3833388"/>
            <a:ext cx="1465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DABB70FA-D3C2-8187-6FF0-F941E289CBEF}"/>
              </a:ext>
            </a:extLst>
          </p:cNvPr>
          <p:cNvSpPr txBox="1"/>
          <p:nvPr/>
        </p:nvSpPr>
        <p:spPr>
          <a:xfrm>
            <a:off x="3801043" y="3792099"/>
            <a:ext cx="6096000" cy="230832"/>
          </a:xfrm>
          <a:prstGeom prst="rect">
            <a:avLst/>
          </a:prstGeom>
          <a:noFill/>
        </p:spPr>
        <p:txBody>
          <a:bodyPr wrap="square">
            <a:spAutoFit/>
          </a:bodyPr>
          <a:lstStyle/>
          <a:p>
            <a:r>
              <a:rPr lang="en-US" sz="900" dirty="0">
                <a:solidFill>
                  <a:srgbClr val="496A7A"/>
                </a:solidFill>
                <a:latin typeface="Arial" panose="020B0604020202020204" pitchFamily="34" charset="0"/>
                <a:cs typeface="Arial" panose="020B0604020202020204" pitchFamily="34" charset="0"/>
              </a:rPr>
              <a:t>This delta (-16pp) is  γ</a:t>
            </a:r>
          </a:p>
        </p:txBody>
      </p:sp>
      <p:sp>
        <p:nvSpPr>
          <p:cNvPr id="61" name="Right Brace 60">
            <a:extLst>
              <a:ext uri="{FF2B5EF4-FFF2-40B4-BE49-F238E27FC236}">
                <a16:creationId xmlns:a16="http://schemas.microsoft.com/office/drawing/2014/main" id="{993BB507-256C-4EB0-12EA-D9D416BC8F17}"/>
              </a:ext>
            </a:extLst>
          </p:cNvPr>
          <p:cNvSpPr/>
          <p:nvPr/>
        </p:nvSpPr>
        <p:spPr>
          <a:xfrm>
            <a:off x="3675143" y="3545426"/>
            <a:ext cx="174962" cy="722159"/>
          </a:xfrm>
          <a:prstGeom prst="rightBrace">
            <a:avLst/>
          </a:prstGeom>
          <a:ln>
            <a:solidFill>
              <a:srgbClr val="534AB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3ABF555B-B79E-769A-6B64-4EB82D883379}"/>
              </a:ext>
            </a:extLst>
          </p:cNvPr>
          <p:cNvSpPr txBox="1"/>
          <p:nvPr/>
        </p:nvSpPr>
        <p:spPr>
          <a:xfrm>
            <a:off x="6713293" y="4382502"/>
            <a:ext cx="5523520" cy="461665"/>
          </a:xfrm>
          <a:prstGeom prst="rect">
            <a:avLst/>
          </a:prstGeom>
          <a:noFill/>
        </p:spPr>
        <p:txBody>
          <a:bodyPr wrap="square">
            <a:spAutoFit/>
          </a:bodyPr>
          <a:lstStyle/>
          <a:p>
            <a:r>
              <a:rPr lang="en-US" sz="1200" b="1" dirty="0">
                <a:solidFill>
                  <a:srgbClr val="086B94"/>
                </a:solidFill>
              </a:rPr>
              <a:t>I took the trap out and ran what they believed 50,000 times. The closest it ever came was 809. Reality was 768. Their model can't produce what actually happened.</a:t>
            </a:r>
            <a:endParaRPr lang="en-US" b="1" dirty="0"/>
          </a:p>
        </p:txBody>
      </p:sp>
    </p:spTree>
    <p:extLst>
      <p:ext uri="{BB962C8B-B14F-4D97-AF65-F5344CB8AC3E}">
        <p14:creationId xmlns:p14="http://schemas.microsoft.com/office/powerpoint/2010/main" val="3841528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24369-8613-59E7-F2F6-F3EAC3897AE3}"/>
            </a:ext>
          </a:extLst>
        </p:cNvPr>
        <p:cNvGrpSpPr/>
        <p:nvPr/>
      </p:nvGrpSpPr>
      <p:grpSpPr>
        <a:xfrm>
          <a:off x="0" y="0"/>
          <a:ext cx="0" cy="0"/>
          <a:chOff x="0" y="0"/>
          <a:chExt cx="0" cy="0"/>
        </a:xfrm>
      </p:grpSpPr>
      <p:sp>
        <p:nvSpPr>
          <p:cNvPr id="451" name="Rectangle: Rounded Corners 450">
            <a:extLst>
              <a:ext uri="{FF2B5EF4-FFF2-40B4-BE49-F238E27FC236}">
                <a16:creationId xmlns:a16="http://schemas.microsoft.com/office/drawing/2014/main" id="{E053E248-6918-C605-E246-D1F3AD19C5E5}"/>
              </a:ext>
            </a:extLst>
          </p:cNvPr>
          <p:cNvSpPr/>
          <p:nvPr/>
        </p:nvSpPr>
        <p:spPr>
          <a:xfrm flipH="1">
            <a:off x="6474611" y="543332"/>
            <a:ext cx="5668411" cy="5162493"/>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0">
            <a:extLst>
              <a:ext uri="{FF2B5EF4-FFF2-40B4-BE49-F238E27FC236}">
                <a16:creationId xmlns:a16="http://schemas.microsoft.com/office/drawing/2014/main" id="{10865D1F-DC34-6F0C-F944-8D2A67825F71}"/>
              </a:ext>
            </a:extLst>
          </p:cNvPr>
          <p:cNvSpPr txBox="1"/>
          <p:nvPr/>
        </p:nvSpPr>
        <p:spPr>
          <a:xfrm>
            <a:off x="0" y="-256643"/>
            <a:ext cx="13374273" cy="777240"/>
          </a:xfrm>
          <a:prstGeom prst="rect">
            <a:avLst/>
          </a:prstGeom>
          <a:noFill/>
          <a:ln/>
        </p:spPr>
        <p:txBody>
          <a:bodyPr wrap="square" rtlCol="0" anchor="ctr"/>
          <a:lstStyle/>
          <a:p>
            <a:r>
              <a:rPr lang="en-US" sz="3000" b="1" dirty="0">
                <a:solidFill>
                  <a:srgbClr val="1B2A4A"/>
                </a:solidFill>
                <a:latin typeface="Cambria" pitchFamily="34" charset="0"/>
                <a:ea typeface="Cambria" pitchFamily="34" charset="-122"/>
                <a:cs typeface="Cambria" pitchFamily="34" charset="-120"/>
              </a:rPr>
              <a:t>The leak is invisible in a correlation matrix  </a:t>
            </a:r>
            <a:r>
              <a:rPr lang="en-US" sz="1600" dirty="0"/>
              <a:t>The correlation matrix makes it look like nothing</a:t>
            </a:r>
          </a:p>
        </p:txBody>
      </p:sp>
      <p:sp>
        <p:nvSpPr>
          <p:cNvPr id="23" name="Rectangle: Rounded Corners 22">
            <a:extLst>
              <a:ext uri="{FF2B5EF4-FFF2-40B4-BE49-F238E27FC236}">
                <a16:creationId xmlns:a16="http://schemas.microsoft.com/office/drawing/2014/main" id="{09FFDF19-DB5B-6C3B-BBB0-CF8D7BE60FBE}"/>
              </a:ext>
            </a:extLst>
          </p:cNvPr>
          <p:cNvSpPr/>
          <p:nvPr/>
        </p:nvSpPr>
        <p:spPr>
          <a:xfrm flipH="1">
            <a:off x="0" y="423156"/>
            <a:ext cx="6448441" cy="6149765"/>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00000</a:t>
            </a:r>
          </a:p>
        </p:txBody>
      </p:sp>
      <p:sp>
        <p:nvSpPr>
          <p:cNvPr id="27" name="TextBox 26">
            <a:extLst>
              <a:ext uri="{FF2B5EF4-FFF2-40B4-BE49-F238E27FC236}">
                <a16:creationId xmlns:a16="http://schemas.microsoft.com/office/drawing/2014/main" id="{8CD6E4DC-23EC-B3CB-BA68-C49DD9A493EB}"/>
              </a:ext>
            </a:extLst>
          </p:cNvPr>
          <p:cNvSpPr txBox="1"/>
          <p:nvPr/>
        </p:nvSpPr>
        <p:spPr>
          <a:xfrm>
            <a:off x="160046" y="1716506"/>
            <a:ext cx="530915" cy="246221"/>
          </a:xfrm>
          <a:prstGeom prst="rect">
            <a:avLst/>
          </a:prstGeom>
          <a:solidFill>
            <a:srgbClr val="F7F7F7"/>
          </a:solidFill>
        </p:spPr>
        <p:txBody>
          <a:bodyPr wrap="none" rtlCol="0">
            <a:spAutoFit/>
          </a:bodyPr>
          <a:lstStyle/>
          <a:p>
            <a:r>
              <a:rPr lang="en-US" sz="1000" b="1" dirty="0"/>
              <a:t>STORE</a:t>
            </a:r>
            <a:endParaRPr lang="en-US" sz="1000" b="1" baseline="-25000" dirty="0"/>
          </a:p>
        </p:txBody>
      </p:sp>
      <p:sp>
        <p:nvSpPr>
          <p:cNvPr id="29" name="TextBox 28">
            <a:extLst>
              <a:ext uri="{FF2B5EF4-FFF2-40B4-BE49-F238E27FC236}">
                <a16:creationId xmlns:a16="http://schemas.microsoft.com/office/drawing/2014/main" id="{3D8F8F1C-0038-7FA3-3A52-9F6DEFC76BD8}"/>
              </a:ext>
            </a:extLst>
          </p:cNvPr>
          <p:cNvSpPr txBox="1"/>
          <p:nvPr/>
        </p:nvSpPr>
        <p:spPr>
          <a:xfrm>
            <a:off x="150428" y="3080498"/>
            <a:ext cx="575799" cy="246221"/>
          </a:xfrm>
          <a:prstGeom prst="rect">
            <a:avLst/>
          </a:prstGeom>
          <a:solidFill>
            <a:srgbClr val="F7F7F7"/>
          </a:solidFill>
        </p:spPr>
        <p:txBody>
          <a:bodyPr wrap="none" rtlCol="0">
            <a:spAutoFit/>
          </a:bodyPr>
          <a:lstStyle/>
          <a:p>
            <a:r>
              <a:rPr lang="en-US" sz="1000" b="1" dirty="0"/>
              <a:t>QCMPL</a:t>
            </a:r>
            <a:endParaRPr lang="en-US" sz="1000" b="1" baseline="-25000" dirty="0"/>
          </a:p>
        </p:txBody>
      </p:sp>
      <p:sp>
        <p:nvSpPr>
          <p:cNvPr id="31" name="TextBox 30">
            <a:extLst>
              <a:ext uri="{FF2B5EF4-FFF2-40B4-BE49-F238E27FC236}">
                <a16:creationId xmlns:a16="http://schemas.microsoft.com/office/drawing/2014/main" id="{52676749-5653-0E70-63D2-27791E9198D6}"/>
              </a:ext>
            </a:extLst>
          </p:cNvPr>
          <p:cNvSpPr txBox="1"/>
          <p:nvPr/>
        </p:nvSpPr>
        <p:spPr>
          <a:xfrm>
            <a:off x="130415" y="2384114"/>
            <a:ext cx="534121" cy="246221"/>
          </a:xfrm>
          <a:prstGeom prst="rect">
            <a:avLst/>
          </a:prstGeom>
          <a:noFill/>
        </p:spPr>
        <p:txBody>
          <a:bodyPr wrap="none" rtlCol="0">
            <a:spAutoFit/>
          </a:bodyPr>
          <a:lstStyle/>
          <a:p>
            <a:r>
              <a:rPr lang="en-US" sz="1000" b="1" dirty="0"/>
              <a:t>QSTRT</a:t>
            </a:r>
            <a:endParaRPr lang="en-US" sz="1000" b="1" baseline="-25000" dirty="0"/>
          </a:p>
        </p:txBody>
      </p:sp>
      <p:sp>
        <p:nvSpPr>
          <p:cNvPr id="41" name="TextBox 40">
            <a:extLst>
              <a:ext uri="{FF2B5EF4-FFF2-40B4-BE49-F238E27FC236}">
                <a16:creationId xmlns:a16="http://schemas.microsoft.com/office/drawing/2014/main" id="{A3EDECFF-6E9F-B7BC-B9E0-FAC5964BA896}"/>
              </a:ext>
            </a:extLst>
          </p:cNvPr>
          <p:cNvSpPr txBox="1"/>
          <p:nvPr/>
        </p:nvSpPr>
        <p:spPr>
          <a:xfrm>
            <a:off x="2230920" y="200541"/>
            <a:ext cx="2000484" cy="369332"/>
          </a:xfrm>
          <a:prstGeom prst="rect">
            <a:avLst/>
          </a:prstGeom>
          <a:noFill/>
        </p:spPr>
        <p:txBody>
          <a:bodyPr wrap="none" rtlCol="0">
            <a:spAutoFit/>
          </a:bodyPr>
          <a:lstStyle/>
          <a:p>
            <a:r>
              <a:rPr lang="en-US" b="1" u="sng" dirty="0"/>
              <a:t>Correlation Matrix</a:t>
            </a:r>
          </a:p>
        </p:txBody>
      </p:sp>
      <p:sp>
        <p:nvSpPr>
          <p:cNvPr id="109" name="Rectangle: Rounded Corners 108">
            <a:extLst>
              <a:ext uri="{FF2B5EF4-FFF2-40B4-BE49-F238E27FC236}">
                <a16:creationId xmlns:a16="http://schemas.microsoft.com/office/drawing/2014/main" id="{4D8AF344-C771-0653-7F5F-8DD352A1188C}"/>
              </a:ext>
            </a:extLst>
          </p:cNvPr>
          <p:cNvSpPr/>
          <p:nvPr/>
        </p:nvSpPr>
        <p:spPr>
          <a:xfrm>
            <a:off x="5356414" y="876669"/>
            <a:ext cx="616792" cy="641718"/>
          </a:xfrm>
          <a:prstGeom prst="roundRect">
            <a:avLst/>
          </a:prstGeom>
          <a:solidFill>
            <a:srgbClr val="89B8D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-.059</a:t>
            </a:r>
          </a:p>
        </p:txBody>
      </p:sp>
      <p:sp>
        <p:nvSpPr>
          <p:cNvPr id="127" name="Rectangle: Rounded Corners 126">
            <a:extLst>
              <a:ext uri="{FF2B5EF4-FFF2-40B4-BE49-F238E27FC236}">
                <a16:creationId xmlns:a16="http://schemas.microsoft.com/office/drawing/2014/main" id="{C8D7A3F4-9297-CD49-72F9-A7238F3BF55F}"/>
              </a:ext>
            </a:extLst>
          </p:cNvPr>
          <p:cNvSpPr/>
          <p:nvPr/>
        </p:nvSpPr>
        <p:spPr>
          <a:xfrm>
            <a:off x="5356414" y="1566549"/>
            <a:ext cx="616792" cy="641718"/>
          </a:xfrm>
          <a:prstGeom prst="roundRect">
            <a:avLst/>
          </a:prstGeom>
          <a:solidFill>
            <a:schemeClr val="bg1">
              <a:lumMod val="95000"/>
            </a:schemeClr>
          </a:solidFill>
          <a:ln w="28575">
            <a:solidFill>
              <a:srgbClr val="0036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t>
            </a:r>
            <a:r>
              <a:rPr lang="en-US" sz="1000" dirty="0">
                <a:solidFill>
                  <a:schemeClr val="tx1"/>
                </a:solidFill>
              </a:rPr>
              <a:t>122</a:t>
            </a:r>
          </a:p>
        </p:txBody>
      </p:sp>
      <p:sp>
        <p:nvSpPr>
          <p:cNvPr id="143" name="Rectangle: Rounded Corners 142">
            <a:extLst>
              <a:ext uri="{FF2B5EF4-FFF2-40B4-BE49-F238E27FC236}">
                <a16:creationId xmlns:a16="http://schemas.microsoft.com/office/drawing/2014/main" id="{D28F2545-C5FA-6DEC-D98B-ACC987D62C5C}"/>
              </a:ext>
            </a:extLst>
          </p:cNvPr>
          <p:cNvSpPr/>
          <p:nvPr/>
        </p:nvSpPr>
        <p:spPr>
          <a:xfrm>
            <a:off x="5356414" y="2256429"/>
            <a:ext cx="616792" cy="64171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.343</a:t>
            </a:r>
          </a:p>
        </p:txBody>
      </p:sp>
      <p:sp>
        <p:nvSpPr>
          <p:cNvPr id="159" name="Rectangle: Rounded Corners 158">
            <a:extLst>
              <a:ext uri="{FF2B5EF4-FFF2-40B4-BE49-F238E27FC236}">
                <a16:creationId xmlns:a16="http://schemas.microsoft.com/office/drawing/2014/main" id="{00A0FA2A-D32E-7B16-AE84-316E70DEE2B6}"/>
              </a:ext>
            </a:extLst>
          </p:cNvPr>
          <p:cNvSpPr/>
          <p:nvPr/>
        </p:nvSpPr>
        <p:spPr>
          <a:xfrm>
            <a:off x="5356414" y="2946309"/>
            <a:ext cx="616792" cy="641718"/>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.510</a:t>
            </a:r>
          </a:p>
        </p:txBody>
      </p:sp>
      <p:sp>
        <p:nvSpPr>
          <p:cNvPr id="175" name="TextBox 174">
            <a:extLst>
              <a:ext uri="{FF2B5EF4-FFF2-40B4-BE49-F238E27FC236}">
                <a16:creationId xmlns:a16="http://schemas.microsoft.com/office/drawing/2014/main" id="{572AB156-57C9-0F44-5034-2CE5955DAC4A}"/>
              </a:ext>
            </a:extLst>
          </p:cNvPr>
          <p:cNvSpPr txBox="1"/>
          <p:nvPr/>
        </p:nvSpPr>
        <p:spPr>
          <a:xfrm>
            <a:off x="113895" y="4460871"/>
            <a:ext cx="564578" cy="246221"/>
          </a:xfrm>
          <a:prstGeom prst="rect">
            <a:avLst/>
          </a:prstGeom>
          <a:solidFill>
            <a:srgbClr val="F7F7F7"/>
          </a:solidFill>
        </p:spPr>
        <p:txBody>
          <a:bodyPr wrap="none" rtlCol="0">
            <a:spAutoFit/>
          </a:bodyPr>
          <a:lstStyle/>
          <a:p>
            <a:r>
              <a:rPr lang="en-US" sz="1000" b="1" dirty="0"/>
              <a:t>ACMPL</a:t>
            </a:r>
            <a:endParaRPr lang="en-US" sz="1000" b="1" baseline="-25000" dirty="0"/>
          </a:p>
        </p:txBody>
      </p:sp>
      <p:sp>
        <p:nvSpPr>
          <p:cNvPr id="177" name="TextBox 176">
            <a:extLst>
              <a:ext uri="{FF2B5EF4-FFF2-40B4-BE49-F238E27FC236}">
                <a16:creationId xmlns:a16="http://schemas.microsoft.com/office/drawing/2014/main" id="{DB43DBDA-35D0-9C57-47BD-17222A565112}"/>
              </a:ext>
            </a:extLst>
          </p:cNvPr>
          <p:cNvSpPr txBox="1"/>
          <p:nvPr/>
        </p:nvSpPr>
        <p:spPr>
          <a:xfrm>
            <a:off x="93882" y="3764487"/>
            <a:ext cx="522900" cy="246221"/>
          </a:xfrm>
          <a:prstGeom prst="rect">
            <a:avLst/>
          </a:prstGeom>
          <a:noFill/>
        </p:spPr>
        <p:txBody>
          <a:bodyPr wrap="none" rtlCol="0">
            <a:spAutoFit/>
          </a:bodyPr>
          <a:lstStyle/>
          <a:p>
            <a:r>
              <a:rPr lang="en-US" sz="1000" b="1" dirty="0"/>
              <a:t>ASTRT</a:t>
            </a:r>
            <a:endParaRPr lang="en-US" sz="1000" b="1" baseline="-25000" dirty="0"/>
          </a:p>
        </p:txBody>
      </p:sp>
      <p:sp>
        <p:nvSpPr>
          <p:cNvPr id="211" name="Rectangle: Rounded Corners 210">
            <a:extLst>
              <a:ext uri="{FF2B5EF4-FFF2-40B4-BE49-F238E27FC236}">
                <a16:creationId xmlns:a16="http://schemas.microsoft.com/office/drawing/2014/main" id="{FF28D841-24EC-7C97-3868-2A985F5F0E6A}"/>
              </a:ext>
            </a:extLst>
          </p:cNvPr>
          <p:cNvSpPr/>
          <p:nvPr/>
        </p:nvSpPr>
        <p:spPr>
          <a:xfrm>
            <a:off x="5356414" y="363618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.700</a:t>
            </a:r>
          </a:p>
        </p:txBody>
      </p:sp>
      <p:sp>
        <p:nvSpPr>
          <p:cNvPr id="227" name="Rectangle: Rounded Corners 226">
            <a:extLst>
              <a:ext uri="{FF2B5EF4-FFF2-40B4-BE49-F238E27FC236}">
                <a16:creationId xmlns:a16="http://schemas.microsoft.com/office/drawing/2014/main" id="{A731FC5C-CC53-28C2-A815-7B8DB0A4ADB2}"/>
              </a:ext>
            </a:extLst>
          </p:cNvPr>
          <p:cNvSpPr/>
          <p:nvPr/>
        </p:nvSpPr>
        <p:spPr>
          <a:xfrm>
            <a:off x="5356414" y="4326069"/>
            <a:ext cx="616792" cy="64171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.852</a:t>
            </a:r>
          </a:p>
        </p:txBody>
      </p:sp>
      <p:sp>
        <p:nvSpPr>
          <p:cNvPr id="243" name="TextBox 242">
            <a:extLst>
              <a:ext uri="{FF2B5EF4-FFF2-40B4-BE49-F238E27FC236}">
                <a16:creationId xmlns:a16="http://schemas.microsoft.com/office/drawing/2014/main" id="{BA2C7177-D7ED-83DB-7B65-2632962C8881}"/>
              </a:ext>
            </a:extLst>
          </p:cNvPr>
          <p:cNvSpPr txBox="1"/>
          <p:nvPr/>
        </p:nvSpPr>
        <p:spPr>
          <a:xfrm>
            <a:off x="96736" y="5861261"/>
            <a:ext cx="486030" cy="246221"/>
          </a:xfrm>
          <a:prstGeom prst="rect">
            <a:avLst/>
          </a:prstGeom>
          <a:solidFill>
            <a:srgbClr val="F7F7F7"/>
          </a:solidFill>
        </p:spPr>
        <p:txBody>
          <a:bodyPr wrap="none" rtlCol="0">
            <a:spAutoFit/>
          </a:bodyPr>
          <a:lstStyle/>
          <a:p>
            <a:r>
              <a:rPr lang="en-US" sz="1000" b="1" dirty="0"/>
              <a:t>ISSUE</a:t>
            </a:r>
            <a:endParaRPr lang="en-US" sz="1000" b="1" baseline="-25000" dirty="0"/>
          </a:p>
        </p:txBody>
      </p:sp>
      <p:sp>
        <p:nvSpPr>
          <p:cNvPr id="245" name="TextBox 244">
            <a:extLst>
              <a:ext uri="{FF2B5EF4-FFF2-40B4-BE49-F238E27FC236}">
                <a16:creationId xmlns:a16="http://schemas.microsoft.com/office/drawing/2014/main" id="{47C75E58-B9C8-74F0-6253-142DED2A9629}"/>
              </a:ext>
            </a:extLst>
          </p:cNvPr>
          <p:cNvSpPr txBox="1"/>
          <p:nvPr/>
        </p:nvSpPr>
        <p:spPr>
          <a:xfrm>
            <a:off x="76723" y="5164877"/>
            <a:ext cx="457176" cy="246221"/>
          </a:xfrm>
          <a:prstGeom prst="rect">
            <a:avLst/>
          </a:prstGeom>
          <a:noFill/>
        </p:spPr>
        <p:txBody>
          <a:bodyPr wrap="none" rtlCol="0">
            <a:spAutoFit/>
          </a:bodyPr>
          <a:lstStyle/>
          <a:p>
            <a:r>
              <a:rPr lang="en-US" sz="1000" b="1" dirty="0"/>
              <a:t>RULE</a:t>
            </a:r>
            <a:endParaRPr lang="en-US" sz="1000" b="1" baseline="-25000" dirty="0"/>
          </a:p>
        </p:txBody>
      </p:sp>
      <p:sp>
        <p:nvSpPr>
          <p:cNvPr id="279" name="Rectangle: Rounded Corners 278">
            <a:extLst>
              <a:ext uri="{FF2B5EF4-FFF2-40B4-BE49-F238E27FC236}">
                <a16:creationId xmlns:a16="http://schemas.microsoft.com/office/drawing/2014/main" id="{A36D2342-67A5-B2DE-BD34-B3B3A5442631}"/>
              </a:ext>
            </a:extLst>
          </p:cNvPr>
          <p:cNvSpPr/>
          <p:nvPr/>
        </p:nvSpPr>
        <p:spPr>
          <a:xfrm>
            <a:off x="5356414" y="5015949"/>
            <a:ext cx="616792" cy="64171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-.039</a:t>
            </a:r>
          </a:p>
        </p:txBody>
      </p:sp>
      <p:sp>
        <p:nvSpPr>
          <p:cNvPr id="295" name="Rectangle: Rounded Corners 294">
            <a:extLst>
              <a:ext uri="{FF2B5EF4-FFF2-40B4-BE49-F238E27FC236}">
                <a16:creationId xmlns:a16="http://schemas.microsoft.com/office/drawing/2014/main" id="{E64FA3B1-36E2-0DFF-5BAC-619120949546}"/>
              </a:ext>
            </a:extLst>
          </p:cNvPr>
          <p:cNvSpPr/>
          <p:nvPr/>
        </p:nvSpPr>
        <p:spPr>
          <a:xfrm>
            <a:off x="5356414" y="5705826"/>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317" name="Rectangle: Rounded Corners 316">
            <a:extLst>
              <a:ext uri="{FF2B5EF4-FFF2-40B4-BE49-F238E27FC236}">
                <a16:creationId xmlns:a16="http://schemas.microsoft.com/office/drawing/2014/main" id="{5C81100E-2B06-EEF4-71D3-B202017EEF18}"/>
              </a:ext>
            </a:extLst>
          </p:cNvPr>
          <p:cNvSpPr/>
          <p:nvPr/>
        </p:nvSpPr>
        <p:spPr>
          <a:xfrm>
            <a:off x="4682234" y="8766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-.007</a:t>
            </a:r>
          </a:p>
        </p:txBody>
      </p:sp>
      <p:sp>
        <p:nvSpPr>
          <p:cNvPr id="319" name="Rectangle: Rounded Corners 318">
            <a:extLst>
              <a:ext uri="{FF2B5EF4-FFF2-40B4-BE49-F238E27FC236}">
                <a16:creationId xmlns:a16="http://schemas.microsoft.com/office/drawing/2014/main" id="{1988721E-4EAB-365A-A5C3-244046B8D97A}"/>
              </a:ext>
            </a:extLst>
          </p:cNvPr>
          <p:cNvSpPr/>
          <p:nvPr/>
        </p:nvSpPr>
        <p:spPr>
          <a:xfrm>
            <a:off x="4682234" y="15665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t>
            </a:r>
            <a:r>
              <a:rPr lang="en-US" sz="1000" dirty="0">
                <a:solidFill>
                  <a:schemeClr val="tx1"/>
                </a:solidFill>
              </a:rPr>
              <a:t>055</a:t>
            </a:r>
          </a:p>
        </p:txBody>
      </p:sp>
      <p:sp>
        <p:nvSpPr>
          <p:cNvPr id="321" name="Rectangle: Rounded Corners 320">
            <a:extLst>
              <a:ext uri="{FF2B5EF4-FFF2-40B4-BE49-F238E27FC236}">
                <a16:creationId xmlns:a16="http://schemas.microsoft.com/office/drawing/2014/main" id="{19500CF4-4AE0-5346-DB21-306B55BB1E25}"/>
              </a:ext>
            </a:extLst>
          </p:cNvPr>
          <p:cNvSpPr/>
          <p:nvPr/>
        </p:nvSpPr>
        <p:spPr>
          <a:xfrm>
            <a:off x="4682234" y="225642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-.008</a:t>
            </a:r>
          </a:p>
        </p:txBody>
      </p:sp>
      <p:sp>
        <p:nvSpPr>
          <p:cNvPr id="323" name="Rectangle: Rounded Corners 322">
            <a:extLst>
              <a:ext uri="{FF2B5EF4-FFF2-40B4-BE49-F238E27FC236}">
                <a16:creationId xmlns:a16="http://schemas.microsoft.com/office/drawing/2014/main" id="{FD5E61DE-4CA8-0044-943D-9608256C7D51}"/>
              </a:ext>
            </a:extLst>
          </p:cNvPr>
          <p:cNvSpPr/>
          <p:nvPr/>
        </p:nvSpPr>
        <p:spPr>
          <a:xfrm>
            <a:off x="4682234" y="294630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t>
            </a:r>
            <a:r>
              <a:rPr lang="en-US" sz="1000" dirty="0">
                <a:solidFill>
                  <a:schemeClr val="tx1"/>
                </a:solidFill>
              </a:rPr>
              <a:t>013</a:t>
            </a:r>
          </a:p>
        </p:txBody>
      </p:sp>
      <p:sp>
        <p:nvSpPr>
          <p:cNvPr id="325" name="Rectangle: Rounded Corners 324">
            <a:extLst>
              <a:ext uri="{FF2B5EF4-FFF2-40B4-BE49-F238E27FC236}">
                <a16:creationId xmlns:a16="http://schemas.microsoft.com/office/drawing/2014/main" id="{FE96B961-6798-7EFC-CE7C-6BE00457DA12}"/>
              </a:ext>
            </a:extLst>
          </p:cNvPr>
          <p:cNvSpPr/>
          <p:nvPr/>
        </p:nvSpPr>
        <p:spPr>
          <a:xfrm>
            <a:off x="4682234" y="363618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-012</a:t>
            </a:r>
          </a:p>
        </p:txBody>
      </p:sp>
      <p:sp>
        <p:nvSpPr>
          <p:cNvPr id="327" name="Rectangle: Rounded Corners 326">
            <a:extLst>
              <a:ext uri="{FF2B5EF4-FFF2-40B4-BE49-F238E27FC236}">
                <a16:creationId xmlns:a16="http://schemas.microsoft.com/office/drawing/2014/main" id="{AFEE4931-C5D7-3A0F-9A27-BDEBBA2F5402}"/>
              </a:ext>
            </a:extLst>
          </p:cNvPr>
          <p:cNvSpPr/>
          <p:nvPr/>
        </p:nvSpPr>
        <p:spPr>
          <a:xfrm>
            <a:off x="4682234" y="4326069"/>
            <a:ext cx="616792" cy="64171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-.007</a:t>
            </a:r>
          </a:p>
        </p:txBody>
      </p:sp>
      <p:sp>
        <p:nvSpPr>
          <p:cNvPr id="329" name="Rectangle: Rounded Corners 328">
            <a:extLst>
              <a:ext uri="{FF2B5EF4-FFF2-40B4-BE49-F238E27FC236}">
                <a16:creationId xmlns:a16="http://schemas.microsoft.com/office/drawing/2014/main" id="{3B24A343-4CB8-A40D-F726-74451AF62EAE}"/>
              </a:ext>
            </a:extLst>
          </p:cNvPr>
          <p:cNvSpPr/>
          <p:nvPr/>
        </p:nvSpPr>
        <p:spPr>
          <a:xfrm>
            <a:off x="4682234" y="501594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331" name="Rectangle: Rounded Corners 330">
            <a:extLst>
              <a:ext uri="{FF2B5EF4-FFF2-40B4-BE49-F238E27FC236}">
                <a16:creationId xmlns:a16="http://schemas.microsoft.com/office/drawing/2014/main" id="{2071D162-2190-ECA5-664A-2F20A19448D4}"/>
              </a:ext>
            </a:extLst>
          </p:cNvPr>
          <p:cNvSpPr/>
          <p:nvPr/>
        </p:nvSpPr>
        <p:spPr>
          <a:xfrm>
            <a:off x="4682234" y="5705826"/>
            <a:ext cx="616792" cy="64171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-0.039</a:t>
            </a:r>
          </a:p>
        </p:txBody>
      </p:sp>
      <p:sp>
        <p:nvSpPr>
          <p:cNvPr id="333" name="Rectangle: Rounded Corners 332">
            <a:extLst>
              <a:ext uri="{FF2B5EF4-FFF2-40B4-BE49-F238E27FC236}">
                <a16:creationId xmlns:a16="http://schemas.microsoft.com/office/drawing/2014/main" id="{0C280737-61C6-94EA-9077-13F83C2A8959}"/>
              </a:ext>
            </a:extLst>
          </p:cNvPr>
          <p:cNvSpPr/>
          <p:nvPr/>
        </p:nvSpPr>
        <p:spPr>
          <a:xfrm>
            <a:off x="4016406" y="876669"/>
            <a:ext cx="616792" cy="64171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.008</a:t>
            </a:r>
          </a:p>
        </p:txBody>
      </p:sp>
      <p:sp>
        <p:nvSpPr>
          <p:cNvPr id="335" name="Rectangle: Rounded Corners 334">
            <a:extLst>
              <a:ext uri="{FF2B5EF4-FFF2-40B4-BE49-F238E27FC236}">
                <a16:creationId xmlns:a16="http://schemas.microsoft.com/office/drawing/2014/main" id="{D3DD04ED-7BC4-CF93-80D4-03634FECA71B}"/>
              </a:ext>
            </a:extLst>
          </p:cNvPr>
          <p:cNvSpPr/>
          <p:nvPr/>
        </p:nvSpPr>
        <p:spPr>
          <a:xfrm>
            <a:off x="4018467" y="1558101"/>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t>
            </a:r>
            <a:r>
              <a:rPr lang="en-US" sz="1000" dirty="0">
                <a:solidFill>
                  <a:schemeClr val="tx1"/>
                </a:solidFill>
              </a:rPr>
              <a:t>143</a:t>
            </a:r>
          </a:p>
        </p:txBody>
      </p:sp>
      <p:sp>
        <p:nvSpPr>
          <p:cNvPr id="337" name="Rectangle: Rounded Corners 336">
            <a:extLst>
              <a:ext uri="{FF2B5EF4-FFF2-40B4-BE49-F238E27FC236}">
                <a16:creationId xmlns:a16="http://schemas.microsoft.com/office/drawing/2014/main" id="{6D3C88EB-9E41-4F20-18FA-D9AE63DB088A}"/>
              </a:ext>
            </a:extLst>
          </p:cNvPr>
          <p:cNvSpPr/>
          <p:nvPr/>
        </p:nvSpPr>
        <p:spPr>
          <a:xfrm>
            <a:off x="4016406" y="225642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.403</a:t>
            </a:r>
          </a:p>
        </p:txBody>
      </p:sp>
      <p:sp>
        <p:nvSpPr>
          <p:cNvPr id="339" name="Rectangle: Rounded Corners 338">
            <a:extLst>
              <a:ext uri="{FF2B5EF4-FFF2-40B4-BE49-F238E27FC236}">
                <a16:creationId xmlns:a16="http://schemas.microsoft.com/office/drawing/2014/main" id="{7B36F33D-EF9C-C5B0-EFC4-10F7F085DF48}"/>
              </a:ext>
            </a:extLst>
          </p:cNvPr>
          <p:cNvSpPr/>
          <p:nvPr/>
        </p:nvSpPr>
        <p:spPr>
          <a:xfrm>
            <a:off x="4016406" y="2946309"/>
            <a:ext cx="616792" cy="641718"/>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.599</a:t>
            </a:r>
          </a:p>
        </p:txBody>
      </p:sp>
      <p:sp>
        <p:nvSpPr>
          <p:cNvPr id="341" name="Rectangle: Rounded Corners 340">
            <a:extLst>
              <a:ext uri="{FF2B5EF4-FFF2-40B4-BE49-F238E27FC236}">
                <a16:creationId xmlns:a16="http://schemas.microsoft.com/office/drawing/2014/main" id="{8626944A-7E1E-5001-4C32-7CF4BDD81513}"/>
              </a:ext>
            </a:extLst>
          </p:cNvPr>
          <p:cNvSpPr/>
          <p:nvPr/>
        </p:nvSpPr>
        <p:spPr>
          <a:xfrm>
            <a:off x="4016406" y="3636189"/>
            <a:ext cx="616792" cy="64171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.821</a:t>
            </a:r>
          </a:p>
        </p:txBody>
      </p:sp>
      <p:sp>
        <p:nvSpPr>
          <p:cNvPr id="343" name="Rectangle: Rounded Corners 342">
            <a:extLst>
              <a:ext uri="{FF2B5EF4-FFF2-40B4-BE49-F238E27FC236}">
                <a16:creationId xmlns:a16="http://schemas.microsoft.com/office/drawing/2014/main" id="{143F96CE-C3B2-4549-C5B3-C88975C1816A}"/>
              </a:ext>
            </a:extLst>
          </p:cNvPr>
          <p:cNvSpPr/>
          <p:nvPr/>
        </p:nvSpPr>
        <p:spPr>
          <a:xfrm>
            <a:off x="4016406" y="432606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345" name="Rectangle: Rounded Corners 344">
            <a:extLst>
              <a:ext uri="{FF2B5EF4-FFF2-40B4-BE49-F238E27FC236}">
                <a16:creationId xmlns:a16="http://schemas.microsoft.com/office/drawing/2014/main" id="{59B1AA35-4A6F-B3A5-4375-2DF5D3DCB728}"/>
              </a:ext>
            </a:extLst>
          </p:cNvPr>
          <p:cNvSpPr/>
          <p:nvPr/>
        </p:nvSpPr>
        <p:spPr>
          <a:xfrm>
            <a:off x="4016406" y="5015949"/>
            <a:ext cx="616792" cy="641718"/>
          </a:xfrm>
          <a:prstGeom prst="round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-0.007</a:t>
            </a:r>
          </a:p>
        </p:txBody>
      </p:sp>
      <p:sp>
        <p:nvSpPr>
          <p:cNvPr id="347" name="Rectangle: Rounded Corners 346">
            <a:extLst>
              <a:ext uri="{FF2B5EF4-FFF2-40B4-BE49-F238E27FC236}">
                <a16:creationId xmlns:a16="http://schemas.microsoft.com/office/drawing/2014/main" id="{E3A4354C-FD9E-3EBC-1356-BF232D6A1017}"/>
              </a:ext>
            </a:extLst>
          </p:cNvPr>
          <p:cNvSpPr/>
          <p:nvPr/>
        </p:nvSpPr>
        <p:spPr>
          <a:xfrm>
            <a:off x="4016406" y="5705826"/>
            <a:ext cx="616792" cy="64171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.852</a:t>
            </a:r>
          </a:p>
        </p:txBody>
      </p:sp>
      <p:sp>
        <p:nvSpPr>
          <p:cNvPr id="349" name="Rectangle: Rounded Corners 348">
            <a:extLst>
              <a:ext uri="{FF2B5EF4-FFF2-40B4-BE49-F238E27FC236}">
                <a16:creationId xmlns:a16="http://schemas.microsoft.com/office/drawing/2014/main" id="{0608EC74-F901-07FA-158E-A08202E5DAE7}"/>
              </a:ext>
            </a:extLst>
          </p:cNvPr>
          <p:cNvSpPr/>
          <p:nvPr/>
        </p:nvSpPr>
        <p:spPr>
          <a:xfrm>
            <a:off x="3342226" y="8766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.002</a:t>
            </a:r>
          </a:p>
        </p:txBody>
      </p:sp>
      <p:sp>
        <p:nvSpPr>
          <p:cNvPr id="351" name="Rectangle: Rounded Corners 350">
            <a:extLst>
              <a:ext uri="{FF2B5EF4-FFF2-40B4-BE49-F238E27FC236}">
                <a16:creationId xmlns:a16="http://schemas.microsoft.com/office/drawing/2014/main" id="{43F7D37A-5747-2FF9-4754-89AEDB7E6475}"/>
              </a:ext>
            </a:extLst>
          </p:cNvPr>
          <p:cNvSpPr/>
          <p:nvPr/>
        </p:nvSpPr>
        <p:spPr>
          <a:xfrm>
            <a:off x="3357125" y="1566546"/>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.174</a:t>
            </a:r>
          </a:p>
        </p:txBody>
      </p:sp>
      <p:sp>
        <p:nvSpPr>
          <p:cNvPr id="353" name="Rectangle: Rounded Corners 352">
            <a:extLst>
              <a:ext uri="{FF2B5EF4-FFF2-40B4-BE49-F238E27FC236}">
                <a16:creationId xmlns:a16="http://schemas.microsoft.com/office/drawing/2014/main" id="{66789ABF-287F-38D9-CBF8-49C64E9F6358}"/>
              </a:ext>
            </a:extLst>
          </p:cNvPr>
          <p:cNvSpPr/>
          <p:nvPr/>
        </p:nvSpPr>
        <p:spPr>
          <a:xfrm>
            <a:off x="3342226" y="2256429"/>
            <a:ext cx="616792" cy="641718"/>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.490</a:t>
            </a:r>
          </a:p>
        </p:txBody>
      </p:sp>
      <p:sp>
        <p:nvSpPr>
          <p:cNvPr id="355" name="Rectangle: Rounded Corners 354">
            <a:extLst>
              <a:ext uri="{FF2B5EF4-FFF2-40B4-BE49-F238E27FC236}">
                <a16:creationId xmlns:a16="http://schemas.microsoft.com/office/drawing/2014/main" id="{3997D760-4896-F93F-CDCA-94A5EDFBD021}"/>
              </a:ext>
            </a:extLst>
          </p:cNvPr>
          <p:cNvSpPr/>
          <p:nvPr/>
        </p:nvSpPr>
        <p:spPr>
          <a:xfrm>
            <a:off x="3342226" y="294630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.729</a:t>
            </a:r>
          </a:p>
        </p:txBody>
      </p:sp>
      <p:sp>
        <p:nvSpPr>
          <p:cNvPr id="357" name="Rectangle: Rounded Corners 356">
            <a:extLst>
              <a:ext uri="{FF2B5EF4-FFF2-40B4-BE49-F238E27FC236}">
                <a16:creationId xmlns:a16="http://schemas.microsoft.com/office/drawing/2014/main" id="{1A352E0E-F439-5A90-6DBF-CA75925EF208}"/>
              </a:ext>
            </a:extLst>
          </p:cNvPr>
          <p:cNvSpPr/>
          <p:nvPr/>
        </p:nvSpPr>
        <p:spPr>
          <a:xfrm>
            <a:off x="3342226" y="363618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359" name="Rectangle: Rounded Corners 358">
            <a:extLst>
              <a:ext uri="{FF2B5EF4-FFF2-40B4-BE49-F238E27FC236}">
                <a16:creationId xmlns:a16="http://schemas.microsoft.com/office/drawing/2014/main" id="{5A793353-88E5-5503-8754-E2F42BBC62EC}"/>
              </a:ext>
            </a:extLst>
          </p:cNvPr>
          <p:cNvSpPr/>
          <p:nvPr/>
        </p:nvSpPr>
        <p:spPr>
          <a:xfrm>
            <a:off x="3342226" y="4326069"/>
            <a:ext cx="616792" cy="64171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.821</a:t>
            </a:r>
          </a:p>
        </p:txBody>
      </p:sp>
      <p:sp>
        <p:nvSpPr>
          <p:cNvPr id="361" name="Rectangle: Rounded Corners 360">
            <a:extLst>
              <a:ext uri="{FF2B5EF4-FFF2-40B4-BE49-F238E27FC236}">
                <a16:creationId xmlns:a16="http://schemas.microsoft.com/office/drawing/2014/main" id="{A1BB02B3-FF45-4F5F-3CC6-9DD5971321BB}"/>
              </a:ext>
            </a:extLst>
          </p:cNvPr>
          <p:cNvSpPr/>
          <p:nvPr/>
        </p:nvSpPr>
        <p:spPr>
          <a:xfrm>
            <a:off x="3342226" y="50159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-.012</a:t>
            </a:r>
          </a:p>
        </p:txBody>
      </p:sp>
      <p:sp>
        <p:nvSpPr>
          <p:cNvPr id="363" name="Rectangle: Rounded Corners 362">
            <a:extLst>
              <a:ext uri="{FF2B5EF4-FFF2-40B4-BE49-F238E27FC236}">
                <a16:creationId xmlns:a16="http://schemas.microsoft.com/office/drawing/2014/main" id="{E0873C61-6938-DA99-13C6-C785E4C93911}"/>
              </a:ext>
            </a:extLst>
          </p:cNvPr>
          <p:cNvSpPr/>
          <p:nvPr/>
        </p:nvSpPr>
        <p:spPr>
          <a:xfrm>
            <a:off x="3342226" y="5705826"/>
            <a:ext cx="616792" cy="64171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.700</a:t>
            </a:r>
          </a:p>
        </p:txBody>
      </p:sp>
      <p:sp>
        <p:nvSpPr>
          <p:cNvPr id="365" name="Rectangle: Rounded Corners 364">
            <a:extLst>
              <a:ext uri="{FF2B5EF4-FFF2-40B4-BE49-F238E27FC236}">
                <a16:creationId xmlns:a16="http://schemas.microsoft.com/office/drawing/2014/main" id="{490DCAD1-0B90-E7F7-8307-6AEF443EFD48}"/>
              </a:ext>
            </a:extLst>
          </p:cNvPr>
          <p:cNvSpPr/>
          <p:nvPr/>
        </p:nvSpPr>
        <p:spPr>
          <a:xfrm>
            <a:off x="2668046" y="8766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.014</a:t>
            </a:r>
          </a:p>
        </p:txBody>
      </p:sp>
      <p:sp>
        <p:nvSpPr>
          <p:cNvPr id="367" name="Rectangle: Rounded Corners 366">
            <a:extLst>
              <a:ext uri="{FF2B5EF4-FFF2-40B4-BE49-F238E27FC236}">
                <a16:creationId xmlns:a16="http://schemas.microsoft.com/office/drawing/2014/main" id="{4E00DEB1-B269-8472-18C4-58DD6D5E14DD}"/>
              </a:ext>
            </a:extLst>
          </p:cNvPr>
          <p:cNvSpPr/>
          <p:nvPr/>
        </p:nvSpPr>
        <p:spPr>
          <a:xfrm>
            <a:off x="2668046" y="156654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.238</a:t>
            </a:r>
          </a:p>
        </p:txBody>
      </p:sp>
      <p:sp>
        <p:nvSpPr>
          <p:cNvPr id="369" name="Rectangle: Rounded Corners 368">
            <a:extLst>
              <a:ext uri="{FF2B5EF4-FFF2-40B4-BE49-F238E27FC236}">
                <a16:creationId xmlns:a16="http://schemas.microsoft.com/office/drawing/2014/main" id="{00D9C903-ACD0-002B-AB93-C14825C66EC0}"/>
              </a:ext>
            </a:extLst>
          </p:cNvPr>
          <p:cNvSpPr/>
          <p:nvPr/>
        </p:nvSpPr>
        <p:spPr>
          <a:xfrm>
            <a:off x="2668046" y="225642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0.672</a:t>
            </a:r>
          </a:p>
        </p:txBody>
      </p:sp>
      <p:sp>
        <p:nvSpPr>
          <p:cNvPr id="371" name="Rectangle: Rounded Corners 370">
            <a:extLst>
              <a:ext uri="{FF2B5EF4-FFF2-40B4-BE49-F238E27FC236}">
                <a16:creationId xmlns:a16="http://schemas.microsoft.com/office/drawing/2014/main" id="{68533D31-54BD-E7F7-A9A2-22A0BD0AA8BF}"/>
              </a:ext>
            </a:extLst>
          </p:cNvPr>
          <p:cNvSpPr/>
          <p:nvPr/>
        </p:nvSpPr>
        <p:spPr>
          <a:xfrm>
            <a:off x="2668046" y="294630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373" name="Rectangle: Rounded Corners 372">
            <a:extLst>
              <a:ext uri="{FF2B5EF4-FFF2-40B4-BE49-F238E27FC236}">
                <a16:creationId xmlns:a16="http://schemas.microsoft.com/office/drawing/2014/main" id="{061ECFCA-7A0D-0301-EA93-0D075F1D287E}"/>
              </a:ext>
            </a:extLst>
          </p:cNvPr>
          <p:cNvSpPr/>
          <p:nvPr/>
        </p:nvSpPr>
        <p:spPr>
          <a:xfrm>
            <a:off x="2668046" y="363618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.729</a:t>
            </a:r>
          </a:p>
        </p:txBody>
      </p:sp>
      <p:sp>
        <p:nvSpPr>
          <p:cNvPr id="375" name="Rectangle: Rounded Corners 374">
            <a:extLst>
              <a:ext uri="{FF2B5EF4-FFF2-40B4-BE49-F238E27FC236}">
                <a16:creationId xmlns:a16="http://schemas.microsoft.com/office/drawing/2014/main" id="{263A4283-E5DF-CC58-FF6F-336ADEA7CC91}"/>
              </a:ext>
            </a:extLst>
          </p:cNvPr>
          <p:cNvSpPr/>
          <p:nvPr/>
        </p:nvSpPr>
        <p:spPr>
          <a:xfrm>
            <a:off x="2668046" y="432606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.599</a:t>
            </a:r>
          </a:p>
        </p:txBody>
      </p:sp>
      <p:sp>
        <p:nvSpPr>
          <p:cNvPr id="377" name="Rectangle: Rounded Corners 376">
            <a:extLst>
              <a:ext uri="{FF2B5EF4-FFF2-40B4-BE49-F238E27FC236}">
                <a16:creationId xmlns:a16="http://schemas.microsoft.com/office/drawing/2014/main" id="{46147541-ADE1-41DD-3F72-E2A7A0E03551}"/>
              </a:ext>
            </a:extLst>
          </p:cNvPr>
          <p:cNvSpPr/>
          <p:nvPr/>
        </p:nvSpPr>
        <p:spPr>
          <a:xfrm>
            <a:off x="2668046" y="50159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-.013</a:t>
            </a:r>
          </a:p>
        </p:txBody>
      </p:sp>
      <p:sp>
        <p:nvSpPr>
          <p:cNvPr id="379" name="Rectangle: Rounded Corners 378">
            <a:extLst>
              <a:ext uri="{FF2B5EF4-FFF2-40B4-BE49-F238E27FC236}">
                <a16:creationId xmlns:a16="http://schemas.microsoft.com/office/drawing/2014/main" id="{1C1AC4C0-E336-EC9F-009D-3621A3A7B358}"/>
              </a:ext>
            </a:extLst>
          </p:cNvPr>
          <p:cNvSpPr/>
          <p:nvPr/>
        </p:nvSpPr>
        <p:spPr>
          <a:xfrm>
            <a:off x="2668046" y="5705826"/>
            <a:ext cx="616792" cy="64171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.510</a:t>
            </a:r>
          </a:p>
        </p:txBody>
      </p:sp>
      <p:sp>
        <p:nvSpPr>
          <p:cNvPr id="382" name="Rectangle: Rounded Corners 381">
            <a:extLst>
              <a:ext uri="{FF2B5EF4-FFF2-40B4-BE49-F238E27FC236}">
                <a16:creationId xmlns:a16="http://schemas.microsoft.com/office/drawing/2014/main" id="{BBD9D3B6-ADF8-550C-913C-750DCF5A846D}"/>
              </a:ext>
            </a:extLst>
          </p:cNvPr>
          <p:cNvSpPr/>
          <p:nvPr/>
        </p:nvSpPr>
        <p:spPr>
          <a:xfrm>
            <a:off x="1993866" y="8766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0.021</a:t>
            </a:r>
          </a:p>
        </p:txBody>
      </p:sp>
      <p:sp>
        <p:nvSpPr>
          <p:cNvPr id="384" name="Rectangle: Rounded Corners 383">
            <a:extLst>
              <a:ext uri="{FF2B5EF4-FFF2-40B4-BE49-F238E27FC236}">
                <a16:creationId xmlns:a16="http://schemas.microsoft.com/office/drawing/2014/main" id="{82D24001-7F1F-25AC-0745-A937867B9E12}"/>
              </a:ext>
            </a:extLst>
          </p:cNvPr>
          <p:cNvSpPr/>
          <p:nvPr/>
        </p:nvSpPr>
        <p:spPr>
          <a:xfrm>
            <a:off x="1993866" y="156654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.354</a:t>
            </a:r>
          </a:p>
        </p:txBody>
      </p:sp>
      <p:sp>
        <p:nvSpPr>
          <p:cNvPr id="386" name="Rectangle: Rounded Corners 385">
            <a:extLst>
              <a:ext uri="{FF2B5EF4-FFF2-40B4-BE49-F238E27FC236}">
                <a16:creationId xmlns:a16="http://schemas.microsoft.com/office/drawing/2014/main" id="{82E12EE4-D013-EB62-6399-36FE10AB948B}"/>
              </a:ext>
            </a:extLst>
          </p:cNvPr>
          <p:cNvSpPr/>
          <p:nvPr/>
        </p:nvSpPr>
        <p:spPr>
          <a:xfrm>
            <a:off x="1993866" y="225642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388" name="Rectangle: Rounded Corners 387">
            <a:extLst>
              <a:ext uri="{FF2B5EF4-FFF2-40B4-BE49-F238E27FC236}">
                <a16:creationId xmlns:a16="http://schemas.microsoft.com/office/drawing/2014/main" id="{865EB2A8-ED75-04F9-1EB8-FDDD5BDD3FF8}"/>
              </a:ext>
            </a:extLst>
          </p:cNvPr>
          <p:cNvSpPr/>
          <p:nvPr/>
        </p:nvSpPr>
        <p:spPr>
          <a:xfrm>
            <a:off x="1993866" y="294630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.672</a:t>
            </a:r>
          </a:p>
        </p:txBody>
      </p:sp>
      <p:sp>
        <p:nvSpPr>
          <p:cNvPr id="390" name="Rectangle: Rounded Corners 389">
            <a:extLst>
              <a:ext uri="{FF2B5EF4-FFF2-40B4-BE49-F238E27FC236}">
                <a16:creationId xmlns:a16="http://schemas.microsoft.com/office/drawing/2014/main" id="{883D1F35-151A-6CE0-DE43-685C2D11CAA0}"/>
              </a:ext>
            </a:extLst>
          </p:cNvPr>
          <p:cNvSpPr/>
          <p:nvPr/>
        </p:nvSpPr>
        <p:spPr>
          <a:xfrm>
            <a:off x="1993866" y="3636189"/>
            <a:ext cx="616792" cy="641718"/>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.490</a:t>
            </a:r>
          </a:p>
        </p:txBody>
      </p:sp>
      <p:sp>
        <p:nvSpPr>
          <p:cNvPr id="392" name="Rectangle: Rounded Corners 391">
            <a:extLst>
              <a:ext uri="{FF2B5EF4-FFF2-40B4-BE49-F238E27FC236}">
                <a16:creationId xmlns:a16="http://schemas.microsoft.com/office/drawing/2014/main" id="{A654443B-EE43-DD3E-DDF7-5FA28AEBDB21}"/>
              </a:ext>
            </a:extLst>
          </p:cNvPr>
          <p:cNvSpPr/>
          <p:nvPr/>
        </p:nvSpPr>
        <p:spPr>
          <a:xfrm>
            <a:off x="1993866" y="432606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.403</a:t>
            </a:r>
          </a:p>
        </p:txBody>
      </p:sp>
      <p:sp>
        <p:nvSpPr>
          <p:cNvPr id="394" name="Rectangle: Rounded Corners 393">
            <a:extLst>
              <a:ext uri="{FF2B5EF4-FFF2-40B4-BE49-F238E27FC236}">
                <a16:creationId xmlns:a16="http://schemas.microsoft.com/office/drawing/2014/main" id="{51C068CA-D5F3-44FB-51E1-40C95DDCFE29}"/>
              </a:ext>
            </a:extLst>
          </p:cNvPr>
          <p:cNvSpPr/>
          <p:nvPr/>
        </p:nvSpPr>
        <p:spPr>
          <a:xfrm>
            <a:off x="1993866" y="50159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-.008</a:t>
            </a:r>
          </a:p>
        </p:txBody>
      </p:sp>
      <p:sp>
        <p:nvSpPr>
          <p:cNvPr id="396" name="Rectangle: Rounded Corners 395">
            <a:extLst>
              <a:ext uri="{FF2B5EF4-FFF2-40B4-BE49-F238E27FC236}">
                <a16:creationId xmlns:a16="http://schemas.microsoft.com/office/drawing/2014/main" id="{F91509BE-0818-419B-0146-C6E80031DE27}"/>
              </a:ext>
            </a:extLst>
          </p:cNvPr>
          <p:cNvSpPr/>
          <p:nvPr/>
        </p:nvSpPr>
        <p:spPr>
          <a:xfrm>
            <a:off x="1993866" y="5705826"/>
            <a:ext cx="616792" cy="64171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t>
            </a:r>
            <a:r>
              <a:rPr lang="en-US" sz="1000" dirty="0">
                <a:solidFill>
                  <a:schemeClr val="tx1"/>
                </a:solidFill>
              </a:rPr>
              <a:t>343</a:t>
            </a:r>
          </a:p>
        </p:txBody>
      </p:sp>
      <p:sp>
        <p:nvSpPr>
          <p:cNvPr id="398" name="Rectangle: Rounded Corners 397">
            <a:extLst>
              <a:ext uri="{FF2B5EF4-FFF2-40B4-BE49-F238E27FC236}">
                <a16:creationId xmlns:a16="http://schemas.microsoft.com/office/drawing/2014/main" id="{0802D8F2-EE48-E954-5A86-A92E14D1BE0F}"/>
              </a:ext>
            </a:extLst>
          </p:cNvPr>
          <p:cNvSpPr/>
          <p:nvPr/>
        </p:nvSpPr>
        <p:spPr>
          <a:xfrm>
            <a:off x="1328038" y="876669"/>
            <a:ext cx="616792" cy="641718"/>
          </a:xfrm>
          <a:prstGeom prst="roundRect">
            <a:avLst/>
          </a:prstGeom>
          <a:solidFill>
            <a:schemeClr val="bg1"/>
          </a:solidFill>
          <a:ln w="28575">
            <a:solidFill>
              <a:srgbClr val="0036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-.014</a:t>
            </a:r>
          </a:p>
        </p:txBody>
      </p:sp>
      <p:sp>
        <p:nvSpPr>
          <p:cNvPr id="400" name="Rectangle: Rounded Corners 399">
            <a:extLst>
              <a:ext uri="{FF2B5EF4-FFF2-40B4-BE49-F238E27FC236}">
                <a16:creationId xmlns:a16="http://schemas.microsoft.com/office/drawing/2014/main" id="{CE83C27A-6D81-E769-5316-5A30625957C5}"/>
              </a:ext>
            </a:extLst>
          </p:cNvPr>
          <p:cNvSpPr/>
          <p:nvPr/>
        </p:nvSpPr>
        <p:spPr>
          <a:xfrm>
            <a:off x="1328038" y="156654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402" name="Rectangle: Rounded Corners 401">
            <a:extLst>
              <a:ext uri="{FF2B5EF4-FFF2-40B4-BE49-F238E27FC236}">
                <a16:creationId xmlns:a16="http://schemas.microsoft.com/office/drawing/2014/main" id="{4859D5F3-ACFE-EEB7-36EC-A3A7EA10DDD5}"/>
              </a:ext>
            </a:extLst>
          </p:cNvPr>
          <p:cNvSpPr/>
          <p:nvPr/>
        </p:nvSpPr>
        <p:spPr>
          <a:xfrm>
            <a:off x="1328038" y="225642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.354</a:t>
            </a:r>
          </a:p>
        </p:txBody>
      </p:sp>
      <p:sp>
        <p:nvSpPr>
          <p:cNvPr id="404" name="Rectangle: Rounded Corners 403">
            <a:extLst>
              <a:ext uri="{FF2B5EF4-FFF2-40B4-BE49-F238E27FC236}">
                <a16:creationId xmlns:a16="http://schemas.microsoft.com/office/drawing/2014/main" id="{CC8FB77F-381A-EC27-B063-948F482C8853}"/>
              </a:ext>
            </a:extLst>
          </p:cNvPr>
          <p:cNvSpPr/>
          <p:nvPr/>
        </p:nvSpPr>
        <p:spPr>
          <a:xfrm>
            <a:off x="1328038" y="2937535"/>
            <a:ext cx="616792" cy="641718"/>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 </a:t>
            </a:r>
            <a:r>
              <a:rPr lang="en-US" sz="1000" dirty="0">
                <a:solidFill>
                  <a:schemeClr val="bg1">
                    <a:lumMod val="65000"/>
                  </a:schemeClr>
                </a:solidFill>
              </a:rPr>
              <a:t> </a:t>
            </a:r>
            <a:r>
              <a:rPr lang="en-US" sz="1000" dirty="0">
                <a:solidFill>
                  <a:schemeClr val="tx1"/>
                </a:solidFill>
              </a:rPr>
              <a:t>.238</a:t>
            </a:r>
          </a:p>
        </p:txBody>
      </p:sp>
      <p:sp>
        <p:nvSpPr>
          <p:cNvPr id="406" name="Rectangle: Rounded Corners 405">
            <a:extLst>
              <a:ext uri="{FF2B5EF4-FFF2-40B4-BE49-F238E27FC236}">
                <a16:creationId xmlns:a16="http://schemas.microsoft.com/office/drawing/2014/main" id="{1A7184C8-CBBB-A034-18F0-A73E72977B7A}"/>
              </a:ext>
            </a:extLst>
          </p:cNvPr>
          <p:cNvSpPr/>
          <p:nvPr/>
        </p:nvSpPr>
        <p:spPr>
          <a:xfrm>
            <a:off x="1319686" y="3618642"/>
            <a:ext cx="616792" cy="641718"/>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.174</a:t>
            </a:r>
          </a:p>
        </p:txBody>
      </p:sp>
      <p:sp>
        <p:nvSpPr>
          <p:cNvPr id="408" name="Rectangle: Rounded Corners 407">
            <a:extLst>
              <a:ext uri="{FF2B5EF4-FFF2-40B4-BE49-F238E27FC236}">
                <a16:creationId xmlns:a16="http://schemas.microsoft.com/office/drawing/2014/main" id="{D43CDBFB-48DE-A659-50EF-9DA4C98825EE}"/>
              </a:ext>
            </a:extLst>
          </p:cNvPr>
          <p:cNvSpPr/>
          <p:nvPr/>
        </p:nvSpPr>
        <p:spPr>
          <a:xfrm>
            <a:off x="1328038" y="4326069"/>
            <a:ext cx="616792" cy="641718"/>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t>
            </a:r>
            <a:r>
              <a:rPr lang="en-US" sz="1000" dirty="0">
                <a:solidFill>
                  <a:schemeClr val="tx1"/>
                </a:solidFill>
              </a:rPr>
              <a:t>143</a:t>
            </a:r>
          </a:p>
        </p:txBody>
      </p:sp>
      <p:sp>
        <p:nvSpPr>
          <p:cNvPr id="410" name="Rectangle: Rounded Corners 409">
            <a:extLst>
              <a:ext uri="{FF2B5EF4-FFF2-40B4-BE49-F238E27FC236}">
                <a16:creationId xmlns:a16="http://schemas.microsoft.com/office/drawing/2014/main" id="{F35E0557-DCC1-257E-DC79-958FFA6D3EDB}"/>
              </a:ext>
            </a:extLst>
          </p:cNvPr>
          <p:cNvSpPr/>
          <p:nvPr/>
        </p:nvSpPr>
        <p:spPr>
          <a:xfrm>
            <a:off x="1328038" y="50159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.005</a:t>
            </a:r>
          </a:p>
        </p:txBody>
      </p:sp>
      <p:sp>
        <p:nvSpPr>
          <p:cNvPr id="412" name="Rectangle: Rounded Corners 411">
            <a:extLst>
              <a:ext uri="{FF2B5EF4-FFF2-40B4-BE49-F238E27FC236}">
                <a16:creationId xmlns:a16="http://schemas.microsoft.com/office/drawing/2014/main" id="{91CC77E4-BA2E-7384-85FF-98EC533154EF}"/>
              </a:ext>
            </a:extLst>
          </p:cNvPr>
          <p:cNvSpPr/>
          <p:nvPr/>
        </p:nvSpPr>
        <p:spPr>
          <a:xfrm>
            <a:off x="1328038" y="5705826"/>
            <a:ext cx="616792" cy="64171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.122</a:t>
            </a:r>
          </a:p>
        </p:txBody>
      </p:sp>
      <p:sp>
        <p:nvSpPr>
          <p:cNvPr id="416" name="Rectangle: Rounded Corners 415">
            <a:extLst>
              <a:ext uri="{FF2B5EF4-FFF2-40B4-BE49-F238E27FC236}">
                <a16:creationId xmlns:a16="http://schemas.microsoft.com/office/drawing/2014/main" id="{A603AC29-F744-EC36-C96A-E6D9CB8543E3}"/>
              </a:ext>
            </a:extLst>
          </p:cNvPr>
          <p:cNvSpPr/>
          <p:nvPr/>
        </p:nvSpPr>
        <p:spPr>
          <a:xfrm>
            <a:off x="662210" y="87666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a:t>
            </a:r>
          </a:p>
        </p:txBody>
      </p:sp>
      <p:sp>
        <p:nvSpPr>
          <p:cNvPr id="418" name="Rectangle: Rounded Corners 417">
            <a:extLst>
              <a:ext uri="{FF2B5EF4-FFF2-40B4-BE49-F238E27FC236}">
                <a16:creationId xmlns:a16="http://schemas.microsoft.com/office/drawing/2014/main" id="{C20B0252-C1CF-0399-981C-50EAA064B34B}"/>
              </a:ext>
            </a:extLst>
          </p:cNvPr>
          <p:cNvSpPr/>
          <p:nvPr/>
        </p:nvSpPr>
        <p:spPr>
          <a:xfrm>
            <a:off x="662210" y="15665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-.014</a:t>
            </a:r>
          </a:p>
        </p:txBody>
      </p:sp>
      <p:sp>
        <p:nvSpPr>
          <p:cNvPr id="420" name="Rectangle: Rounded Corners 419">
            <a:extLst>
              <a:ext uri="{FF2B5EF4-FFF2-40B4-BE49-F238E27FC236}">
                <a16:creationId xmlns:a16="http://schemas.microsoft.com/office/drawing/2014/main" id="{D9CD41C3-4FB6-3C3A-4BDA-EE04301E3D84}"/>
              </a:ext>
            </a:extLst>
          </p:cNvPr>
          <p:cNvSpPr/>
          <p:nvPr/>
        </p:nvSpPr>
        <p:spPr>
          <a:xfrm>
            <a:off x="662210" y="225642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.021</a:t>
            </a:r>
          </a:p>
        </p:txBody>
      </p:sp>
      <p:sp>
        <p:nvSpPr>
          <p:cNvPr id="422" name="Rectangle: Rounded Corners 421">
            <a:extLst>
              <a:ext uri="{FF2B5EF4-FFF2-40B4-BE49-F238E27FC236}">
                <a16:creationId xmlns:a16="http://schemas.microsoft.com/office/drawing/2014/main" id="{F8540EB2-55AF-5147-0CBA-17F6FAF4F965}"/>
              </a:ext>
            </a:extLst>
          </p:cNvPr>
          <p:cNvSpPr/>
          <p:nvPr/>
        </p:nvSpPr>
        <p:spPr>
          <a:xfrm>
            <a:off x="662210" y="294630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t>
            </a:r>
            <a:r>
              <a:rPr lang="en-US" sz="1000" dirty="0">
                <a:solidFill>
                  <a:schemeClr val="tx1"/>
                </a:solidFill>
              </a:rPr>
              <a:t>014</a:t>
            </a:r>
          </a:p>
        </p:txBody>
      </p:sp>
      <p:sp>
        <p:nvSpPr>
          <p:cNvPr id="424" name="Rectangle: Rounded Corners 423">
            <a:extLst>
              <a:ext uri="{FF2B5EF4-FFF2-40B4-BE49-F238E27FC236}">
                <a16:creationId xmlns:a16="http://schemas.microsoft.com/office/drawing/2014/main" id="{BE56E6CC-1F70-2298-62CE-2D1EE1928C9A}"/>
              </a:ext>
            </a:extLst>
          </p:cNvPr>
          <p:cNvSpPr/>
          <p:nvPr/>
        </p:nvSpPr>
        <p:spPr>
          <a:xfrm>
            <a:off x="662210" y="363618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.002</a:t>
            </a:r>
          </a:p>
        </p:txBody>
      </p:sp>
      <p:sp>
        <p:nvSpPr>
          <p:cNvPr id="426" name="Rectangle: Rounded Corners 425">
            <a:extLst>
              <a:ext uri="{FF2B5EF4-FFF2-40B4-BE49-F238E27FC236}">
                <a16:creationId xmlns:a16="http://schemas.microsoft.com/office/drawing/2014/main" id="{5A054745-7350-3857-A513-709C87C9DCD1}"/>
              </a:ext>
            </a:extLst>
          </p:cNvPr>
          <p:cNvSpPr/>
          <p:nvPr/>
        </p:nvSpPr>
        <p:spPr>
          <a:xfrm>
            <a:off x="662210" y="43260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.008</a:t>
            </a:r>
          </a:p>
        </p:txBody>
      </p:sp>
      <p:sp>
        <p:nvSpPr>
          <p:cNvPr id="428" name="Rectangle: Rounded Corners 427">
            <a:extLst>
              <a:ext uri="{FF2B5EF4-FFF2-40B4-BE49-F238E27FC236}">
                <a16:creationId xmlns:a16="http://schemas.microsoft.com/office/drawing/2014/main" id="{AD7D5E64-63A0-7D20-A5E6-08E68E7D1951}"/>
              </a:ext>
            </a:extLst>
          </p:cNvPr>
          <p:cNvSpPr/>
          <p:nvPr/>
        </p:nvSpPr>
        <p:spPr>
          <a:xfrm>
            <a:off x="662210" y="50159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-.007</a:t>
            </a:r>
          </a:p>
        </p:txBody>
      </p:sp>
      <p:sp>
        <p:nvSpPr>
          <p:cNvPr id="430" name="Rectangle: Rounded Corners 429">
            <a:extLst>
              <a:ext uri="{FF2B5EF4-FFF2-40B4-BE49-F238E27FC236}">
                <a16:creationId xmlns:a16="http://schemas.microsoft.com/office/drawing/2014/main" id="{541C8A14-1C33-7014-5157-CE794BEAC428}"/>
              </a:ext>
            </a:extLst>
          </p:cNvPr>
          <p:cNvSpPr/>
          <p:nvPr/>
        </p:nvSpPr>
        <p:spPr>
          <a:xfrm>
            <a:off x="662210" y="5705826"/>
            <a:ext cx="616792" cy="641718"/>
          </a:xfrm>
          <a:prstGeom prst="roundRect">
            <a:avLst/>
          </a:prstGeom>
          <a:solidFill>
            <a:srgbClr val="89B8D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-.059</a:t>
            </a:r>
          </a:p>
        </p:txBody>
      </p:sp>
      <p:sp>
        <p:nvSpPr>
          <p:cNvPr id="432" name="TextBox 431">
            <a:extLst>
              <a:ext uri="{FF2B5EF4-FFF2-40B4-BE49-F238E27FC236}">
                <a16:creationId xmlns:a16="http://schemas.microsoft.com/office/drawing/2014/main" id="{2EFA5108-3A9C-2CE8-F3F5-07EC2B7F0705}"/>
              </a:ext>
            </a:extLst>
          </p:cNvPr>
          <p:cNvSpPr txBox="1"/>
          <p:nvPr/>
        </p:nvSpPr>
        <p:spPr>
          <a:xfrm>
            <a:off x="214107" y="1087607"/>
            <a:ext cx="282450" cy="246221"/>
          </a:xfrm>
          <a:prstGeom prst="rect">
            <a:avLst/>
          </a:prstGeom>
          <a:noFill/>
        </p:spPr>
        <p:txBody>
          <a:bodyPr wrap="none" rtlCol="0">
            <a:spAutoFit/>
          </a:bodyPr>
          <a:lstStyle/>
          <a:p>
            <a:r>
              <a:rPr lang="en-US" sz="1000" b="1" dirty="0"/>
              <a:t>IT</a:t>
            </a:r>
            <a:endParaRPr lang="en-US" sz="1000" b="1" baseline="-25000" dirty="0"/>
          </a:p>
        </p:txBody>
      </p:sp>
      <p:sp>
        <p:nvSpPr>
          <p:cNvPr id="434" name="TextBox 433">
            <a:extLst>
              <a:ext uri="{FF2B5EF4-FFF2-40B4-BE49-F238E27FC236}">
                <a16:creationId xmlns:a16="http://schemas.microsoft.com/office/drawing/2014/main" id="{1DB42169-67AD-E747-FB1F-93A237C7B91A}"/>
              </a:ext>
            </a:extLst>
          </p:cNvPr>
          <p:cNvSpPr txBox="1"/>
          <p:nvPr/>
        </p:nvSpPr>
        <p:spPr>
          <a:xfrm>
            <a:off x="829381" y="594144"/>
            <a:ext cx="282450" cy="246221"/>
          </a:xfrm>
          <a:prstGeom prst="rect">
            <a:avLst/>
          </a:prstGeom>
          <a:noFill/>
        </p:spPr>
        <p:txBody>
          <a:bodyPr wrap="none" rtlCol="0">
            <a:spAutoFit/>
          </a:bodyPr>
          <a:lstStyle/>
          <a:p>
            <a:r>
              <a:rPr lang="en-US" sz="1000" b="1" dirty="0"/>
              <a:t>IT</a:t>
            </a:r>
            <a:endParaRPr lang="en-US" sz="1000" b="1" baseline="-25000" dirty="0"/>
          </a:p>
        </p:txBody>
      </p:sp>
      <p:sp>
        <p:nvSpPr>
          <p:cNvPr id="436" name="TextBox 435">
            <a:extLst>
              <a:ext uri="{FF2B5EF4-FFF2-40B4-BE49-F238E27FC236}">
                <a16:creationId xmlns:a16="http://schemas.microsoft.com/office/drawing/2014/main" id="{146A1171-A5EE-6D30-121D-9784C6193633}"/>
              </a:ext>
            </a:extLst>
          </p:cNvPr>
          <p:cNvSpPr txBox="1"/>
          <p:nvPr/>
        </p:nvSpPr>
        <p:spPr>
          <a:xfrm>
            <a:off x="1370976" y="582286"/>
            <a:ext cx="530915" cy="246221"/>
          </a:xfrm>
          <a:prstGeom prst="rect">
            <a:avLst/>
          </a:prstGeom>
          <a:solidFill>
            <a:srgbClr val="F7F7F7"/>
          </a:solidFill>
        </p:spPr>
        <p:txBody>
          <a:bodyPr wrap="none" rtlCol="0">
            <a:spAutoFit/>
          </a:bodyPr>
          <a:lstStyle/>
          <a:p>
            <a:r>
              <a:rPr lang="en-US" sz="1000" b="1" dirty="0"/>
              <a:t>STORE</a:t>
            </a:r>
            <a:endParaRPr lang="en-US" sz="1000" b="1" baseline="-25000" dirty="0"/>
          </a:p>
        </p:txBody>
      </p:sp>
      <p:sp>
        <p:nvSpPr>
          <p:cNvPr id="438" name="TextBox 437">
            <a:extLst>
              <a:ext uri="{FF2B5EF4-FFF2-40B4-BE49-F238E27FC236}">
                <a16:creationId xmlns:a16="http://schemas.microsoft.com/office/drawing/2014/main" id="{DDB57711-83CC-6DA7-4226-FA616875B80B}"/>
              </a:ext>
            </a:extLst>
          </p:cNvPr>
          <p:cNvSpPr txBox="1"/>
          <p:nvPr/>
        </p:nvSpPr>
        <p:spPr>
          <a:xfrm>
            <a:off x="1998265" y="567679"/>
            <a:ext cx="534121" cy="246221"/>
          </a:xfrm>
          <a:prstGeom prst="rect">
            <a:avLst/>
          </a:prstGeom>
          <a:noFill/>
        </p:spPr>
        <p:txBody>
          <a:bodyPr wrap="none" rtlCol="0">
            <a:spAutoFit/>
          </a:bodyPr>
          <a:lstStyle/>
          <a:p>
            <a:r>
              <a:rPr lang="en-US" sz="1000" b="1" dirty="0"/>
              <a:t>QSTRT</a:t>
            </a:r>
            <a:endParaRPr lang="en-US" sz="1000" b="1" baseline="-25000" dirty="0"/>
          </a:p>
        </p:txBody>
      </p:sp>
      <p:sp>
        <p:nvSpPr>
          <p:cNvPr id="440" name="TextBox 439">
            <a:extLst>
              <a:ext uri="{FF2B5EF4-FFF2-40B4-BE49-F238E27FC236}">
                <a16:creationId xmlns:a16="http://schemas.microsoft.com/office/drawing/2014/main" id="{CD84A3BA-CC88-9FFD-906F-3004E9AC2BB1}"/>
              </a:ext>
            </a:extLst>
          </p:cNvPr>
          <p:cNvSpPr txBox="1"/>
          <p:nvPr/>
        </p:nvSpPr>
        <p:spPr>
          <a:xfrm>
            <a:off x="2688542" y="578263"/>
            <a:ext cx="575799" cy="246221"/>
          </a:xfrm>
          <a:prstGeom prst="rect">
            <a:avLst/>
          </a:prstGeom>
          <a:solidFill>
            <a:srgbClr val="F7F7F7"/>
          </a:solidFill>
        </p:spPr>
        <p:txBody>
          <a:bodyPr wrap="none" rtlCol="0">
            <a:spAutoFit/>
          </a:bodyPr>
          <a:lstStyle/>
          <a:p>
            <a:r>
              <a:rPr lang="en-US" sz="1000" b="1" dirty="0"/>
              <a:t>QCMPL</a:t>
            </a:r>
            <a:endParaRPr lang="en-US" sz="1000" b="1" baseline="-25000" dirty="0"/>
          </a:p>
        </p:txBody>
      </p:sp>
      <p:sp>
        <p:nvSpPr>
          <p:cNvPr id="442" name="TextBox 441">
            <a:extLst>
              <a:ext uri="{FF2B5EF4-FFF2-40B4-BE49-F238E27FC236}">
                <a16:creationId xmlns:a16="http://schemas.microsoft.com/office/drawing/2014/main" id="{68F58E8A-6E28-CA0C-D6FA-0843B7EC00E8}"/>
              </a:ext>
            </a:extLst>
          </p:cNvPr>
          <p:cNvSpPr txBox="1"/>
          <p:nvPr/>
        </p:nvSpPr>
        <p:spPr>
          <a:xfrm>
            <a:off x="3357125" y="557840"/>
            <a:ext cx="522900" cy="246221"/>
          </a:xfrm>
          <a:prstGeom prst="rect">
            <a:avLst/>
          </a:prstGeom>
          <a:noFill/>
        </p:spPr>
        <p:txBody>
          <a:bodyPr wrap="none" rtlCol="0">
            <a:spAutoFit/>
          </a:bodyPr>
          <a:lstStyle/>
          <a:p>
            <a:r>
              <a:rPr lang="en-US" sz="1000" b="1" dirty="0"/>
              <a:t>ASTRT</a:t>
            </a:r>
            <a:endParaRPr lang="en-US" sz="1000" b="1" baseline="-25000" dirty="0"/>
          </a:p>
        </p:txBody>
      </p:sp>
      <p:sp>
        <p:nvSpPr>
          <p:cNvPr id="444" name="TextBox 443">
            <a:extLst>
              <a:ext uri="{FF2B5EF4-FFF2-40B4-BE49-F238E27FC236}">
                <a16:creationId xmlns:a16="http://schemas.microsoft.com/office/drawing/2014/main" id="{FE3B23E8-1D2A-2DD2-2032-6271FDCCE7E6}"/>
              </a:ext>
            </a:extLst>
          </p:cNvPr>
          <p:cNvSpPr txBox="1"/>
          <p:nvPr/>
        </p:nvSpPr>
        <p:spPr>
          <a:xfrm>
            <a:off x="4042513" y="563196"/>
            <a:ext cx="564578" cy="246221"/>
          </a:xfrm>
          <a:prstGeom prst="rect">
            <a:avLst/>
          </a:prstGeom>
          <a:solidFill>
            <a:srgbClr val="F7F7F7"/>
          </a:solidFill>
        </p:spPr>
        <p:txBody>
          <a:bodyPr wrap="none" rtlCol="0">
            <a:spAutoFit/>
          </a:bodyPr>
          <a:lstStyle/>
          <a:p>
            <a:r>
              <a:rPr lang="en-US" sz="1000" b="1" dirty="0"/>
              <a:t>ACMPL</a:t>
            </a:r>
            <a:endParaRPr lang="en-US" sz="1000" b="1" baseline="-25000" dirty="0"/>
          </a:p>
        </p:txBody>
      </p:sp>
      <p:sp>
        <p:nvSpPr>
          <p:cNvPr id="446" name="TextBox 445">
            <a:extLst>
              <a:ext uri="{FF2B5EF4-FFF2-40B4-BE49-F238E27FC236}">
                <a16:creationId xmlns:a16="http://schemas.microsoft.com/office/drawing/2014/main" id="{BAD2D8B5-0CEC-621F-DC06-617031928686}"/>
              </a:ext>
            </a:extLst>
          </p:cNvPr>
          <p:cNvSpPr txBox="1"/>
          <p:nvPr/>
        </p:nvSpPr>
        <p:spPr>
          <a:xfrm>
            <a:off x="4682636" y="557840"/>
            <a:ext cx="457176" cy="246221"/>
          </a:xfrm>
          <a:prstGeom prst="rect">
            <a:avLst/>
          </a:prstGeom>
          <a:noFill/>
        </p:spPr>
        <p:txBody>
          <a:bodyPr wrap="none" rtlCol="0">
            <a:spAutoFit/>
          </a:bodyPr>
          <a:lstStyle/>
          <a:p>
            <a:r>
              <a:rPr lang="en-US" sz="1000" b="1" dirty="0"/>
              <a:t>RULE</a:t>
            </a:r>
            <a:endParaRPr lang="en-US" sz="1000" b="1" baseline="-25000" dirty="0"/>
          </a:p>
        </p:txBody>
      </p:sp>
      <p:sp>
        <p:nvSpPr>
          <p:cNvPr id="448" name="TextBox 447">
            <a:extLst>
              <a:ext uri="{FF2B5EF4-FFF2-40B4-BE49-F238E27FC236}">
                <a16:creationId xmlns:a16="http://schemas.microsoft.com/office/drawing/2014/main" id="{BBDFC137-4120-B716-5FF7-577B4497BD58}"/>
              </a:ext>
            </a:extLst>
          </p:cNvPr>
          <p:cNvSpPr txBox="1"/>
          <p:nvPr/>
        </p:nvSpPr>
        <p:spPr>
          <a:xfrm>
            <a:off x="5435913" y="585747"/>
            <a:ext cx="486030" cy="246221"/>
          </a:xfrm>
          <a:prstGeom prst="rect">
            <a:avLst/>
          </a:prstGeom>
          <a:solidFill>
            <a:srgbClr val="F7F7F7"/>
          </a:solidFill>
        </p:spPr>
        <p:txBody>
          <a:bodyPr wrap="none" rtlCol="0">
            <a:spAutoFit/>
          </a:bodyPr>
          <a:lstStyle/>
          <a:p>
            <a:r>
              <a:rPr lang="en-US" sz="1000" b="1" dirty="0"/>
              <a:t>ISSUE</a:t>
            </a:r>
            <a:endParaRPr lang="en-US" sz="1000" b="1" baseline="-25000" dirty="0"/>
          </a:p>
        </p:txBody>
      </p:sp>
      <p:sp>
        <p:nvSpPr>
          <p:cNvPr id="453" name="Rectangle: Rounded Corners 452">
            <a:extLst>
              <a:ext uri="{FF2B5EF4-FFF2-40B4-BE49-F238E27FC236}">
                <a16:creationId xmlns:a16="http://schemas.microsoft.com/office/drawing/2014/main" id="{997B4667-BD35-0F0F-5514-852CE42D9557}"/>
              </a:ext>
            </a:extLst>
          </p:cNvPr>
          <p:cNvSpPr/>
          <p:nvPr/>
        </p:nvSpPr>
        <p:spPr>
          <a:xfrm>
            <a:off x="6709576" y="1045053"/>
            <a:ext cx="547387" cy="1881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IT</a:t>
            </a:r>
          </a:p>
        </p:txBody>
      </p:sp>
      <p:sp>
        <p:nvSpPr>
          <p:cNvPr id="457" name="Rectangle: Rounded Corners 456">
            <a:extLst>
              <a:ext uri="{FF2B5EF4-FFF2-40B4-BE49-F238E27FC236}">
                <a16:creationId xmlns:a16="http://schemas.microsoft.com/office/drawing/2014/main" id="{3A47E9DF-858F-49A7-F392-61CF9466ECBB}"/>
              </a:ext>
            </a:extLst>
          </p:cNvPr>
          <p:cNvSpPr/>
          <p:nvPr/>
        </p:nvSpPr>
        <p:spPr>
          <a:xfrm>
            <a:off x="7340707" y="1496606"/>
            <a:ext cx="591176"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STORE</a:t>
            </a:r>
          </a:p>
        </p:txBody>
      </p:sp>
      <p:cxnSp>
        <p:nvCxnSpPr>
          <p:cNvPr id="469" name="Straight Arrow Connector 468">
            <a:extLst>
              <a:ext uri="{FF2B5EF4-FFF2-40B4-BE49-F238E27FC236}">
                <a16:creationId xmlns:a16="http://schemas.microsoft.com/office/drawing/2014/main" id="{7842467D-B33A-10A8-3706-51C023130D2C}"/>
              </a:ext>
            </a:extLst>
          </p:cNvPr>
          <p:cNvCxnSpPr>
            <a:cxnSpLocks/>
            <a:stCxn id="453" idx="3"/>
            <a:endCxn id="457" idx="0"/>
          </p:cNvCxnSpPr>
          <p:nvPr/>
        </p:nvCxnSpPr>
        <p:spPr>
          <a:xfrm>
            <a:off x="7256963" y="1139130"/>
            <a:ext cx="379332" cy="3574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1" name="Straight Arrow Connector 470">
            <a:extLst>
              <a:ext uri="{FF2B5EF4-FFF2-40B4-BE49-F238E27FC236}">
                <a16:creationId xmlns:a16="http://schemas.microsoft.com/office/drawing/2014/main" id="{8894F399-F2A5-75B1-FCD1-22448DCDA5F3}"/>
              </a:ext>
            </a:extLst>
          </p:cNvPr>
          <p:cNvCxnSpPr>
            <a:cxnSpLocks/>
            <a:stCxn id="501" idx="3"/>
            <a:endCxn id="457" idx="2"/>
          </p:cNvCxnSpPr>
          <p:nvPr/>
        </p:nvCxnSpPr>
        <p:spPr>
          <a:xfrm flipV="1">
            <a:off x="7256962" y="1714704"/>
            <a:ext cx="379333" cy="3268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3" name="Rectangle: Rounded Corners 482">
            <a:extLst>
              <a:ext uri="{FF2B5EF4-FFF2-40B4-BE49-F238E27FC236}">
                <a16:creationId xmlns:a16="http://schemas.microsoft.com/office/drawing/2014/main" id="{C46103AA-32E2-E536-29A3-1FF83EC887EF}"/>
              </a:ext>
            </a:extLst>
          </p:cNvPr>
          <p:cNvSpPr/>
          <p:nvPr/>
        </p:nvSpPr>
        <p:spPr>
          <a:xfrm>
            <a:off x="8185346" y="1496606"/>
            <a:ext cx="591176"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QSTRT</a:t>
            </a:r>
          </a:p>
        </p:txBody>
      </p:sp>
      <p:sp>
        <p:nvSpPr>
          <p:cNvPr id="485" name="Rectangle: Rounded Corners 484">
            <a:extLst>
              <a:ext uri="{FF2B5EF4-FFF2-40B4-BE49-F238E27FC236}">
                <a16:creationId xmlns:a16="http://schemas.microsoft.com/office/drawing/2014/main" id="{CFCCD363-A4A7-E365-871A-1B076E9C9B21}"/>
              </a:ext>
            </a:extLst>
          </p:cNvPr>
          <p:cNvSpPr/>
          <p:nvPr/>
        </p:nvSpPr>
        <p:spPr>
          <a:xfrm>
            <a:off x="8991884" y="1496606"/>
            <a:ext cx="629371"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QCOMPL</a:t>
            </a:r>
          </a:p>
        </p:txBody>
      </p:sp>
      <p:sp>
        <p:nvSpPr>
          <p:cNvPr id="491" name="Rectangle: Rounded Corners 490">
            <a:extLst>
              <a:ext uri="{FF2B5EF4-FFF2-40B4-BE49-F238E27FC236}">
                <a16:creationId xmlns:a16="http://schemas.microsoft.com/office/drawing/2014/main" id="{2B31C395-B6AF-9622-E27C-90204EB15A24}"/>
              </a:ext>
            </a:extLst>
          </p:cNvPr>
          <p:cNvSpPr/>
          <p:nvPr/>
        </p:nvSpPr>
        <p:spPr>
          <a:xfrm>
            <a:off x="9836524" y="1496606"/>
            <a:ext cx="591176"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ASTRT</a:t>
            </a:r>
          </a:p>
        </p:txBody>
      </p:sp>
      <p:sp>
        <p:nvSpPr>
          <p:cNvPr id="493" name="Rectangle: Rounded Corners 492">
            <a:extLst>
              <a:ext uri="{FF2B5EF4-FFF2-40B4-BE49-F238E27FC236}">
                <a16:creationId xmlns:a16="http://schemas.microsoft.com/office/drawing/2014/main" id="{D855D09F-E522-9268-9CD6-5D87875BB4F8}"/>
              </a:ext>
            </a:extLst>
          </p:cNvPr>
          <p:cNvSpPr/>
          <p:nvPr/>
        </p:nvSpPr>
        <p:spPr>
          <a:xfrm>
            <a:off x="10633372" y="1493158"/>
            <a:ext cx="620570"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ACOMPL</a:t>
            </a:r>
          </a:p>
        </p:txBody>
      </p:sp>
      <p:sp>
        <p:nvSpPr>
          <p:cNvPr id="495" name="Rectangle: Rounded Corners 494">
            <a:extLst>
              <a:ext uri="{FF2B5EF4-FFF2-40B4-BE49-F238E27FC236}">
                <a16:creationId xmlns:a16="http://schemas.microsoft.com/office/drawing/2014/main" id="{FE5C84C0-4A3B-F8D7-7362-4A4EBF63A6AD}"/>
              </a:ext>
            </a:extLst>
          </p:cNvPr>
          <p:cNvSpPr/>
          <p:nvPr/>
        </p:nvSpPr>
        <p:spPr>
          <a:xfrm>
            <a:off x="11464842" y="1496606"/>
            <a:ext cx="591176"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ISSUE</a:t>
            </a:r>
          </a:p>
        </p:txBody>
      </p:sp>
      <p:sp>
        <p:nvSpPr>
          <p:cNvPr id="501" name="Rectangle: Rounded Corners 500">
            <a:extLst>
              <a:ext uri="{FF2B5EF4-FFF2-40B4-BE49-F238E27FC236}">
                <a16:creationId xmlns:a16="http://schemas.microsoft.com/office/drawing/2014/main" id="{87FE2D29-720B-1A1E-5B2F-BC643387D667}"/>
              </a:ext>
            </a:extLst>
          </p:cNvPr>
          <p:cNvSpPr/>
          <p:nvPr/>
        </p:nvSpPr>
        <p:spPr>
          <a:xfrm>
            <a:off x="6709575" y="1947511"/>
            <a:ext cx="547387" cy="1881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Rule</a:t>
            </a:r>
          </a:p>
        </p:txBody>
      </p:sp>
      <p:cxnSp>
        <p:nvCxnSpPr>
          <p:cNvPr id="505" name="Straight Arrow Connector 504">
            <a:extLst>
              <a:ext uri="{FF2B5EF4-FFF2-40B4-BE49-F238E27FC236}">
                <a16:creationId xmlns:a16="http://schemas.microsoft.com/office/drawing/2014/main" id="{165AE43F-16FA-BA44-193B-6AF07EE65BE2}"/>
              </a:ext>
            </a:extLst>
          </p:cNvPr>
          <p:cNvCxnSpPr>
            <a:cxnSpLocks/>
            <a:stCxn id="457" idx="3"/>
            <a:endCxn id="483" idx="1"/>
          </p:cNvCxnSpPr>
          <p:nvPr/>
        </p:nvCxnSpPr>
        <p:spPr>
          <a:xfrm>
            <a:off x="7931883" y="1605655"/>
            <a:ext cx="2534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Straight Arrow Connector 507">
            <a:extLst>
              <a:ext uri="{FF2B5EF4-FFF2-40B4-BE49-F238E27FC236}">
                <a16:creationId xmlns:a16="http://schemas.microsoft.com/office/drawing/2014/main" id="{64559E83-1221-4E4D-973F-3B5E5624D2B9}"/>
              </a:ext>
            </a:extLst>
          </p:cNvPr>
          <p:cNvCxnSpPr>
            <a:cxnSpLocks/>
          </p:cNvCxnSpPr>
          <p:nvPr/>
        </p:nvCxnSpPr>
        <p:spPr>
          <a:xfrm>
            <a:off x="8783056" y="1612147"/>
            <a:ext cx="1998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3E5A27FD-94AF-426A-0E31-1066F2CCA9E1}"/>
              </a:ext>
            </a:extLst>
          </p:cNvPr>
          <p:cNvCxnSpPr>
            <a:cxnSpLocks/>
          </p:cNvCxnSpPr>
          <p:nvPr/>
        </p:nvCxnSpPr>
        <p:spPr>
          <a:xfrm>
            <a:off x="9628876" y="1612147"/>
            <a:ext cx="1998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0" name="Straight Arrow Connector 509">
            <a:extLst>
              <a:ext uri="{FF2B5EF4-FFF2-40B4-BE49-F238E27FC236}">
                <a16:creationId xmlns:a16="http://schemas.microsoft.com/office/drawing/2014/main" id="{25532CCA-0DE1-4C5A-1897-0E910FD0FE5D}"/>
              </a:ext>
            </a:extLst>
          </p:cNvPr>
          <p:cNvCxnSpPr>
            <a:cxnSpLocks/>
          </p:cNvCxnSpPr>
          <p:nvPr/>
        </p:nvCxnSpPr>
        <p:spPr>
          <a:xfrm>
            <a:off x="10433548" y="1599955"/>
            <a:ext cx="1998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4EEE6B58-BE64-852E-4784-50FF835C9F74}"/>
              </a:ext>
            </a:extLst>
          </p:cNvPr>
          <p:cNvCxnSpPr>
            <a:cxnSpLocks/>
          </p:cNvCxnSpPr>
          <p:nvPr/>
        </p:nvCxnSpPr>
        <p:spPr>
          <a:xfrm>
            <a:off x="11263633" y="1612147"/>
            <a:ext cx="1998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DAFB4BCD-E4E1-0CE9-AD61-911949CAB1CF}"/>
              </a:ext>
            </a:extLst>
          </p:cNvPr>
          <p:cNvCxnSpPr>
            <a:cxnSpLocks/>
          </p:cNvCxnSpPr>
          <p:nvPr/>
        </p:nvCxnSpPr>
        <p:spPr>
          <a:xfrm>
            <a:off x="6810160" y="853081"/>
            <a:ext cx="502326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42" name="TextBox 541">
            <a:extLst>
              <a:ext uri="{FF2B5EF4-FFF2-40B4-BE49-F238E27FC236}">
                <a16:creationId xmlns:a16="http://schemas.microsoft.com/office/drawing/2014/main" id="{DD0EBC41-AD4E-1E74-31B5-09751EB7EF99}"/>
              </a:ext>
            </a:extLst>
          </p:cNvPr>
          <p:cNvSpPr txBox="1"/>
          <p:nvPr/>
        </p:nvSpPr>
        <p:spPr>
          <a:xfrm>
            <a:off x="8267963" y="538115"/>
            <a:ext cx="9049512" cy="338554"/>
          </a:xfrm>
          <a:prstGeom prst="rect">
            <a:avLst/>
          </a:prstGeom>
          <a:noFill/>
        </p:spPr>
        <p:txBody>
          <a:bodyPr wrap="square">
            <a:spAutoFit/>
          </a:bodyPr>
          <a:lstStyle/>
          <a:p>
            <a:r>
              <a:rPr lang="en-US" sz="1600" b="1" dirty="0">
                <a:solidFill>
                  <a:srgbClr val="00365B"/>
                </a:solidFill>
              </a:rPr>
              <a:t>Declared Structure</a:t>
            </a:r>
          </a:p>
        </p:txBody>
      </p:sp>
      <p:sp>
        <p:nvSpPr>
          <p:cNvPr id="17" name="TextBox 16">
            <a:extLst>
              <a:ext uri="{FF2B5EF4-FFF2-40B4-BE49-F238E27FC236}">
                <a16:creationId xmlns:a16="http://schemas.microsoft.com/office/drawing/2014/main" id="{EC23A7B3-0859-4D10-5C09-4CA8F997CAEC}"/>
              </a:ext>
            </a:extLst>
          </p:cNvPr>
          <p:cNvSpPr txBox="1"/>
          <p:nvPr/>
        </p:nvSpPr>
        <p:spPr>
          <a:xfrm>
            <a:off x="6709576" y="2258780"/>
            <a:ext cx="5288220" cy="3416320"/>
          </a:xfrm>
          <a:prstGeom prst="rect">
            <a:avLst/>
          </a:prstGeom>
          <a:noFill/>
        </p:spPr>
        <p:txBody>
          <a:bodyPr wrap="square">
            <a:spAutoFit/>
          </a:bodyPr>
          <a:lstStyle/>
          <a:p>
            <a:r>
              <a:rPr lang="en-US" sz="1200" b="1" dirty="0"/>
              <a:t>Adjacent gates correlate strongly</a:t>
            </a:r>
            <a:r>
              <a:rPr lang="en-US" sz="1200" dirty="0"/>
              <a:t> — .354, .672, .729, .821, .852.</a:t>
            </a:r>
          </a:p>
          <a:p>
            <a:endParaRPr lang="en-US" sz="1200" b="1" dirty="0"/>
          </a:p>
          <a:p>
            <a:r>
              <a:rPr lang="en-US" sz="1200" b="1" dirty="0"/>
              <a:t>Non-adjacent pairs match the chain exactly.</a:t>
            </a:r>
            <a:r>
              <a:rPr lang="en-US" sz="1200" dirty="0"/>
              <a:t> STORE to ISSUE: .354 × .672 × .729 × .821 × .852 = .122. Observed .122.</a:t>
            </a:r>
          </a:p>
          <a:p>
            <a:endParaRPr lang="en-US" sz="1200" dirty="0"/>
          </a:p>
          <a:p>
            <a:endParaRPr lang="en-US" sz="1200" dirty="0"/>
          </a:p>
          <a:p>
            <a:r>
              <a:rPr lang="en-US" sz="1200" b="1" dirty="0"/>
              <a:t>STORE to ISSUE</a:t>
            </a:r>
            <a:r>
              <a:rPr lang="en-US" sz="1200" dirty="0"/>
              <a:t> = 0.122</a:t>
            </a:r>
          </a:p>
          <a:p>
            <a:r>
              <a:rPr lang="en-US" sz="1200" b="1" dirty="0"/>
              <a:t>IT to STORE </a:t>
            </a:r>
            <a:r>
              <a:rPr lang="en-US" sz="1200" dirty="0"/>
              <a:t>= -0.014</a:t>
            </a:r>
          </a:p>
          <a:p>
            <a:endParaRPr lang="en-US" sz="1200" dirty="0"/>
          </a:p>
          <a:p>
            <a:endParaRPr lang="en-US" sz="1200" dirty="0"/>
          </a:p>
          <a:p>
            <a:r>
              <a:rPr lang="en-US" sz="1200" b="1" dirty="0"/>
              <a:t>IT to ISSUE should be −.014 × .122 ≈ −.002. It's −.059.</a:t>
            </a:r>
            <a:r>
              <a:rPr lang="en-US" sz="1200" dirty="0"/>
              <a:t> Thirty times too large — and the smallest number in the column.</a:t>
            </a:r>
          </a:p>
          <a:p>
            <a:endParaRPr lang="en-US" sz="1200" dirty="0"/>
          </a:p>
          <a:p>
            <a:endParaRPr lang="en-US" sz="1200" dirty="0"/>
          </a:p>
          <a:p>
            <a:r>
              <a:rPr lang="en-US" sz="1200" dirty="0"/>
              <a:t>Observed IT–ISSUE: </a:t>
            </a:r>
            <a:r>
              <a:rPr lang="en-US" sz="1200" b="1" dirty="0"/>
              <a:t>−.059</a:t>
            </a:r>
            <a:r>
              <a:rPr lang="en-US" sz="1200" dirty="0"/>
              <a:t>.</a:t>
            </a:r>
          </a:p>
          <a:p>
            <a:endParaRPr lang="en-US" sz="1200" dirty="0"/>
          </a:p>
          <a:p>
            <a:r>
              <a:rPr lang="en-US" sz="1200" dirty="0"/>
              <a:t>Observed does not match the path</a:t>
            </a:r>
          </a:p>
          <a:p>
            <a:endParaRPr lang="en-US" sz="1200" dirty="0"/>
          </a:p>
        </p:txBody>
      </p:sp>
    </p:spTree>
    <p:extLst>
      <p:ext uri="{BB962C8B-B14F-4D97-AF65-F5344CB8AC3E}">
        <p14:creationId xmlns:p14="http://schemas.microsoft.com/office/powerpoint/2010/main" val="1876916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Rectangle: Rounded Corners 450">
            <a:extLst>
              <a:ext uri="{FF2B5EF4-FFF2-40B4-BE49-F238E27FC236}">
                <a16:creationId xmlns:a16="http://schemas.microsoft.com/office/drawing/2014/main" id="{7780B6F6-AE5E-A4F1-2229-68A3797DF736}"/>
              </a:ext>
            </a:extLst>
          </p:cNvPr>
          <p:cNvSpPr/>
          <p:nvPr/>
        </p:nvSpPr>
        <p:spPr>
          <a:xfrm flipH="1">
            <a:off x="6675702" y="556723"/>
            <a:ext cx="5432717" cy="227540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0"/>
          <p:cNvSpPr txBox="1"/>
          <p:nvPr/>
        </p:nvSpPr>
        <p:spPr>
          <a:xfrm>
            <a:off x="160046" y="-195023"/>
            <a:ext cx="10881360" cy="777240"/>
          </a:xfrm>
          <a:prstGeom prst="rect">
            <a:avLst/>
          </a:prstGeom>
          <a:noFill/>
          <a:ln/>
        </p:spPr>
        <p:txBody>
          <a:bodyPr wrap="square"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The leak is visible in the precision matrix</a:t>
            </a:r>
            <a:endParaRPr lang="en-US" sz="3000" dirty="0"/>
          </a:p>
        </p:txBody>
      </p:sp>
      <p:sp>
        <p:nvSpPr>
          <p:cNvPr id="23" name="Rectangle: Rounded Corners 22">
            <a:extLst>
              <a:ext uri="{FF2B5EF4-FFF2-40B4-BE49-F238E27FC236}">
                <a16:creationId xmlns:a16="http://schemas.microsoft.com/office/drawing/2014/main" id="{904B5B05-8E33-76B7-020F-023063E23175}"/>
              </a:ext>
            </a:extLst>
          </p:cNvPr>
          <p:cNvSpPr/>
          <p:nvPr/>
        </p:nvSpPr>
        <p:spPr>
          <a:xfrm flipH="1">
            <a:off x="96735" y="509712"/>
            <a:ext cx="6448441" cy="6149765"/>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BF4EC69D-702C-FC2D-D7BB-33D27D7C2595}"/>
              </a:ext>
            </a:extLst>
          </p:cNvPr>
          <p:cNvSpPr txBox="1"/>
          <p:nvPr/>
        </p:nvSpPr>
        <p:spPr>
          <a:xfrm>
            <a:off x="160046" y="1716506"/>
            <a:ext cx="530915" cy="246221"/>
          </a:xfrm>
          <a:prstGeom prst="rect">
            <a:avLst/>
          </a:prstGeom>
          <a:solidFill>
            <a:srgbClr val="F7F7F7"/>
          </a:solidFill>
        </p:spPr>
        <p:txBody>
          <a:bodyPr wrap="none" rtlCol="0">
            <a:spAutoFit/>
          </a:bodyPr>
          <a:lstStyle/>
          <a:p>
            <a:r>
              <a:rPr lang="en-US" sz="1000" b="1" dirty="0"/>
              <a:t>STORE</a:t>
            </a:r>
            <a:endParaRPr lang="en-US" sz="1000" b="1" baseline="-25000" dirty="0"/>
          </a:p>
        </p:txBody>
      </p:sp>
      <p:sp>
        <p:nvSpPr>
          <p:cNvPr id="29" name="TextBox 28">
            <a:extLst>
              <a:ext uri="{FF2B5EF4-FFF2-40B4-BE49-F238E27FC236}">
                <a16:creationId xmlns:a16="http://schemas.microsoft.com/office/drawing/2014/main" id="{981FA5F5-78E2-33A4-404E-72CF8AD4C2A2}"/>
              </a:ext>
            </a:extLst>
          </p:cNvPr>
          <p:cNvSpPr txBox="1"/>
          <p:nvPr/>
        </p:nvSpPr>
        <p:spPr>
          <a:xfrm>
            <a:off x="150428" y="3080498"/>
            <a:ext cx="575799" cy="246221"/>
          </a:xfrm>
          <a:prstGeom prst="rect">
            <a:avLst/>
          </a:prstGeom>
          <a:solidFill>
            <a:srgbClr val="F7F7F7"/>
          </a:solidFill>
        </p:spPr>
        <p:txBody>
          <a:bodyPr wrap="none" rtlCol="0">
            <a:spAutoFit/>
          </a:bodyPr>
          <a:lstStyle/>
          <a:p>
            <a:r>
              <a:rPr lang="en-US" sz="1000" b="1" dirty="0"/>
              <a:t>QCMPL</a:t>
            </a:r>
            <a:endParaRPr lang="en-US" sz="1000" b="1" baseline="-25000" dirty="0"/>
          </a:p>
        </p:txBody>
      </p:sp>
      <p:sp>
        <p:nvSpPr>
          <p:cNvPr id="31" name="TextBox 30">
            <a:extLst>
              <a:ext uri="{FF2B5EF4-FFF2-40B4-BE49-F238E27FC236}">
                <a16:creationId xmlns:a16="http://schemas.microsoft.com/office/drawing/2014/main" id="{0534828C-656B-FC5D-03E1-5A02157810FD}"/>
              </a:ext>
            </a:extLst>
          </p:cNvPr>
          <p:cNvSpPr txBox="1"/>
          <p:nvPr/>
        </p:nvSpPr>
        <p:spPr>
          <a:xfrm>
            <a:off x="130415" y="2384114"/>
            <a:ext cx="534121" cy="246221"/>
          </a:xfrm>
          <a:prstGeom prst="rect">
            <a:avLst/>
          </a:prstGeom>
          <a:noFill/>
        </p:spPr>
        <p:txBody>
          <a:bodyPr wrap="none" rtlCol="0">
            <a:spAutoFit/>
          </a:bodyPr>
          <a:lstStyle/>
          <a:p>
            <a:r>
              <a:rPr lang="en-US" sz="1000" b="1" dirty="0"/>
              <a:t>QSTRT</a:t>
            </a:r>
            <a:endParaRPr lang="en-US" sz="1000" b="1" baseline="-25000" dirty="0"/>
          </a:p>
        </p:txBody>
      </p:sp>
      <p:sp>
        <p:nvSpPr>
          <p:cNvPr id="41" name="TextBox 40">
            <a:extLst>
              <a:ext uri="{FF2B5EF4-FFF2-40B4-BE49-F238E27FC236}">
                <a16:creationId xmlns:a16="http://schemas.microsoft.com/office/drawing/2014/main" id="{C909BE72-0D42-6BB3-0915-460F8A6B7CFF}"/>
              </a:ext>
            </a:extLst>
          </p:cNvPr>
          <p:cNvSpPr txBox="1"/>
          <p:nvPr/>
        </p:nvSpPr>
        <p:spPr>
          <a:xfrm>
            <a:off x="2230920" y="285079"/>
            <a:ext cx="1735283" cy="369332"/>
          </a:xfrm>
          <a:prstGeom prst="rect">
            <a:avLst/>
          </a:prstGeom>
          <a:noFill/>
        </p:spPr>
        <p:txBody>
          <a:bodyPr wrap="none" rtlCol="0">
            <a:spAutoFit/>
          </a:bodyPr>
          <a:lstStyle/>
          <a:p>
            <a:r>
              <a:rPr lang="en-US" b="1" u="sng" dirty="0"/>
              <a:t>Precision Matrix</a:t>
            </a:r>
          </a:p>
        </p:txBody>
      </p:sp>
      <p:sp>
        <p:nvSpPr>
          <p:cNvPr id="109" name="Rectangle: Rounded Corners 108">
            <a:extLst>
              <a:ext uri="{FF2B5EF4-FFF2-40B4-BE49-F238E27FC236}">
                <a16:creationId xmlns:a16="http://schemas.microsoft.com/office/drawing/2014/main" id="{37656FD0-F6AE-4431-8371-2C0895AFC8DD}"/>
              </a:ext>
            </a:extLst>
          </p:cNvPr>
          <p:cNvSpPr/>
          <p:nvPr/>
        </p:nvSpPr>
        <p:spPr>
          <a:xfrm>
            <a:off x="5356414" y="876669"/>
            <a:ext cx="616792" cy="641718"/>
          </a:xfrm>
          <a:prstGeom prst="roundRect">
            <a:avLst/>
          </a:prstGeom>
          <a:solidFill>
            <a:srgbClr val="720C2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0.246</a:t>
            </a:r>
          </a:p>
        </p:txBody>
      </p:sp>
      <p:sp>
        <p:nvSpPr>
          <p:cNvPr id="127" name="Rectangle: Rounded Corners 126">
            <a:extLst>
              <a:ext uri="{FF2B5EF4-FFF2-40B4-BE49-F238E27FC236}">
                <a16:creationId xmlns:a16="http://schemas.microsoft.com/office/drawing/2014/main" id="{6B16B960-B068-A8AF-818B-439107A36291}"/>
              </a:ext>
            </a:extLst>
          </p:cNvPr>
          <p:cNvSpPr/>
          <p:nvPr/>
        </p:nvSpPr>
        <p:spPr>
          <a:xfrm>
            <a:off x="5356414" y="15665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43" name="Rectangle: Rounded Corners 142">
            <a:extLst>
              <a:ext uri="{FF2B5EF4-FFF2-40B4-BE49-F238E27FC236}">
                <a16:creationId xmlns:a16="http://schemas.microsoft.com/office/drawing/2014/main" id="{B968530B-E80B-CA58-7643-0B30FF23BE91}"/>
              </a:ext>
            </a:extLst>
          </p:cNvPr>
          <p:cNvSpPr/>
          <p:nvPr/>
        </p:nvSpPr>
        <p:spPr>
          <a:xfrm>
            <a:off x="5356414" y="225642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Rectangle: Rounded Corners 158">
            <a:extLst>
              <a:ext uri="{FF2B5EF4-FFF2-40B4-BE49-F238E27FC236}">
                <a16:creationId xmlns:a16="http://schemas.microsoft.com/office/drawing/2014/main" id="{A0A12BF0-185E-E813-438F-60C4C19A8BEC}"/>
              </a:ext>
            </a:extLst>
          </p:cNvPr>
          <p:cNvSpPr/>
          <p:nvPr/>
        </p:nvSpPr>
        <p:spPr>
          <a:xfrm>
            <a:off x="5356414" y="294630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75" name="TextBox 174">
            <a:extLst>
              <a:ext uri="{FF2B5EF4-FFF2-40B4-BE49-F238E27FC236}">
                <a16:creationId xmlns:a16="http://schemas.microsoft.com/office/drawing/2014/main" id="{20FB527F-D81A-CC1A-4DD6-5595D6F6A50D}"/>
              </a:ext>
            </a:extLst>
          </p:cNvPr>
          <p:cNvSpPr txBox="1"/>
          <p:nvPr/>
        </p:nvSpPr>
        <p:spPr>
          <a:xfrm>
            <a:off x="113895" y="4460871"/>
            <a:ext cx="564578" cy="246221"/>
          </a:xfrm>
          <a:prstGeom prst="rect">
            <a:avLst/>
          </a:prstGeom>
          <a:solidFill>
            <a:srgbClr val="F7F7F7"/>
          </a:solidFill>
        </p:spPr>
        <p:txBody>
          <a:bodyPr wrap="none" rtlCol="0">
            <a:spAutoFit/>
          </a:bodyPr>
          <a:lstStyle/>
          <a:p>
            <a:r>
              <a:rPr lang="en-US" sz="1000" b="1" dirty="0"/>
              <a:t>ACMPL</a:t>
            </a:r>
            <a:endParaRPr lang="en-US" sz="1000" b="1" baseline="-25000" dirty="0"/>
          </a:p>
        </p:txBody>
      </p:sp>
      <p:sp>
        <p:nvSpPr>
          <p:cNvPr id="177" name="TextBox 176">
            <a:extLst>
              <a:ext uri="{FF2B5EF4-FFF2-40B4-BE49-F238E27FC236}">
                <a16:creationId xmlns:a16="http://schemas.microsoft.com/office/drawing/2014/main" id="{A5CDF69B-B643-00BA-0425-40BB3502010F}"/>
              </a:ext>
            </a:extLst>
          </p:cNvPr>
          <p:cNvSpPr txBox="1"/>
          <p:nvPr/>
        </p:nvSpPr>
        <p:spPr>
          <a:xfrm>
            <a:off x="93882" y="3764487"/>
            <a:ext cx="522900" cy="246221"/>
          </a:xfrm>
          <a:prstGeom prst="rect">
            <a:avLst/>
          </a:prstGeom>
          <a:noFill/>
        </p:spPr>
        <p:txBody>
          <a:bodyPr wrap="none" rtlCol="0">
            <a:spAutoFit/>
          </a:bodyPr>
          <a:lstStyle/>
          <a:p>
            <a:r>
              <a:rPr lang="en-US" sz="1000" b="1" dirty="0"/>
              <a:t>ASTRT</a:t>
            </a:r>
            <a:endParaRPr lang="en-US" sz="1000" b="1" baseline="-25000" dirty="0"/>
          </a:p>
        </p:txBody>
      </p:sp>
      <p:sp>
        <p:nvSpPr>
          <p:cNvPr id="211" name="Rectangle: Rounded Corners 210">
            <a:extLst>
              <a:ext uri="{FF2B5EF4-FFF2-40B4-BE49-F238E27FC236}">
                <a16:creationId xmlns:a16="http://schemas.microsoft.com/office/drawing/2014/main" id="{6F174AA8-8D82-67E4-7003-9C308C282E33}"/>
              </a:ext>
            </a:extLst>
          </p:cNvPr>
          <p:cNvSpPr/>
          <p:nvPr/>
        </p:nvSpPr>
        <p:spPr>
          <a:xfrm>
            <a:off x="5356414" y="363618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7" name="Rectangle: Rounded Corners 226">
            <a:extLst>
              <a:ext uri="{FF2B5EF4-FFF2-40B4-BE49-F238E27FC236}">
                <a16:creationId xmlns:a16="http://schemas.microsoft.com/office/drawing/2014/main" id="{C5E1E591-8715-4825-DC98-89900397AD59}"/>
              </a:ext>
            </a:extLst>
          </p:cNvPr>
          <p:cNvSpPr/>
          <p:nvPr/>
        </p:nvSpPr>
        <p:spPr>
          <a:xfrm>
            <a:off x="5356414" y="4326069"/>
            <a:ext cx="616792" cy="64171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-3.178</a:t>
            </a:r>
          </a:p>
        </p:txBody>
      </p:sp>
      <p:sp>
        <p:nvSpPr>
          <p:cNvPr id="243" name="TextBox 242">
            <a:extLst>
              <a:ext uri="{FF2B5EF4-FFF2-40B4-BE49-F238E27FC236}">
                <a16:creationId xmlns:a16="http://schemas.microsoft.com/office/drawing/2014/main" id="{1CA42328-B6DF-EFDD-0772-BF0C1910A190}"/>
              </a:ext>
            </a:extLst>
          </p:cNvPr>
          <p:cNvSpPr txBox="1"/>
          <p:nvPr/>
        </p:nvSpPr>
        <p:spPr>
          <a:xfrm>
            <a:off x="96736" y="5861261"/>
            <a:ext cx="486030" cy="246221"/>
          </a:xfrm>
          <a:prstGeom prst="rect">
            <a:avLst/>
          </a:prstGeom>
          <a:solidFill>
            <a:srgbClr val="F7F7F7"/>
          </a:solidFill>
        </p:spPr>
        <p:txBody>
          <a:bodyPr wrap="none" rtlCol="0">
            <a:spAutoFit/>
          </a:bodyPr>
          <a:lstStyle/>
          <a:p>
            <a:r>
              <a:rPr lang="en-US" sz="1000" b="1" dirty="0"/>
              <a:t>ISSUE</a:t>
            </a:r>
            <a:endParaRPr lang="en-US" sz="1000" b="1" baseline="-25000" dirty="0"/>
          </a:p>
        </p:txBody>
      </p:sp>
      <p:sp>
        <p:nvSpPr>
          <p:cNvPr id="245" name="TextBox 244">
            <a:extLst>
              <a:ext uri="{FF2B5EF4-FFF2-40B4-BE49-F238E27FC236}">
                <a16:creationId xmlns:a16="http://schemas.microsoft.com/office/drawing/2014/main" id="{AFE474F9-ED60-3D00-39AC-8133E2CED609}"/>
              </a:ext>
            </a:extLst>
          </p:cNvPr>
          <p:cNvSpPr txBox="1"/>
          <p:nvPr/>
        </p:nvSpPr>
        <p:spPr>
          <a:xfrm>
            <a:off x="76723" y="5164877"/>
            <a:ext cx="457176" cy="246221"/>
          </a:xfrm>
          <a:prstGeom prst="rect">
            <a:avLst/>
          </a:prstGeom>
          <a:noFill/>
        </p:spPr>
        <p:txBody>
          <a:bodyPr wrap="none" rtlCol="0">
            <a:spAutoFit/>
          </a:bodyPr>
          <a:lstStyle/>
          <a:p>
            <a:r>
              <a:rPr lang="en-US" sz="1000" b="1" dirty="0"/>
              <a:t>RULE</a:t>
            </a:r>
            <a:endParaRPr lang="en-US" sz="1000" b="1" baseline="-25000" dirty="0"/>
          </a:p>
        </p:txBody>
      </p:sp>
      <p:sp>
        <p:nvSpPr>
          <p:cNvPr id="279" name="Rectangle: Rounded Corners 278">
            <a:extLst>
              <a:ext uri="{FF2B5EF4-FFF2-40B4-BE49-F238E27FC236}">
                <a16:creationId xmlns:a16="http://schemas.microsoft.com/office/drawing/2014/main" id="{575DCB6B-100B-1CA3-57A6-A263C8EA534B}"/>
              </a:ext>
            </a:extLst>
          </p:cNvPr>
          <p:cNvSpPr/>
          <p:nvPr/>
        </p:nvSpPr>
        <p:spPr>
          <a:xfrm>
            <a:off x="5356414" y="5015949"/>
            <a:ext cx="616792" cy="641718"/>
          </a:xfrm>
          <a:prstGeom prst="roundRect">
            <a:avLst/>
          </a:prstGeom>
          <a:solidFill>
            <a:srgbClr val="B76F8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0.125</a:t>
            </a:r>
          </a:p>
        </p:txBody>
      </p:sp>
      <p:sp>
        <p:nvSpPr>
          <p:cNvPr id="295" name="Rectangle: Rounded Corners 294">
            <a:extLst>
              <a:ext uri="{FF2B5EF4-FFF2-40B4-BE49-F238E27FC236}">
                <a16:creationId xmlns:a16="http://schemas.microsoft.com/office/drawing/2014/main" id="{EC4B7E03-94F6-8CBD-045D-0BADD27B8F42}"/>
              </a:ext>
            </a:extLst>
          </p:cNvPr>
          <p:cNvSpPr/>
          <p:nvPr/>
        </p:nvSpPr>
        <p:spPr>
          <a:xfrm>
            <a:off x="5356414" y="5705826"/>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3.724</a:t>
            </a:r>
          </a:p>
        </p:txBody>
      </p:sp>
      <p:sp>
        <p:nvSpPr>
          <p:cNvPr id="317" name="Rectangle: Rounded Corners 316">
            <a:extLst>
              <a:ext uri="{FF2B5EF4-FFF2-40B4-BE49-F238E27FC236}">
                <a16:creationId xmlns:a16="http://schemas.microsoft.com/office/drawing/2014/main" id="{4C93FF79-8439-346E-D38A-98B5A7836D61}"/>
              </a:ext>
            </a:extLst>
          </p:cNvPr>
          <p:cNvSpPr/>
          <p:nvPr/>
        </p:nvSpPr>
        <p:spPr>
          <a:xfrm>
            <a:off x="4682234" y="8766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9" name="Rectangle: Rounded Corners 318">
            <a:extLst>
              <a:ext uri="{FF2B5EF4-FFF2-40B4-BE49-F238E27FC236}">
                <a16:creationId xmlns:a16="http://schemas.microsoft.com/office/drawing/2014/main" id="{C0650EC4-7747-DC29-E564-5398E1408015}"/>
              </a:ext>
            </a:extLst>
          </p:cNvPr>
          <p:cNvSpPr/>
          <p:nvPr/>
        </p:nvSpPr>
        <p:spPr>
          <a:xfrm>
            <a:off x="4682234" y="15665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21" name="Rectangle: Rounded Corners 320">
            <a:extLst>
              <a:ext uri="{FF2B5EF4-FFF2-40B4-BE49-F238E27FC236}">
                <a16:creationId xmlns:a16="http://schemas.microsoft.com/office/drawing/2014/main" id="{F27B3ED1-A843-2D94-BC10-4B7F1D82A6C9}"/>
              </a:ext>
            </a:extLst>
          </p:cNvPr>
          <p:cNvSpPr/>
          <p:nvPr/>
        </p:nvSpPr>
        <p:spPr>
          <a:xfrm>
            <a:off x="4682234" y="225642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3" name="Rectangle: Rounded Corners 322">
            <a:extLst>
              <a:ext uri="{FF2B5EF4-FFF2-40B4-BE49-F238E27FC236}">
                <a16:creationId xmlns:a16="http://schemas.microsoft.com/office/drawing/2014/main" id="{DCCFFAFF-7C46-225C-7380-AD5CE3649D17}"/>
              </a:ext>
            </a:extLst>
          </p:cNvPr>
          <p:cNvSpPr/>
          <p:nvPr/>
        </p:nvSpPr>
        <p:spPr>
          <a:xfrm>
            <a:off x="4682234" y="294630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25" name="Rectangle: Rounded Corners 324">
            <a:extLst>
              <a:ext uri="{FF2B5EF4-FFF2-40B4-BE49-F238E27FC236}">
                <a16:creationId xmlns:a16="http://schemas.microsoft.com/office/drawing/2014/main" id="{704A256F-C7E1-3F7E-3978-34FCB04FB3E7}"/>
              </a:ext>
            </a:extLst>
          </p:cNvPr>
          <p:cNvSpPr/>
          <p:nvPr/>
        </p:nvSpPr>
        <p:spPr>
          <a:xfrm>
            <a:off x="4682234" y="363618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7" name="Rectangle: Rounded Corners 326">
            <a:extLst>
              <a:ext uri="{FF2B5EF4-FFF2-40B4-BE49-F238E27FC236}">
                <a16:creationId xmlns:a16="http://schemas.microsoft.com/office/drawing/2014/main" id="{B1BEAEC4-27DC-4B09-26BA-748537DFF646}"/>
              </a:ext>
            </a:extLst>
          </p:cNvPr>
          <p:cNvSpPr/>
          <p:nvPr/>
        </p:nvSpPr>
        <p:spPr>
          <a:xfrm>
            <a:off x="4682234" y="4326069"/>
            <a:ext cx="616792" cy="64171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-0.114</a:t>
            </a:r>
          </a:p>
        </p:txBody>
      </p:sp>
      <p:sp>
        <p:nvSpPr>
          <p:cNvPr id="329" name="Rectangle: Rounded Corners 328">
            <a:extLst>
              <a:ext uri="{FF2B5EF4-FFF2-40B4-BE49-F238E27FC236}">
                <a16:creationId xmlns:a16="http://schemas.microsoft.com/office/drawing/2014/main" id="{A823E61F-8B1C-6284-98DB-E7EB0C19EF82}"/>
              </a:ext>
            </a:extLst>
          </p:cNvPr>
          <p:cNvSpPr/>
          <p:nvPr/>
        </p:nvSpPr>
        <p:spPr>
          <a:xfrm>
            <a:off x="4682234" y="501594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1.005</a:t>
            </a:r>
          </a:p>
        </p:txBody>
      </p:sp>
      <p:sp>
        <p:nvSpPr>
          <p:cNvPr id="331" name="Rectangle: Rounded Corners 330">
            <a:extLst>
              <a:ext uri="{FF2B5EF4-FFF2-40B4-BE49-F238E27FC236}">
                <a16:creationId xmlns:a16="http://schemas.microsoft.com/office/drawing/2014/main" id="{5AAA0182-4AC5-D267-AC71-176A44A411AE}"/>
              </a:ext>
            </a:extLst>
          </p:cNvPr>
          <p:cNvSpPr/>
          <p:nvPr/>
        </p:nvSpPr>
        <p:spPr>
          <a:xfrm>
            <a:off x="4682234" y="5705826"/>
            <a:ext cx="616792" cy="641718"/>
          </a:xfrm>
          <a:prstGeom prst="roundRect">
            <a:avLst/>
          </a:prstGeom>
          <a:solidFill>
            <a:srgbClr val="B76F8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0.125</a:t>
            </a:r>
          </a:p>
        </p:txBody>
      </p:sp>
      <p:sp>
        <p:nvSpPr>
          <p:cNvPr id="333" name="Rectangle: Rounded Corners 332">
            <a:extLst>
              <a:ext uri="{FF2B5EF4-FFF2-40B4-BE49-F238E27FC236}">
                <a16:creationId xmlns:a16="http://schemas.microsoft.com/office/drawing/2014/main" id="{8BF249C8-8C1E-A5A9-2285-E57ABDC42BDD}"/>
              </a:ext>
            </a:extLst>
          </p:cNvPr>
          <p:cNvSpPr/>
          <p:nvPr/>
        </p:nvSpPr>
        <p:spPr>
          <a:xfrm>
            <a:off x="4016406" y="876669"/>
            <a:ext cx="616792" cy="64171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5" name="Rectangle: Rounded Corners 334">
            <a:extLst>
              <a:ext uri="{FF2B5EF4-FFF2-40B4-BE49-F238E27FC236}">
                <a16:creationId xmlns:a16="http://schemas.microsoft.com/office/drawing/2014/main" id="{BE77283B-C12C-7C22-D4DA-640840BF0575}"/>
              </a:ext>
            </a:extLst>
          </p:cNvPr>
          <p:cNvSpPr/>
          <p:nvPr/>
        </p:nvSpPr>
        <p:spPr>
          <a:xfrm>
            <a:off x="4016406" y="15665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37" name="Rectangle: Rounded Corners 336">
            <a:extLst>
              <a:ext uri="{FF2B5EF4-FFF2-40B4-BE49-F238E27FC236}">
                <a16:creationId xmlns:a16="http://schemas.microsoft.com/office/drawing/2014/main" id="{7AF310F0-378E-0005-260C-D95F388957F6}"/>
              </a:ext>
            </a:extLst>
          </p:cNvPr>
          <p:cNvSpPr/>
          <p:nvPr/>
        </p:nvSpPr>
        <p:spPr>
          <a:xfrm>
            <a:off x="4016406" y="225642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9" name="Rectangle: Rounded Corners 338">
            <a:extLst>
              <a:ext uri="{FF2B5EF4-FFF2-40B4-BE49-F238E27FC236}">
                <a16:creationId xmlns:a16="http://schemas.microsoft.com/office/drawing/2014/main" id="{CFF006BA-6897-7687-6160-A23B55E1B8BE}"/>
              </a:ext>
            </a:extLst>
          </p:cNvPr>
          <p:cNvSpPr/>
          <p:nvPr/>
        </p:nvSpPr>
        <p:spPr>
          <a:xfrm>
            <a:off x="4016406" y="294630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41" name="Rectangle: Rounded Corners 340">
            <a:extLst>
              <a:ext uri="{FF2B5EF4-FFF2-40B4-BE49-F238E27FC236}">
                <a16:creationId xmlns:a16="http://schemas.microsoft.com/office/drawing/2014/main" id="{FC02C885-E58B-80E0-160A-6BD9FABCB01E}"/>
              </a:ext>
            </a:extLst>
          </p:cNvPr>
          <p:cNvSpPr/>
          <p:nvPr/>
        </p:nvSpPr>
        <p:spPr>
          <a:xfrm>
            <a:off x="4016406" y="3636189"/>
            <a:ext cx="616792" cy="64171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-2.529</a:t>
            </a:r>
          </a:p>
        </p:txBody>
      </p:sp>
      <p:sp>
        <p:nvSpPr>
          <p:cNvPr id="343" name="Rectangle: Rounded Corners 342">
            <a:extLst>
              <a:ext uri="{FF2B5EF4-FFF2-40B4-BE49-F238E27FC236}">
                <a16:creationId xmlns:a16="http://schemas.microsoft.com/office/drawing/2014/main" id="{E031D6DF-BA28-9767-4BBB-835BF494B858}"/>
              </a:ext>
            </a:extLst>
          </p:cNvPr>
          <p:cNvSpPr/>
          <p:nvPr/>
        </p:nvSpPr>
        <p:spPr>
          <a:xfrm>
            <a:off x="4016406" y="432606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5.783</a:t>
            </a:r>
          </a:p>
        </p:txBody>
      </p:sp>
      <p:sp>
        <p:nvSpPr>
          <p:cNvPr id="345" name="Rectangle: Rounded Corners 344">
            <a:extLst>
              <a:ext uri="{FF2B5EF4-FFF2-40B4-BE49-F238E27FC236}">
                <a16:creationId xmlns:a16="http://schemas.microsoft.com/office/drawing/2014/main" id="{9FE376CD-C694-BC49-3887-56C6536C36D7}"/>
              </a:ext>
            </a:extLst>
          </p:cNvPr>
          <p:cNvSpPr/>
          <p:nvPr/>
        </p:nvSpPr>
        <p:spPr>
          <a:xfrm>
            <a:off x="4016406" y="5015949"/>
            <a:ext cx="616792" cy="641718"/>
          </a:xfrm>
          <a:prstGeom prst="round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-0.114</a:t>
            </a:r>
          </a:p>
        </p:txBody>
      </p:sp>
      <p:sp>
        <p:nvSpPr>
          <p:cNvPr id="347" name="Rectangle: Rounded Corners 346">
            <a:extLst>
              <a:ext uri="{FF2B5EF4-FFF2-40B4-BE49-F238E27FC236}">
                <a16:creationId xmlns:a16="http://schemas.microsoft.com/office/drawing/2014/main" id="{8E481DEB-4E34-5AF4-EABA-7822A6A91116}"/>
              </a:ext>
            </a:extLst>
          </p:cNvPr>
          <p:cNvSpPr/>
          <p:nvPr/>
        </p:nvSpPr>
        <p:spPr>
          <a:xfrm>
            <a:off x="4016406" y="5705826"/>
            <a:ext cx="616792" cy="64171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-3.178</a:t>
            </a:r>
          </a:p>
        </p:txBody>
      </p:sp>
      <p:sp>
        <p:nvSpPr>
          <p:cNvPr id="349" name="Rectangle: Rounded Corners 348">
            <a:extLst>
              <a:ext uri="{FF2B5EF4-FFF2-40B4-BE49-F238E27FC236}">
                <a16:creationId xmlns:a16="http://schemas.microsoft.com/office/drawing/2014/main" id="{98A6B516-FA27-0E07-3A8A-D402BE2DCA61}"/>
              </a:ext>
            </a:extLst>
          </p:cNvPr>
          <p:cNvSpPr/>
          <p:nvPr/>
        </p:nvSpPr>
        <p:spPr>
          <a:xfrm>
            <a:off x="3342226" y="8766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1" name="Rectangle: Rounded Corners 350">
            <a:extLst>
              <a:ext uri="{FF2B5EF4-FFF2-40B4-BE49-F238E27FC236}">
                <a16:creationId xmlns:a16="http://schemas.microsoft.com/office/drawing/2014/main" id="{F598EF61-9E66-4C82-AAA3-2A114A1F82D0}"/>
              </a:ext>
            </a:extLst>
          </p:cNvPr>
          <p:cNvSpPr/>
          <p:nvPr/>
        </p:nvSpPr>
        <p:spPr>
          <a:xfrm>
            <a:off x="3342226" y="15665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53" name="Rectangle: Rounded Corners 352">
            <a:extLst>
              <a:ext uri="{FF2B5EF4-FFF2-40B4-BE49-F238E27FC236}">
                <a16:creationId xmlns:a16="http://schemas.microsoft.com/office/drawing/2014/main" id="{C7F9BBB1-9828-4CB4-7438-C961FECCED70}"/>
              </a:ext>
            </a:extLst>
          </p:cNvPr>
          <p:cNvSpPr/>
          <p:nvPr/>
        </p:nvSpPr>
        <p:spPr>
          <a:xfrm>
            <a:off x="3342226" y="225642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5" name="Rectangle: Rounded Corners 354">
            <a:extLst>
              <a:ext uri="{FF2B5EF4-FFF2-40B4-BE49-F238E27FC236}">
                <a16:creationId xmlns:a16="http://schemas.microsoft.com/office/drawing/2014/main" id="{09FC5B42-56F9-E984-A92D-2B7152823694}"/>
              </a:ext>
            </a:extLst>
          </p:cNvPr>
          <p:cNvSpPr/>
          <p:nvPr/>
        </p:nvSpPr>
        <p:spPr>
          <a:xfrm>
            <a:off x="3342226" y="294630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-1.559</a:t>
            </a:r>
          </a:p>
        </p:txBody>
      </p:sp>
      <p:sp>
        <p:nvSpPr>
          <p:cNvPr id="357" name="Rectangle: Rounded Corners 356">
            <a:extLst>
              <a:ext uri="{FF2B5EF4-FFF2-40B4-BE49-F238E27FC236}">
                <a16:creationId xmlns:a16="http://schemas.microsoft.com/office/drawing/2014/main" id="{C1374C15-4929-ACF4-0D4C-3F5653F3AF70}"/>
              </a:ext>
            </a:extLst>
          </p:cNvPr>
          <p:cNvSpPr/>
          <p:nvPr/>
        </p:nvSpPr>
        <p:spPr>
          <a:xfrm>
            <a:off x="3342226" y="363618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4.208</a:t>
            </a:r>
          </a:p>
        </p:txBody>
      </p:sp>
      <p:sp>
        <p:nvSpPr>
          <p:cNvPr id="359" name="Rectangle: Rounded Corners 358">
            <a:extLst>
              <a:ext uri="{FF2B5EF4-FFF2-40B4-BE49-F238E27FC236}">
                <a16:creationId xmlns:a16="http://schemas.microsoft.com/office/drawing/2014/main" id="{71F981E3-7DE5-4EBC-4708-413340AB4BB0}"/>
              </a:ext>
            </a:extLst>
          </p:cNvPr>
          <p:cNvSpPr/>
          <p:nvPr/>
        </p:nvSpPr>
        <p:spPr>
          <a:xfrm>
            <a:off x="3342226" y="4326069"/>
            <a:ext cx="616792" cy="64171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-2.529</a:t>
            </a:r>
          </a:p>
        </p:txBody>
      </p:sp>
      <p:sp>
        <p:nvSpPr>
          <p:cNvPr id="361" name="Rectangle: Rounded Corners 360">
            <a:extLst>
              <a:ext uri="{FF2B5EF4-FFF2-40B4-BE49-F238E27FC236}">
                <a16:creationId xmlns:a16="http://schemas.microsoft.com/office/drawing/2014/main" id="{6AD1CE40-858F-1642-2C5D-89C9FAE337EE}"/>
              </a:ext>
            </a:extLst>
          </p:cNvPr>
          <p:cNvSpPr/>
          <p:nvPr/>
        </p:nvSpPr>
        <p:spPr>
          <a:xfrm>
            <a:off x="3342226" y="50159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3" name="Rectangle: Rounded Corners 362">
            <a:extLst>
              <a:ext uri="{FF2B5EF4-FFF2-40B4-BE49-F238E27FC236}">
                <a16:creationId xmlns:a16="http://schemas.microsoft.com/office/drawing/2014/main" id="{78E4183E-5155-E250-39E6-54688262EB0D}"/>
              </a:ext>
            </a:extLst>
          </p:cNvPr>
          <p:cNvSpPr/>
          <p:nvPr/>
        </p:nvSpPr>
        <p:spPr>
          <a:xfrm>
            <a:off x="3342226" y="5705826"/>
            <a:ext cx="616792" cy="64171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65" name="Rectangle: Rounded Corners 364">
            <a:extLst>
              <a:ext uri="{FF2B5EF4-FFF2-40B4-BE49-F238E27FC236}">
                <a16:creationId xmlns:a16="http://schemas.microsoft.com/office/drawing/2014/main" id="{4D79F226-3EC2-7513-C315-9FB1E5E8C777}"/>
              </a:ext>
            </a:extLst>
          </p:cNvPr>
          <p:cNvSpPr/>
          <p:nvPr/>
        </p:nvSpPr>
        <p:spPr>
          <a:xfrm>
            <a:off x="2668046" y="8766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7" name="Rectangle: Rounded Corners 366">
            <a:extLst>
              <a:ext uri="{FF2B5EF4-FFF2-40B4-BE49-F238E27FC236}">
                <a16:creationId xmlns:a16="http://schemas.microsoft.com/office/drawing/2014/main" id="{98CC0DE5-FB37-856D-CEAB-6BE4595303FB}"/>
              </a:ext>
            </a:extLst>
          </p:cNvPr>
          <p:cNvSpPr/>
          <p:nvPr/>
        </p:nvSpPr>
        <p:spPr>
          <a:xfrm>
            <a:off x="2668046" y="15665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69" name="Rectangle: Rounded Corners 368">
            <a:extLst>
              <a:ext uri="{FF2B5EF4-FFF2-40B4-BE49-F238E27FC236}">
                <a16:creationId xmlns:a16="http://schemas.microsoft.com/office/drawing/2014/main" id="{C365BE82-968B-7880-F377-D01F903292A3}"/>
              </a:ext>
            </a:extLst>
          </p:cNvPr>
          <p:cNvSpPr/>
          <p:nvPr/>
        </p:nvSpPr>
        <p:spPr>
          <a:xfrm>
            <a:off x="2668046" y="225642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-1.226</a:t>
            </a:r>
          </a:p>
        </p:txBody>
      </p:sp>
      <p:sp>
        <p:nvSpPr>
          <p:cNvPr id="371" name="Rectangle: Rounded Corners 370">
            <a:extLst>
              <a:ext uri="{FF2B5EF4-FFF2-40B4-BE49-F238E27FC236}">
                <a16:creationId xmlns:a16="http://schemas.microsoft.com/office/drawing/2014/main" id="{8F0A822E-962E-69C7-53F5-AF1434FB3C7F}"/>
              </a:ext>
            </a:extLst>
          </p:cNvPr>
          <p:cNvSpPr/>
          <p:nvPr/>
        </p:nvSpPr>
        <p:spPr>
          <a:xfrm>
            <a:off x="2668046" y="294630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2.961</a:t>
            </a:r>
          </a:p>
        </p:txBody>
      </p:sp>
      <p:sp>
        <p:nvSpPr>
          <p:cNvPr id="373" name="Rectangle: Rounded Corners 372">
            <a:extLst>
              <a:ext uri="{FF2B5EF4-FFF2-40B4-BE49-F238E27FC236}">
                <a16:creationId xmlns:a16="http://schemas.microsoft.com/office/drawing/2014/main" id="{250BB521-FEDC-83E4-5B01-9A5934F8F2A2}"/>
              </a:ext>
            </a:extLst>
          </p:cNvPr>
          <p:cNvSpPr/>
          <p:nvPr/>
        </p:nvSpPr>
        <p:spPr>
          <a:xfrm>
            <a:off x="2668046" y="363618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-1.559</a:t>
            </a:r>
          </a:p>
        </p:txBody>
      </p:sp>
      <p:sp>
        <p:nvSpPr>
          <p:cNvPr id="375" name="Rectangle: Rounded Corners 374">
            <a:extLst>
              <a:ext uri="{FF2B5EF4-FFF2-40B4-BE49-F238E27FC236}">
                <a16:creationId xmlns:a16="http://schemas.microsoft.com/office/drawing/2014/main" id="{CE362CF6-8464-8A52-0C92-453AE80849B5}"/>
              </a:ext>
            </a:extLst>
          </p:cNvPr>
          <p:cNvSpPr/>
          <p:nvPr/>
        </p:nvSpPr>
        <p:spPr>
          <a:xfrm>
            <a:off x="2668046" y="43260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77" name="Rectangle: Rounded Corners 376">
            <a:extLst>
              <a:ext uri="{FF2B5EF4-FFF2-40B4-BE49-F238E27FC236}">
                <a16:creationId xmlns:a16="http://schemas.microsoft.com/office/drawing/2014/main" id="{F0C4493E-BFBE-0D55-E49D-165FC15F55E7}"/>
              </a:ext>
            </a:extLst>
          </p:cNvPr>
          <p:cNvSpPr/>
          <p:nvPr/>
        </p:nvSpPr>
        <p:spPr>
          <a:xfrm>
            <a:off x="2668046" y="50159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9" name="Rectangle: Rounded Corners 378">
            <a:extLst>
              <a:ext uri="{FF2B5EF4-FFF2-40B4-BE49-F238E27FC236}">
                <a16:creationId xmlns:a16="http://schemas.microsoft.com/office/drawing/2014/main" id="{AABDE3C9-FC21-336B-6482-0C4774270AA9}"/>
              </a:ext>
            </a:extLst>
          </p:cNvPr>
          <p:cNvSpPr/>
          <p:nvPr/>
        </p:nvSpPr>
        <p:spPr>
          <a:xfrm>
            <a:off x="2668046" y="5705826"/>
            <a:ext cx="616792" cy="64171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82" name="Rectangle: Rounded Corners 381">
            <a:extLst>
              <a:ext uri="{FF2B5EF4-FFF2-40B4-BE49-F238E27FC236}">
                <a16:creationId xmlns:a16="http://schemas.microsoft.com/office/drawing/2014/main" id="{C5932BF0-F31E-F278-C921-481C6618040A}"/>
              </a:ext>
            </a:extLst>
          </p:cNvPr>
          <p:cNvSpPr/>
          <p:nvPr/>
        </p:nvSpPr>
        <p:spPr>
          <a:xfrm>
            <a:off x="1993866" y="8766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4" name="Rectangle: Rounded Corners 383">
            <a:extLst>
              <a:ext uri="{FF2B5EF4-FFF2-40B4-BE49-F238E27FC236}">
                <a16:creationId xmlns:a16="http://schemas.microsoft.com/office/drawing/2014/main" id="{B324C33B-DCF9-765A-BDAA-11F9AD8C2645}"/>
              </a:ext>
            </a:extLst>
          </p:cNvPr>
          <p:cNvSpPr/>
          <p:nvPr/>
        </p:nvSpPr>
        <p:spPr>
          <a:xfrm>
            <a:off x="1993866" y="156654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-0.406</a:t>
            </a:r>
          </a:p>
        </p:txBody>
      </p:sp>
      <p:sp>
        <p:nvSpPr>
          <p:cNvPr id="386" name="Rectangle: Rounded Corners 385">
            <a:extLst>
              <a:ext uri="{FF2B5EF4-FFF2-40B4-BE49-F238E27FC236}">
                <a16:creationId xmlns:a16="http://schemas.microsoft.com/office/drawing/2014/main" id="{623947BB-4707-ADD6-AF28-6FB6A608A1DE}"/>
              </a:ext>
            </a:extLst>
          </p:cNvPr>
          <p:cNvSpPr/>
          <p:nvPr/>
        </p:nvSpPr>
        <p:spPr>
          <a:xfrm>
            <a:off x="1993866" y="225642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1.969</a:t>
            </a:r>
          </a:p>
        </p:txBody>
      </p:sp>
      <p:sp>
        <p:nvSpPr>
          <p:cNvPr id="388" name="Rectangle: Rounded Corners 387">
            <a:extLst>
              <a:ext uri="{FF2B5EF4-FFF2-40B4-BE49-F238E27FC236}">
                <a16:creationId xmlns:a16="http://schemas.microsoft.com/office/drawing/2014/main" id="{9FEBA800-F7B0-74DD-1E50-CB4F9881D8FC}"/>
              </a:ext>
            </a:extLst>
          </p:cNvPr>
          <p:cNvSpPr/>
          <p:nvPr/>
        </p:nvSpPr>
        <p:spPr>
          <a:xfrm>
            <a:off x="1993866" y="294630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-1.226</a:t>
            </a:r>
          </a:p>
        </p:txBody>
      </p:sp>
      <p:sp>
        <p:nvSpPr>
          <p:cNvPr id="390" name="Rectangle: Rounded Corners 389">
            <a:extLst>
              <a:ext uri="{FF2B5EF4-FFF2-40B4-BE49-F238E27FC236}">
                <a16:creationId xmlns:a16="http://schemas.microsoft.com/office/drawing/2014/main" id="{B0D4C551-8402-4538-6254-123A4532AC5E}"/>
              </a:ext>
            </a:extLst>
          </p:cNvPr>
          <p:cNvSpPr/>
          <p:nvPr/>
        </p:nvSpPr>
        <p:spPr>
          <a:xfrm>
            <a:off x="1993866" y="363618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2" name="Rectangle: Rounded Corners 391">
            <a:extLst>
              <a:ext uri="{FF2B5EF4-FFF2-40B4-BE49-F238E27FC236}">
                <a16:creationId xmlns:a16="http://schemas.microsoft.com/office/drawing/2014/main" id="{FDADA1BD-FDA7-F2F6-0B05-91D2C69B85C7}"/>
              </a:ext>
            </a:extLst>
          </p:cNvPr>
          <p:cNvSpPr/>
          <p:nvPr/>
        </p:nvSpPr>
        <p:spPr>
          <a:xfrm>
            <a:off x="1993866" y="43260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94" name="Rectangle: Rounded Corners 393">
            <a:extLst>
              <a:ext uri="{FF2B5EF4-FFF2-40B4-BE49-F238E27FC236}">
                <a16:creationId xmlns:a16="http://schemas.microsoft.com/office/drawing/2014/main" id="{CEA46F14-B90B-2845-13F6-EC36D6C86703}"/>
              </a:ext>
            </a:extLst>
          </p:cNvPr>
          <p:cNvSpPr/>
          <p:nvPr/>
        </p:nvSpPr>
        <p:spPr>
          <a:xfrm>
            <a:off x="1993866" y="50159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6" name="Rectangle: Rounded Corners 395">
            <a:extLst>
              <a:ext uri="{FF2B5EF4-FFF2-40B4-BE49-F238E27FC236}">
                <a16:creationId xmlns:a16="http://schemas.microsoft.com/office/drawing/2014/main" id="{DC4FBFD3-D26B-C4AB-47BB-E25E0E0F1743}"/>
              </a:ext>
            </a:extLst>
          </p:cNvPr>
          <p:cNvSpPr/>
          <p:nvPr/>
        </p:nvSpPr>
        <p:spPr>
          <a:xfrm>
            <a:off x="1993866" y="5705826"/>
            <a:ext cx="616792" cy="64171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98" name="Rectangle: Rounded Corners 397">
            <a:extLst>
              <a:ext uri="{FF2B5EF4-FFF2-40B4-BE49-F238E27FC236}">
                <a16:creationId xmlns:a16="http://schemas.microsoft.com/office/drawing/2014/main" id="{8F1EFA4A-FB26-6CBE-4830-4EB3C7578A9F}"/>
              </a:ext>
            </a:extLst>
          </p:cNvPr>
          <p:cNvSpPr/>
          <p:nvPr/>
        </p:nvSpPr>
        <p:spPr>
          <a:xfrm>
            <a:off x="1328038" y="8766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0" name="Rectangle: Rounded Corners 399">
            <a:extLst>
              <a:ext uri="{FF2B5EF4-FFF2-40B4-BE49-F238E27FC236}">
                <a16:creationId xmlns:a16="http://schemas.microsoft.com/office/drawing/2014/main" id="{8FE7AC95-DB34-DE21-BF8B-B8AB8F31AAEB}"/>
              </a:ext>
            </a:extLst>
          </p:cNvPr>
          <p:cNvSpPr/>
          <p:nvPr/>
        </p:nvSpPr>
        <p:spPr>
          <a:xfrm>
            <a:off x="1328038" y="156654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1.144</a:t>
            </a:r>
          </a:p>
        </p:txBody>
      </p:sp>
      <p:sp>
        <p:nvSpPr>
          <p:cNvPr id="402" name="Rectangle: Rounded Corners 401">
            <a:extLst>
              <a:ext uri="{FF2B5EF4-FFF2-40B4-BE49-F238E27FC236}">
                <a16:creationId xmlns:a16="http://schemas.microsoft.com/office/drawing/2014/main" id="{2F2C5183-2A1C-129B-8D69-CFCF74965F4F}"/>
              </a:ext>
            </a:extLst>
          </p:cNvPr>
          <p:cNvSpPr/>
          <p:nvPr/>
        </p:nvSpPr>
        <p:spPr>
          <a:xfrm>
            <a:off x="1328038" y="2256429"/>
            <a:ext cx="616792" cy="64171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-0.406</a:t>
            </a:r>
          </a:p>
        </p:txBody>
      </p:sp>
      <p:sp>
        <p:nvSpPr>
          <p:cNvPr id="404" name="Rectangle: Rounded Corners 403">
            <a:extLst>
              <a:ext uri="{FF2B5EF4-FFF2-40B4-BE49-F238E27FC236}">
                <a16:creationId xmlns:a16="http://schemas.microsoft.com/office/drawing/2014/main" id="{5C2123CF-70AE-18B9-589D-CC7F23F3B885}"/>
              </a:ext>
            </a:extLst>
          </p:cNvPr>
          <p:cNvSpPr/>
          <p:nvPr/>
        </p:nvSpPr>
        <p:spPr>
          <a:xfrm>
            <a:off x="1328038" y="2946309"/>
            <a:ext cx="616792" cy="64171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06" name="Rectangle: Rounded Corners 405">
            <a:extLst>
              <a:ext uri="{FF2B5EF4-FFF2-40B4-BE49-F238E27FC236}">
                <a16:creationId xmlns:a16="http://schemas.microsoft.com/office/drawing/2014/main" id="{66406188-4A56-7CD8-A8B1-A64229D87C49}"/>
              </a:ext>
            </a:extLst>
          </p:cNvPr>
          <p:cNvSpPr/>
          <p:nvPr/>
        </p:nvSpPr>
        <p:spPr>
          <a:xfrm>
            <a:off x="1328038" y="363618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8" name="Rectangle: Rounded Corners 407">
            <a:extLst>
              <a:ext uri="{FF2B5EF4-FFF2-40B4-BE49-F238E27FC236}">
                <a16:creationId xmlns:a16="http://schemas.microsoft.com/office/drawing/2014/main" id="{F7A06578-A5AA-086B-0FB3-5A8AC791C8E7}"/>
              </a:ext>
            </a:extLst>
          </p:cNvPr>
          <p:cNvSpPr/>
          <p:nvPr/>
        </p:nvSpPr>
        <p:spPr>
          <a:xfrm>
            <a:off x="1328038" y="43260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10" name="Rectangle: Rounded Corners 409">
            <a:extLst>
              <a:ext uri="{FF2B5EF4-FFF2-40B4-BE49-F238E27FC236}">
                <a16:creationId xmlns:a16="http://schemas.microsoft.com/office/drawing/2014/main" id="{48B05118-1FBC-FDBD-3704-C1DEFA803D3D}"/>
              </a:ext>
            </a:extLst>
          </p:cNvPr>
          <p:cNvSpPr/>
          <p:nvPr/>
        </p:nvSpPr>
        <p:spPr>
          <a:xfrm>
            <a:off x="1328038" y="50159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2" name="Rectangle: Rounded Corners 411">
            <a:extLst>
              <a:ext uri="{FF2B5EF4-FFF2-40B4-BE49-F238E27FC236}">
                <a16:creationId xmlns:a16="http://schemas.microsoft.com/office/drawing/2014/main" id="{AC58E597-6381-11AB-C340-129F16DAD999}"/>
              </a:ext>
            </a:extLst>
          </p:cNvPr>
          <p:cNvSpPr/>
          <p:nvPr/>
        </p:nvSpPr>
        <p:spPr>
          <a:xfrm>
            <a:off x="1328038" y="5705826"/>
            <a:ext cx="616792" cy="64171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16" name="Rectangle: Rounded Corners 415">
            <a:extLst>
              <a:ext uri="{FF2B5EF4-FFF2-40B4-BE49-F238E27FC236}">
                <a16:creationId xmlns:a16="http://schemas.microsoft.com/office/drawing/2014/main" id="{CCB6946A-43E7-ACE9-74F6-9BC04F78ED6E}"/>
              </a:ext>
            </a:extLst>
          </p:cNvPr>
          <p:cNvSpPr/>
          <p:nvPr/>
        </p:nvSpPr>
        <p:spPr>
          <a:xfrm>
            <a:off x="662210" y="876669"/>
            <a:ext cx="616792" cy="64171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1.017</a:t>
            </a:r>
          </a:p>
        </p:txBody>
      </p:sp>
      <p:sp>
        <p:nvSpPr>
          <p:cNvPr id="418" name="Rectangle: Rounded Corners 417">
            <a:extLst>
              <a:ext uri="{FF2B5EF4-FFF2-40B4-BE49-F238E27FC236}">
                <a16:creationId xmlns:a16="http://schemas.microsoft.com/office/drawing/2014/main" id="{BD49F373-6C26-1ACC-1CB2-B9AA2DD201D7}"/>
              </a:ext>
            </a:extLst>
          </p:cNvPr>
          <p:cNvSpPr/>
          <p:nvPr/>
        </p:nvSpPr>
        <p:spPr>
          <a:xfrm>
            <a:off x="662210" y="15665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20" name="Rectangle: Rounded Corners 419">
            <a:extLst>
              <a:ext uri="{FF2B5EF4-FFF2-40B4-BE49-F238E27FC236}">
                <a16:creationId xmlns:a16="http://schemas.microsoft.com/office/drawing/2014/main" id="{B1ED9AC0-28CE-926A-10CD-E84C86E1679D}"/>
              </a:ext>
            </a:extLst>
          </p:cNvPr>
          <p:cNvSpPr/>
          <p:nvPr/>
        </p:nvSpPr>
        <p:spPr>
          <a:xfrm>
            <a:off x="662210" y="225642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2" name="Rectangle: Rounded Corners 421">
            <a:extLst>
              <a:ext uri="{FF2B5EF4-FFF2-40B4-BE49-F238E27FC236}">
                <a16:creationId xmlns:a16="http://schemas.microsoft.com/office/drawing/2014/main" id="{2D1BF375-1BDB-F404-620D-B51775506A93}"/>
              </a:ext>
            </a:extLst>
          </p:cNvPr>
          <p:cNvSpPr/>
          <p:nvPr/>
        </p:nvSpPr>
        <p:spPr>
          <a:xfrm>
            <a:off x="662210" y="294630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24" name="Rectangle: Rounded Corners 423">
            <a:extLst>
              <a:ext uri="{FF2B5EF4-FFF2-40B4-BE49-F238E27FC236}">
                <a16:creationId xmlns:a16="http://schemas.microsoft.com/office/drawing/2014/main" id="{0635CC7E-8D1A-895C-F9AC-41524431EFAA}"/>
              </a:ext>
            </a:extLst>
          </p:cNvPr>
          <p:cNvSpPr/>
          <p:nvPr/>
        </p:nvSpPr>
        <p:spPr>
          <a:xfrm>
            <a:off x="662210" y="363618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6" name="Rectangle: Rounded Corners 425">
            <a:extLst>
              <a:ext uri="{FF2B5EF4-FFF2-40B4-BE49-F238E27FC236}">
                <a16:creationId xmlns:a16="http://schemas.microsoft.com/office/drawing/2014/main" id="{D9FB9081-04D3-90D6-92BB-58B88DFEDC5B}"/>
              </a:ext>
            </a:extLst>
          </p:cNvPr>
          <p:cNvSpPr/>
          <p:nvPr/>
        </p:nvSpPr>
        <p:spPr>
          <a:xfrm>
            <a:off x="662210" y="432606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28" name="Rectangle: Rounded Corners 427">
            <a:extLst>
              <a:ext uri="{FF2B5EF4-FFF2-40B4-BE49-F238E27FC236}">
                <a16:creationId xmlns:a16="http://schemas.microsoft.com/office/drawing/2014/main" id="{C8482A70-7187-1DD3-EDEE-441B64BD76EC}"/>
              </a:ext>
            </a:extLst>
          </p:cNvPr>
          <p:cNvSpPr/>
          <p:nvPr/>
        </p:nvSpPr>
        <p:spPr>
          <a:xfrm>
            <a:off x="662210" y="5015949"/>
            <a:ext cx="616792" cy="641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0" name="Rectangle: Rounded Corners 429">
            <a:extLst>
              <a:ext uri="{FF2B5EF4-FFF2-40B4-BE49-F238E27FC236}">
                <a16:creationId xmlns:a16="http://schemas.microsoft.com/office/drawing/2014/main" id="{40BDCE62-77F0-3D3C-E8A1-1ECF98969ADA}"/>
              </a:ext>
            </a:extLst>
          </p:cNvPr>
          <p:cNvSpPr/>
          <p:nvPr/>
        </p:nvSpPr>
        <p:spPr>
          <a:xfrm>
            <a:off x="662210" y="5705826"/>
            <a:ext cx="616792" cy="641718"/>
          </a:xfrm>
          <a:prstGeom prst="roundRect">
            <a:avLst/>
          </a:prstGeom>
          <a:solidFill>
            <a:srgbClr val="720C2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0.246</a:t>
            </a:r>
          </a:p>
        </p:txBody>
      </p:sp>
      <p:sp>
        <p:nvSpPr>
          <p:cNvPr id="432" name="TextBox 431">
            <a:extLst>
              <a:ext uri="{FF2B5EF4-FFF2-40B4-BE49-F238E27FC236}">
                <a16:creationId xmlns:a16="http://schemas.microsoft.com/office/drawing/2014/main" id="{5B85E6E9-AF31-103C-844D-47167D29FF06}"/>
              </a:ext>
            </a:extLst>
          </p:cNvPr>
          <p:cNvSpPr txBox="1"/>
          <p:nvPr/>
        </p:nvSpPr>
        <p:spPr>
          <a:xfrm>
            <a:off x="214107" y="1087607"/>
            <a:ext cx="282450" cy="246221"/>
          </a:xfrm>
          <a:prstGeom prst="rect">
            <a:avLst/>
          </a:prstGeom>
          <a:noFill/>
        </p:spPr>
        <p:txBody>
          <a:bodyPr wrap="none" rtlCol="0">
            <a:spAutoFit/>
          </a:bodyPr>
          <a:lstStyle/>
          <a:p>
            <a:r>
              <a:rPr lang="en-US" sz="1000" b="1" dirty="0"/>
              <a:t>IT</a:t>
            </a:r>
            <a:endParaRPr lang="en-US" sz="1000" b="1" baseline="-25000" dirty="0"/>
          </a:p>
        </p:txBody>
      </p:sp>
      <p:sp>
        <p:nvSpPr>
          <p:cNvPr id="434" name="TextBox 433">
            <a:extLst>
              <a:ext uri="{FF2B5EF4-FFF2-40B4-BE49-F238E27FC236}">
                <a16:creationId xmlns:a16="http://schemas.microsoft.com/office/drawing/2014/main" id="{6A7E3FBF-B97E-4E71-03FD-337BED25783C}"/>
              </a:ext>
            </a:extLst>
          </p:cNvPr>
          <p:cNvSpPr txBox="1"/>
          <p:nvPr/>
        </p:nvSpPr>
        <p:spPr>
          <a:xfrm>
            <a:off x="829381" y="594144"/>
            <a:ext cx="282450" cy="246221"/>
          </a:xfrm>
          <a:prstGeom prst="rect">
            <a:avLst/>
          </a:prstGeom>
          <a:noFill/>
        </p:spPr>
        <p:txBody>
          <a:bodyPr wrap="none" rtlCol="0">
            <a:spAutoFit/>
          </a:bodyPr>
          <a:lstStyle/>
          <a:p>
            <a:r>
              <a:rPr lang="en-US" sz="1000" b="1" dirty="0"/>
              <a:t>IT</a:t>
            </a:r>
            <a:endParaRPr lang="en-US" sz="1000" b="1" baseline="-25000" dirty="0"/>
          </a:p>
        </p:txBody>
      </p:sp>
      <p:sp>
        <p:nvSpPr>
          <p:cNvPr id="436" name="TextBox 435">
            <a:extLst>
              <a:ext uri="{FF2B5EF4-FFF2-40B4-BE49-F238E27FC236}">
                <a16:creationId xmlns:a16="http://schemas.microsoft.com/office/drawing/2014/main" id="{22F19398-93AC-E47B-A2E1-CB1ECA930542}"/>
              </a:ext>
            </a:extLst>
          </p:cNvPr>
          <p:cNvSpPr txBox="1"/>
          <p:nvPr/>
        </p:nvSpPr>
        <p:spPr>
          <a:xfrm>
            <a:off x="1370976" y="582286"/>
            <a:ext cx="530915" cy="246221"/>
          </a:xfrm>
          <a:prstGeom prst="rect">
            <a:avLst/>
          </a:prstGeom>
          <a:solidFill>
            <a:srgbClr val="F7F7F7"/>
          </a:solidFill>
        </p:spPr>
        <p:txBody>
          <a:bodyPr wrap="none" rtlCol="0">
            <a:spAutoFit/>
          </a:bodyPr>
          <a:lstStyle/>
          <a:p>
            <a:r>
              <a:rPr lang="en-US" sz="1000" b="1" dirty="0"/>
              <a:t>STORE</a:t>
            </a:r>
            <a:endParaRPr lang="en-US" sz="1000" b="1" baseline="-25000" dirty="0"/>
          </a:p>
        </p:txBody>
      </p:sp>
      <p:sp>
        <p:nvSpPr>
          <p:cNvPr id="438" name="TextBox 437">
            <a:extLst>
              <a:ext uri="{FF2B5EF4-FFF2-40B4-BE49-F238E27FC236}">
                <a16:creationId xmlns:a16="http://schemas.microsoft.com/office/drawing/2014/main" id="{40785EC9-3694-A021-ED89-F53D0137E7FB}"/>
              </a:ext>
            </a:extLst>
          </p:cNvPr>
          <p:cNvSpPr txBox="1"/>
          <p:nvPr/>
        </p:nvSpPr>
        <p:spPr>
          <a:xfrm>
            <a:off x="1998265" y="567679"/>
            <a:ext cx="534121" cy="246221"/>
          </a:xfrm>
          <a:prstGeom prst="rect">
            <a:avLst/>
          </a:prstGeom>
          <a:noFill/>
        </p:spPr>
        <p:txBody>
          <a:bodyPr wrap="none" rtlCol="0">
            <a:spAutoFit/>
          </a:bodyPr>
          <a:lstStyle/>
          <a:p>
            <a:r>
              <a:rPr lang="en-US" sz="1000" b="1" dirty="0"/>
              <a:t>QSTRT</a:t>
            </a:r>
            <a:endParaRPr lang="en-US" sz="1000" b="1" baseline="-25000" dirty="0"/>
          </a:p>
        </p:txBody>
      </p:sp>
      <p:sp>
        <p:nvSpPr>
          <p:cNvPr id="440" name="TextBox 439">
            <a:extLst>
              <a:ext uri="{FF2B5EF4-FFF2-40B4-BE49-F238E27FC236}">
                <a16:creationId xmlns:a16="http://schemas.microsoft.com/office/drawing/2014/main" id="{3AFE44BB-1E88-D528-C0F3-98057F03E224}"/>
              </a:ext>
            </a:extLst>
          </p:cNvPr>
          <p:cNvSpPr txBox="1"/>
          <p:nvPr/>
        </p:nvSpPr>
        <p:spPr>
          <a:xfrm>
            <a:off x="2688542" y="578263"/>
            <a:ext cx="575799" cy="246221"/>
          </a:xfrm>
          <a:prstGeom prst="rect">
            <a:avLst/>
          </a:prstGeom>
          <a:solidFill>
            <a:srgbClr val="F7F7F7"/>
          </a:solidFill>
        </p:spPr>
        <p:txBody>
          <a:bodyPr wrap="none" rtlCol="0">
            <a:spAutoFit/>
          </a:bodyPr>
          <a:lstStyle/>
          <a:p>
            <a:r>
              <a:rPr lang="en-US" sz="1000" b="1" dirty="0"/>
              <a:t>QCMPL</a:t>
            </a:r>
            <a:endParaRPr lang="en-US" sz="1000" b="1" baseline="-25000" dirty="0"/>
          </a:p>
        </p:txBody>
      </p:sp>
      <p:sp>
        <p:nvSpPr>
          <p:cNvPr id="442" name="TextBox 441">
            <a:extLst>
              <a:ext uri="{FF2B5EF4-FFF2-40B4-BE49-F238E27FC236}">
                <a16:creationId xmlns:a16="http://schemas.microsoft.com/office/drawing/2014/main" id="{14B762F2-F30C-145D-0C10-3D370F32ED1F}"/>
              </a:ext>
            </a:extLst>
          </p:cNvPr>
          <p:cNvSpPr txBox="1"/>
          <p:nvPr/>
        </p:nvSpPr>
        <p:spPr>
          <a:xfrm>
            <a:off x="3357125" y="557840"/>
            <a:ext cx="522900" cy="246221"/>
          </a:xfrm>
          <a:prstGeom prst="rect">
            <a:avLst/>
          </a:prstGeom>
          <a:noFill/>
        </p:spPr>
        <p:txBody>
          <a:bodyPr wrap="none" rtlCol="0">
            <a:spAutoFit/>
          </a:bodyPr>
          <a:lstStyle/>
          <a:p>
            <a:r>
              <a:rPr lang="en-US" sz="1000" b="1" dirty="0"/>
              <a:t>ASTRT</a:t>
            </a:r>
            <a:endParaRPr lang="en-US" sz="1000" b="1" baseline="-25000" dirty="0"/>
          </a:p>
        </p:txBody>
      </p:sp>
      <p:sp>
        <p:nvSpPr>
          <p:cNvPr id="444" name="TextBox 443">
            <a:extLst>
              <a:ext uri="{FF2B5EF4-FFF2-40B4-BE49-F238E27FC236}">
                <a16:creationId xmlns:a16="http://schemas.microsoft.com/office/drawing/2014/main" id="{6A9D47F0-9D3B-27BE-44CE-F43898958CDB}"/>
              </a:ext>
            </a:extLst>
          </p:cNvPr>
          <p:cNvSpPr txBox="1"/>
          <p:nvPr/>
        </p:nvSpPr>
        <p:spPr>
          <a:xfrm>
            <a:off x="4042513" y="563196"/>
            <a:ext cx="564578" cy="246221"/>
          </a:xfrm>
          <a:prstGeom prst="rect">
            <a:avLst/>
          </a:prstGeom>
          <a:solidFill>
            <a:srgbClr val="F7F7F7"/>
          </a:solidFill>
        </p:spPr>
        <p:txBody>
          <a:bodyPr wrap="none" rtlCol="0">
            <a:spAutoFit/>
          </a:bodyPr>
          <a:lstStyle/>
          <a:p>
            <a:r>
              <a:rPr lang="en-US" sz="1000" b="1" dirty="0"/>
              <a:t>ACMPL</a:t>
            </a:r>
            <a:endParaRPr lang="en-US" sz="1000" b="1" baseline="-25000" dirty="0"/>
          </a:p>
        </p:txBody>
      </p:sp>
      <p:sp>
        <p:nvSpPr>
          <p:cNvPr id="446" name="TextBox 445">
            <a:extLst>
              <a:ext uri="{FF2B5EF4-FFF2-40B4-BE49-F238E27FC236}">
                <a16:creationId xmlns:a16="http://schemas.microsoft.com/office/drawing/2014/main" id="{B13B4E99-4939-3910-1C77-13080AC06914}"/>
              </a:ext>
            </a:extLst>
          </p:cNvPr>
          <p:cNvSpPr txBox="1"/>
          <p:nvPr/>
        </p:nvSpPr>
        <p:spPr>
          <a:xfrm>
            <a:off x="4682636" y="557840"/>
            <a:ext cx="457176" cy="246221"/>
          </a:xfrm>
          <a:prstGeom prst="rect">
            <a:avLst/>
          </a:prstGeom>
          <a:noFill/>
        </p:spPr>
        <p:txBody>
          <a:bodyPr wrap="none" rtlCol="0">
            <a:spAutoFit/>
          </a:bodyPr>
          <a:lstStyle/>
          <a:p>
            <a:r>
              <a:rPr lang="en-US" sz="1000" b="1" dirty="0"/>
              <a:t>RULE</a:t>
            </a:r>
            <a:endParaRPr lang="en-US" sz="1000" b="1" baseline="-25000" dirty="0"/>
          </a:p>
        </p:txBody>
      </p:sp>
      <p:sp>
        <p:nvSpPr>
          <p:cNvPr id="448" name="TextBox 447">
            <a:extLst>
              <a:ext uri="{FF2B5EF4-FFF2-40B4-BE49-F238E27FC236}">
                <a16:creationId xmlns:a16="http://schemas.microsoft.com/office/drawing/2014/main" id="{8CFBCF91-3A0A-61E8-3F7C-5D92CAF8ABC4}"/>
              </a:ext>
            </a:extLst>
          </p:cNvPr>
          <p:cNvSpPr txBox="1"/>
          <p:nvPr/>
        </p:nvSpPr>
        <p:spPr>
          <a:xfrm>
            <a:off x="5435913" y="585747"/>
            <a:ext cx="486030" cy="246221"/>
          </a:xfrm>
          <a:prstGeom prst="rect">
            <a:avLst/>
          </a:prstGeom>
          <a:solidFill>
            <a:srgbClr val="F7F7F7"/>
          </a:solidFill>
        </p:spPr>
        <p:txBody>
          <a:bodyPr wrap="none" rtlCol="0">
            <a:spAutoFit/>
          </a:bodyPr>
          <a:lstStyle/>
          <a:p>
            <a:r>
              <a:rPr lang="en-US" sz="1000" b="1" dirty="0"/>
              <a:t>ISSUE</a:t>
            </a:r>
            <a:endParaRPr lang="en-US" sz="1000" b="1" baseline="-25000" dirty="0"/>
          </a:p>
        </p:txBody>
      </p:sp>
      <mc:AlternateContent xmlns:mc="http://schemas.openxmlformats.org/markup-compatibility/2006" xmlns:a14="http://schemas.microsoft.com/office/drawing/2010/main">
        <mc:Choice Requires="a14">
          <p:sp>
            <p:nvSpPr>
              <p:cNvPr id="449" name="TextBox 448">
                <a:extLst>
                  <a:ext uri="{FF2B5EF4-FFF2-40B4-BE49-F238E27FC236}">
                    <a16:creationId xmlns:a16="http://schemas.microsoft.com/office/drawing/2014/main" id="{CC561975-4356-2465-0C06-2DC469ADBEA9}"/>
                  </a:ext>
                </a:extLst>
              </p:cNvPr>
              <p:cNvSpPr txBox="1"/>
              <p:nvPr/>
            </p:nvSpPr>
            <p:spPr>
              <a:xfrm>
                <a:off x="6623598" y="654411"/>
                <a:ext cx="5581557" cy="2177712"/>
              </a:xfrm>
              <a:prstGeom prst="rect">
                <a:avLst/>
              </a:prstGeom>
              <a:noFill/>
            </p:spPr>
            <p:txBody>
              <a:bodyPr wrap="square" rtlCol="0">
                <a:spAutoFit/>
              </a:bodyPr>
              <a:lstStyle/>
              <a:p>
                <a:r>
                  <a:rPr lang="en-US" sz="1600" b="1" dirty="0"/>
                  <a:t>Interpretation of the off diagonals</a:t>
                </a:r>
              </a:p>
              <a:p>
                <a:endParaRPr lang="en-US" sz="1600" b="1" dirty="0"/>
              </a:p>
              <a:p>
                <a:r>
                  <a:rPr lang="en-US" sz="900" b="1" dirty="0"/>
                  <a:t>The band is the declared structure.</a:t>
                </a:r>
                <a:r>
                  <a:rPr lang="en-US" sz="900" dirty="0"/>
                  <a:t> −0.406, −1.226, −1.559, −2.529, −3.178 run down the off-diagonal — each gate connects only to the one before it. Everything two steps apart is zero, which is what a chain looks like in a precision matrix.</a:t>
                </a:r>
              </a:p>
              <a:p>
                <a:endParaRPr lang="en-US" sz="900" dirty="0"/>
              </a:p>
              <a:p>
                <a:r>
                  <a:rPr lang="en-US" sz="900" b="1" dirty="0"/>
                  <a:t>The red cells are not in the declared structure.</a:t>
                </a:r>
                <a:r>
                  <a:rPr lang="en-US" sz="900" dirty="0"/>
                  <a:t> Q[IT, ISSUE] = +0.246 and Q[RULE, ISSUE] = +0.125 connect an exposure directly to the outcome, bypassing all five gates. Partial r = −0.126 at z = −12.68, and −0.065 at z = −6.46.</a:t>
                </a:r>
              </a:p>
              <a:p>
                <a:endParaRPr lang="en-US" sz="900" dirty="0"/>
              </a:p>
              <a:p>
                <a:r>
                  <a:rPr lang="en-US" sz="900" b="1" dirty="0"/>
                  <a:t>Sign convention:</a:t>
                </a:r>
                <a:r>
                  <a:rPr lang="en-US" sz="900" dirty="0"/>
                  <a:t> partial r =</a:t>
                </a:r>
                <a14:m>
                  <m:oMath xmlns:m="http://schemas.openxmlformats.org/officeDocument/2006/math">
                    <m:f>
                      <m:fPr>
                        <m:ctrlPr>
                          <a:rPr lang="en-US" sz="900" i="0" dirty="0"/>
                        </m:ctrlPr>
                      </m:fPr>
                      <m:num>
                        <m:r>
                          <m:rPr>
                            <m:nor/>
                          </m:rPr>
                          <a:rPr lang="en-US" sz="900" i="0" dirty="0"/>
                          <m:t>−Qij</m:t>
                        </m:r>
                      </m:num>
                      <m:den>
                        <m:rad>
                          <m:radPr>
                            <m:degHide m:val="on"/>
                            <m:ctrlPr>
                              <a:rPr lang="en-US" sz="900" i="1" smtClean="0">
                                <a:latin typeface="Cambria Math" panose="02040503050406030204" pitchFamily="18" charset="0"/>
                              </a:rPr>
                            </m:ctrlPr>
                          </m:radPr>
                          <m:deg/>
                          <m:e>
                            <m:r>
                              <m:rPr>
                                <m:nor/>
                              </m:rPr>
                              <a:rPr lang="en-US" sz="900" i="0" dirty="0"/>
                              <m:t>Qii </m:t>
                            </m:r>
                            <m:r>
                              <a:rPr lang="en-US" sz="900" i="1" dirty="0" smtClean="0">
                                <a:latin typeface="Cambria Math" panose="02040503050406030204" pitchFamily="18" charset="0"/>
                                <a:ea typeface="Cambria Math" panose="02040503050406030204" pitchFamily="18" charset="0"/>
                              </a:rPr>
                              <m:t>∙</m:t>
                            </m:r>
                            <m:r>
                              <a:rPr lang="en-US" sz="900" b="0" i="1" dirty="0" smtClean="0">
                                <a:latin typeface="Cambria Math" panose="02040503050406030204" pitchFamily="18" charset="0"/>
                                <a:ea typeface="Cambria Math" panose="02040503050406030204" pitchFamily="18" charset="0"/>
                              </a:rPr>
                              <m:t> </m:t>
                            </m:r>
                            <m:r>
                              <m:rPr>
                                <m:nor/>
                              </m:rPr>
                              <a:rPr lang="en-US" sz="900" i="0" dirty="0"/>
                              <m:t>Qjj</m:t>
                            </m:r>
                          </m:e>
                        </m:rad>
                      </m:den>
                    </m:f>
                  </m:oMath>
                </a14:m>
                <a:r>
                  <a:rPr lang="en-US" sz="900" dirty="0"/>
                  <a:t> ,so, a positive Q entry means a negative partial correlation. +0.246 means trapped members issue </a:t>
                </a:r>
                <a:r>
                  <a:rPr lang="en-US" sz="900" i="1" dirty="0"/>
                  <a:t>less</a:t>
                </a:r>
                <a:r>
                  <a:rPr lang="en-US" sz="900" dirty="0"/>
                  <a:t>.</a:t>
                </a:r>
              </a:p>
              <a:p>
                <a:endParaRPr lang="en-US" sz="1000" dirty="0"/>
              </a:p>
            </p:txBody>
          </p:sp>
        </mc:Choice>
        <mc:Fallback xmlns="">
          <p:sp>
            <p:nvSpPr>
              <p:cNvPr id="449" name="TextBox 448">
                <a:extLst>
                  <a:ext uri="{FF2B5EF4-FFF2-40B4-BE49-F238E27FC236}">
                    <a16:creationId xmlns:a16="http://schemas.microsoft.com/office/drawing/2014/main" id="{CC561975-4356-2465-0C06-2DC469ADBEA9}"/>
                  </a:ext>
                </a:extLst>
              </p:cNvPr>
              <p:cNvSpPr txBox="1">
                <a:spLocks noRot="1" noChangeAspect="1" noMove="1" noResize="1" noEditPoints="1" noAdjustHandles="1" noChangeArrowheads="1" noChangeShapeType="1" noTextEdit="1"/>
              </p:cNvSpPr>
              <p:nvPr/>
            </p:nvSpPr>
            <p:spPr>
              <a:xfrm>
                <a:off x="6623598" y="654411"/>
                <a:ext cx="5581557" cy="2177712"/>
              </a:xfrm>
              <a:prstGeom prst="rect">
                <a:avLst/>
              </a:prstGeom>
              <a:blipFill>
                <a:blip r:embed="rId5"/>
                <a:stretch>
                  <a:fillRect l="-656" t="-838"/>
                </a:stretch>
              </a:blipFill>
            </p:spPr>
            <p:txBody>
              <a:bodyPr/>
              <a:lstStyle/>
              <a:p>
                <a:r>
                  <a:rPr lang="en-US">
                    <a:noFill/>
                  </a:rPr>
                  <a:t> </a:t>
                </a:r>
              </a:p>
            </p:txBody>
          </p:sp>
        </mc:Fallback>
      </mc:AlternateContent>
      <p:sp>
        <p:nvSpPr>
          <p:cNvPr id="453" name="Rectangle: Rounded Corners 452">
            <a:extLst>
              <a:ext uri="{FF2B5EF4-FFF2-40B4-BE49-F238E27FC236}">
                <a16:creationId xmlns:a16="http://schemas.microsoft.com/office/drawing/2014/main" id="{7F4E9CF0-0581-FB0E-8F69-5396FBA8CFFF}"/>
              </a:ext>
            </a:extLst>
          </p:cNvPr>
          <p:cNvSpPr/>
          <p:nvPr/>
        </p:nvSpPr>
        <p:spPr>
          <a:xfrm>
            <a:off x="6623598" y="3277997"/>
            <a:ext cx="584506" cy="1881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IT</a:t>
            </a:r>
          </a:p>
        </p:txBody>
      </p:sp>
      <p:sp>
        <p:nvSpPr>
          <p:cNvPr id="457" name="Rectangle: Rounded Corners 456">
            <a:extLst>
              <a:ext uri="{FF2B5EF4-FFF2-40B4-BE49-F238E27FC236}">
                <a16:creationId xmlns:a16="http://schemas.microsoft.com/office/drawing/2014/main" id="{64CBA319-2605-FDF1-EAE3-2ED2FD2823E4}"/>
              </a:ext>
            </a:extLst>
          </p:cNvPr>
          <p:cNvSpPr/>
          <p:nvPr/>
        </p:nvSpPr>
        <p:spPr>
          <a:xfrm>
            <a:off x="7253530" y="372955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STORE</a:t>
            </a:r>
          </a:p>
        </p:txBody>
      </p:sp>
      <p:cxnSp>
        <p:nvCxnSpPr>
          <p:cNvPr id="469" name="Straight Arrow Connector 468">
            <a:extLst>
              <a:ext uri="{FF2B5EF4-FFF2-40B4-BE49-F238E27FC236}">
                <a16:creationId xmlns:a16="http://schemas.microsoft.com/office/drawing/2014/main" id="{47D4B2BB-C821-C472-2945-32D9B76CE39C}"/>
              </a:ext>
            </a:extLst>
          </p:cNvPr>
          <p:cNvCxnSpPr>
            <a:cxnSpLocks/>
            <a:stCxn id="453" idx="3"/>
            <a:endCxn id="457" idx="0"/>
          </p:cNvCxnSpPr>
          <p:nvPr/>
        </p:nvCxnSpPr>
        <p:spPr>
          <a:xfrm>
            <a:off x="7208104" y="3372074"/>
            <a:ext cx="361059" cy="3574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1" name="Straight Arrow Connector 470">
            <a:extLst>
              <a:ext uri="{FF2B5EF4-FFF2-40B4-BE49-F238E27FC236}">
                <a16:creationId xmlns:a16="http://schemas.microsoft.com/office/drawing/2014/main" id="{4126651C-5F59-B9A3-1444-F4B84972EE94}"/>
              </a:ext>
            </a:extLst>
          </p:cNvPr>
          <p:cNvCxnSpPr>
            <a:cxnSpLocks/>
            <a:stCxn id="501" idx="3"/>
            <a:endCxn id="457" idx="2"/>
          </p:cNvCxnSpPr>
          <p:nvPr/>
        </p:nvCxnSpPr>
        <p:spPr>
          <a:xfrm flipV="1">
            <a:off x="7208103" y="3947648"/>
            <a:ext cx="361060" cy="3268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3" name="Rectangle: Rounded Corners 482">
            <a:extLst>
              <a:ext uri="{FF2B5EF4-FFF2-40B4-BE49-F238E27FC236}">
                <a16:creationId xmlns:a16="http://schemas.microsoft.com/office/drawing/2014/main" id="{E023B3EB-04AF-3B45-61B0-0DFE125C25E2}"/>
              </a:ext>
            </a:extLst>
          </p:cNvPr>
          <p:cNvSpPr/>
          <p:nvPr/>
        </p:nvSpPr>
        <p:spPr>
          <a:xfrm>
            <a:off x="8098169" y="372955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QSTRT</a:t>
            </a:r>
          </a:p>
        </p:txBody>
      </p:sp>
      <p:sp>
        <p:nvSpPr>
          <p:cNvPr id="485" name="Rectangle: Rounded Corners 484">
            <a:extLst>
              <a:ext uri="{FF2B5EF4-FFF2-40B4-BE49-F238E27FC236}">
                <a16:creationId xmlns:a16="http://schemas.microsoft.com/office/drawing/2014/main" id="{522C9E7B-F7B8-3CB8-B470-FCBDE22A7508}"/>
              </a:ext>
            </a:extLst>
          </p:cNvPr>
          <p:cNvSpPr/>
          <p:nvPr/>
        </p:nvSpPr>
        <p:spPr>
          <a:xfrm>
            <a:off x="8942808" y="372955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QCOMPL</a:t>
            </a:r>
          </a:p>
        </p:txBody>
      </p:sp>
      <p:sp>
        <p:nvSpPr>
          <p:cNvPr id="491" name="Rectangle: Rounded Corners 490">
            <a:extLst>
              <a:ext uri="{FF2B5EF4-FFF2-40B4-BE49-F238E27FC236}">
                <a16:creationId xmlns:a16="http://schemas.microsoft.com/office/drawing/2014/main" id="{85BF4A13-3692-06FE-C12A-F60527F20580}"/>
              </a:ext>
            </a:extLst>
          </p:cNvPr>
          <p:cNvSpPr/>
          <p:nvPr/>
        </p:nvSpPr>
        <p:spPr>
          <a:xfrm>
            <a:off x="9787447" y="372955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ASTRT</a:t>
            </a:r>
          </a:p>
        </p:txBody>
      </p:sp>
      <p:sp>
        <p:nvSpPr>
          <p:cNvPr id="493" name="Rectangle: Rounded Corners 492">
            <a:extLst>
              <a:ext uri="{FF2B5EF4-FFF2-40B4-BE49-F238E27FC236}">
                <a16:creationId xmlns:a16="http://schemas.microsoft.com/office/drawing/2014/main" id="{81BACD4C-282B-06B3-12F7-EF76F07751DF}"/>
              </a:ext>
            </a:extLst>
          </p:cNvPr>
          <p:cNvSpPr/>
          <p:nvPr/>
        </p:nvSpPr>
        <p:spPr>
          <a:xfrm>
            <a:off x="10632086" y="372955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ACOMPL</a:t>
            </a:r>
          </a:p>
        </p:txBody>
      </p:sp>
      <p:sp>
        <p:nvSpPr>
          <p:cNvPr id="495" name="Rectangle: Rounded Corners 494">
            <a:extLst>
              <a:ext uri="{FF2B5EF4-FFF2-40B4-BE49-F238E27FC236}">
                <a16:creationId xmlns:a16="http://schemas.microsoft.com/office/drawing/2014/main" id="{142C966E-9645-427B-C4AA-D021225942E3}"/>
              </a:ext>
            </a:extLst>
          </p:cNvPr>
          <p:cNvSpPr/>
          <p:nvPr/>
        </p:nvSpPr>
        <p:spPr>
          <a:xfrm>
            <a:off x="11476725" y="3729550"/>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ISSUE</a:t>
            </a:r>
          </a:p>
        </p:txBody>
      </p:sp>
      <p:sp>
        <p:nvSpPr>
          <p:cNvPr id="501" name="Rectangle: Rounded Corners 500">
            <a:extLst>
              <a:ext uri="{FF2B5EF4-FFF2-40B4-BE49-F238E27FC236}">
                <a16:creationId xmlns:a16="http://schemas.microsoft.com/office/drawing/2014/main" id="{597229D2-B762-CC3B-6AE4-155B51FBA756}"/>
              </a:ext>
            </a:extLst>
          </p:cNvPr>
          <p:cNvSpPr/>
          <p:nvPr/>
        </p:nvSpPr>
        <p:spPr>
          <a:xfrm>
            <a:off x="6623597" y="4180455"/>
            <a:ext cx="584506" cy="1881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Rule</a:t>
            </a:r>
          </a:p>
        </p:txBody>
      </p:sp>
      <p:cxnSp>
        <p:nvCxnSpPr>
          <p:cNvPr id="505" name="Straight Arrow Connector 504">
            <a:extLst>
              <a:ext uri="{FF2B5EF4-FFF2-40B4-BE49-F238E27FC236}">
                <a16:creationId xmlns:a16="http://schemas.microsoft.com/office/drawing/2014/main" id="{EF6EEAF5-DE9B-9380-28B3-09A33E5F4118}"/>
              </a:ext>
            </a:extLst>
          </p:cNvPr>
          <p:cNvCxnSpPr>
            <a:cxnSpLocks/>
            <a:stCxn id="457" idx="3"/>
            <a:endCxn id="483" idx="1"/>
          </p:cNvCxnSpPr>
          <p:nvPr/>
        </p:nvCxnSpPr>
        <p:spPr>
          <a:xfrm>
            <a:off x="7884795" y="3838599"/>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Straight Arrow Connector 507">
            <a:extLst>
              <a:ext uri="{FF2B5EF4-FFF2-40B4-BE49-F238E27FC236}">
                <a16:creationId xmlns:a16="http://schemas.microsoft.com/office/drawing/2014/main" id="{1C9485A5-7D8C-AD92-AAAC-066448E862AC}"/>
              </a:ext>
            </a:extLst>
          </p:cNvPr>
          <p:cNvCxnSpPr>
            <a:cxnSpLocks/>
          </p:cNvCxnSpPr>
          <p:nvPr/>
        </p:nvCxnSpPr>
        <p:spPr>
          <a:xfrm>
            <a:off x="8729434" y="3845091"/>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2A35F47B-92CB-7F2C-D3F3-693701F1A831}"/>
              </a:ext>
            </a:extLst>
          </p:cNvPr>
          <p:cNvCxnSpPr>
            <a:cxnSpLocks/>
          </p:cNvCxnSpPr>
          <p:nvPr/>
        </p:nvCxnSpPr>
        <p:spPr>
          <a:xfrm>
            <a:off x="9582874" y="3845091"/>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0" name="Straight Arrow Connector 509">
            <a:extLst>
              <a:ext uri="{FF2B5EF4-FFF2-40B4-BE49-F238E27FC236}">
                <a16:creationId xmlns:a16="http://schemas.microsoft.com/office/drawing/2014/main" id="{A449DA1A-19D9-2405-07C8-D1857D35099E}"/>
              </a:ext>
            </a:extLst>
          </p:cNvPr>
          <p:cNvCxnSpPr>
            <a:cxnSpLocks/>
          </p:cNvCxnSpPr>
          <p:nvPr/>
        </p:nvCxnSpPr>
        <p:spPr>
          <a:xfrm>
            <a:off x="10418026" y="3832899"/>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A1D51B9-B791-5F4A-BB43-A1B599F51CD3}"/>
              </a:ext>
            </a:extLst>
          </p:cNvPr>
          <p:cNvCxnSpPr>
            <a:cxnSpLocks/>
          </p:cNvCxnSpPr>
          <p:nvPr/>
        </p:nvCxnSpPr>
        <p:spPr>
          <a:xfrm>
            <a:off x="11263351" y="3845091"/>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4" name="Rectangle: Rounded Corners 513">
            <a:extLst>
              <a:ext uri="{FF2B5EF4-FFF2-40B4-BE49-F238E27FC236}">
                <a16:creationId xmlns:a16="http://schemas.microsoft.com/office/drawing/2014/main" id="{2079BEFD-B1BF-3816-84F6-1A641970C1FD}"/>
              </a:ext>
            </a:extLst>
          </p:cNvPr>
          <p:cNvSpPr/>
          <p:nvPr/>
        </p:nvSpPr>
        <p:spPr>
          <a:xfrm>
            <a:off x="6623598" y="5022389"/>
            <a:ext cx="584506" cy="1881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IT</a:t>
            </a:r>
          </a:p>
        </p:txBody>
      </p:sp>
      <p:sp>
        <p:nvSpPr>
          <p:cNvPr id="515" name="Rectangle: Rounded Corners 514">
            <a:extLst>
              <a:ext uri="{FF2B5EF4-FFF2-40B4-BE49-F238E27FC236}">
                <a16:creationId xmlns:a16="http://schemas.microsoft.com/office/drawing/2014/main" id="{725375A1-35F7-D79F-DB2D-6C91120CAE9C}"/>
              </a:ext>
            </a:extLst>
          </p:cNvPr>
          <p:cNvSpPr/>
          <p:nvPr/>
        </p:nvSpPr>
        <p:spPr>
          <a:xfrm>
            <a:off x="7253530" y="5510518"/>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STORE</a:t>
            </a:r>
          </a:p>
        </p:txBody>
      </p:sp>
      <p:cxnSp>
        <p:nvCxnSpPr>
          <p:cNvPr id="516" name="Straight Arrow Connector 515">
            <a:extLst>
              <a:ext uri="{FF2B5EF4-FFF2-40B4-BE49-F238E27FC236}">
                <a16:creationId xmlns:a16="http://schemas.microsoft.com/office/drawing/2014/main" id="{448A5D83-4B94-B6FF-6474-6DECD6774ABE}"/>
              </a:ext>
            </a:extLst>
          </p:cNvPr>
          <p:cNvCxnSpPr>
            <a:cxnSpLocks/>
            <a:stCxn id="514" idx="3"/>
            <a:endCxn id="515" idx="0"/>
          </p:cNvCxnSpPr>
          <p:nvPr/>
        </p:nvCxnSpPr>
        <p:spPr>
          <a:xfrm>
            <a:off x="7208104" y="5116466"/>
            <a:ext cx="361059" cy="3940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7" name="Straight Arrow Connector 516">
            <a:extLst>
              <a:ext uri="{FF2B5EF4-FFF2-40B4-BE49-F238E27FC236}">
                <a16:creationId xmlns:a16="http://schemas.microsoft.com/office/drawing/2014/main" id="{5547C02C-38A9-D28C-19A4-7AD609AC9822}"/>
              </a:ext>
            </a:extLst>
          </p:cNvPr>
          <p:cNvCxnSpPr>
            <a:cxnSpLocks/>
            <a:stCxn id="523" idx="3"/>
            <a:endCxn id="515" idx="2"/>
          </p:cNvCxnSpPr>
          <p:nvPr/>
        </p:nvCxnSpPr>
        <p:spPr>
          <a:xfrm flipV="1">
            <a:off x="7208104" y="5728616"/>
            <a:ext cx="361059" cy="3146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8" name="Rectangle: Rounded Corners 517">
            <a:extLst>
              <a:ext uri="{FF2B5EF4-FFF2-40B4-BE49-F238E27FC236}">
                <a16:creationId xmlns:a16="http://schemas.microsoft.com/office/drawing/2014/main" id="{7067A012-5AAB-53AA-8B64-0AF609FF494F}"/>
              </a:ext>
            </a:extLst>
          </p:cNvPr>
          <p:cNvSpPr/>
          <p:nvPr/>
        </p:nvSpPr>
        <p:spPr>
          <a:xfrm>
            <a:off x="8098169" y="5510518"/>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QSTRT</a:t>
            </a:r>
          </a:p>
        </p:txBody>
      </p:sp>
      <p:sp>
        <p:nvSpPr>
          <p:cNvPr id="519" name="Rectangle: Rounded Corners 518">
            <a:extLst>
              <a:ext uri="{FF2B5EF4-FFF2-40B4-BE49-F238E27FC236}">
                <a16:creationId xmlns:a16="http://schemas.microsoft.com/office/drawing/2014/main" id="{FCBD2BA7-BC90-5B51-1131-CCCF9787A83F}"/>
              </a:ext>
            </a:extLst>
          </p:cNvPr>
          <p:cNvSpPr/>
          <p:nvPr/>
        </p:nvSpPr>
        <p:spPr>
          <a:xfrm>
            <a:off x="8942808" y="5510518"/>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QCOMPL</a:t>
            </a:r>
          </a:p>
        </p:txBody>
      </p:sp>
      <p:sp>
        <p:nvSpPr>
          <p:cNvPr id="520" name="Rectangle: Rounded Corners 519">
            <a:extLst>
              <a:ext uri="{FF2B5EF4-FFF2-40B4-BE49-F238E27FC236}">
                <a16:creationId xmlns:a16="http://schemas.microsoft.com/office/drawing/2014/main" id="{AFE14E4F-A951-437D-3D48-BBF7392C6471}"/>
              </a:ext>
            </a:extLst>
          </p:cNvPr>
          <p:cNvSpPr/>
          <p:nvPr/>
        </p:nvSpPr>
        <p:spPr>
          <a:xfrm>
            <a:off x="9787447" y="5510518"/>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ASTRT</a:t>
            </a:r>
          </a:p>
        </p:txBody>
      </p:sp>
      <p:sp>
        <p:nvSpPr>
          <p:cNvPr id="521" name="Rectangle: Rounded Corners 520">
            <a:extLst>
              <a:ext uri="{FF2B5EF4-FFF2-40B4-BE49-F238E27FC236}">
                <a16:creationId xmlns:a16="http://schemas.microsoft.com/office/drawing/2014/main" id="{6509B233-C32F-8B83-F89C-72E037ECF742}"/>
              </a:ext>
            </a:extLst>
          </p:cNvPr>
          <p:cNvSpPr/>
          <p:nvPr/>
        </p:nvSpPr>
        <p:spPr>
          <a:xfrm>
            <a:off x="10632086" y="5510518"/>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ACOMPL</a:t>
            </a:r>
          </a:p>
        </p:txBody>
      </p:sp>
      <p:sp>
        <p:nvSpPr>
          <p:cNvPr id="522" name="Rectangle: Rounded Corners 521">
            <a:extLst>
              <a:ext uri="{FF2B5EF4-FFF2-40B4-BE49-F238E27FC236}">
                <a16:creationId xmlns:a16="http://schemas.microsoft.com/office/drawing/2014/main" id="{FA45BA81-9526-0B2F-510B-428D81A31003}"/>
              </a:ext>
            </a:extLst>
          </p:cNvPr>
          <p:cNvSpPr/>
          <p:nvPr/>
        </p:nvSpPr>
        <p:spPr>
          <a:xfrm>
            <a:off x="11476725" y="5510518"/>
            <a:ext cx="631265" cy="2180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ISSUE</a:t>
            </a:r>
          </a:p>
        </p:txBody>
      </p:sp>
      <p:sp>
        <p:nvSpPr>
          <p:cNvPr id="523" name="Rectangle: Rounded Corners 522">
            <a:extLst>
              <a:ext uri="{FF2B5EF4-FFF2-40B4-BE49-F238E27FC236}">
                <a16:creationId xmlns:a16="http://schemas.microsoft.com/office/drawing/2014/main" id="{8819E139-63C7-94E3-7A70-69B68A57F6EE}"/>
              </a:ext>
            </a:extLst>
          </p:cNvPr>
          <p:cNvSpPr/>
          <p:nvPr/>
        </p:nvSpPr>
        <p:spPr>
          <a:xfrm>
            <a:off x="6623598" y="5949231"/>
            <a:ext cx="584506" cy="1881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Rule</a:t>
            </a:r>
          </a:p>
        </p:txBody>
      </p:sp>
      <p:cxnSp>
        <p:nvCxnSpPr>
          <p:cNvPr id="524" name="Straight Arrow Connector 523">
            <a:extLst>
              <a:ext uri="{FF2B5EF4-FFF2-40B4-BE49-F238E27FC236}">
                <a16:creationId xmlns:a16="http://schemas.microsoft.com/office/drawing/2014/main" id="{9E467EA3-6D97-762D-6E67-CC5CDD6AEB1D}"/>
              </a:ext>
            </a:extLst>
          </p:cNvPr>
          <p:cNvCxnSpPr>
            <a:cxnSpLocks/>
            <a:stCxn id="515" idx="3"/>
            <a:endCxn id="518" idx="1"/>
          </p:cNvCxnSpPr>
          <p:nvPr/>
        </p:nvCxnSpPr>
        <p:spPr>
          <a:xfrm>
            <a:off x="7884795" y="5619567"/>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5" name="Straight Arrow Connector 524">
            <a:extLst>
              <a:ext uri="{FF2B5EF4-FFF2-40B4-BE49-F238E27FC236}">
                <a16:creationId xmlns:a16="http://schemas.microsoft.com/office/drawing/2014/main" id="{710E43A6-BF90-15C7-C318-4691DD1C7FF2}"/>
              </a:ext>
            </a:extLst>
          </p:cNvPr>
          <p:cNvCxnSpPr>
            <a:cxnSpLocks/>
          </p:cNvCxnSpPr>
          <p:nvPr/>
        </p:nvCxnSpPr>
        <p:spPr>
          <a:xfrm>
            <a:off x="8729434" y="5626059"/>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6" name="Straight Arrow Connector 525">
            <a:extLst>
              <a:ext uri="{FF2B5EF4-FFF2-40B4-BE49-F238E27FC236}">
                <a16:creationId xmlns:a16="http://schemas.microsoft.com/office/drawing/2014/main" id="{52BCE6F5-EB48-BE67-D20F-DC331EBAECB1}"/>
              </a:ext>
            </a:extLst>
          </p:cNvPr>
          <p:cNvCxnSpPr>
            <a:cxnSpLocks/>
          </p:cNvCxnSpPr>
          <p:nvPr/>
        </p:nvCxnSpPr>
        <p:spPr>
          <a:xfrm>
            <a:off x="9582874" y="5626059"/>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7" name="Straight Arrow Connector 526">
            <a:extLst>
              <a:ext uri="{FF2B5EF4-FFF2-40B4-BE49-F238E27FC236}">
                <a16:creationId xmlns:a16="http://schemas.microsoft.com/office/drawing/2014/main" id="{27F65594-A7F7-7237-BE4E-7B2D262FD09E}"/>
              </a:ext>
            </a:extLst>
          </p:cNvPr>
          <p:cNvCxnSpPr>
            <a:cxnSpLocks/>
          </p:cNvCxnSpPr>
          <p:nvPr/>
        </p:nvCxnSpPr>
        <p:spPr>
          <a:xfrm>
            <a:off x="10418026" y="5613867"/>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8" name="Straight Arrow Connector 527">
            <a:extLst>
              <a:ext uri="{FF2B5EF4-FFF2-40B4-BE49-F238E27FC236}">
                <a16:creationId xmlns:a16="http://schemas.microsoft.com/office/drawing/2014/main" id="{1849E471-CFD6-3674-5C78-EE0A0286CAC6}"/>
              </a:ext>
            </a:extLst>
          </p:cNvPr>
          <p:cNvCxnSpPr>
            <a:cxnSpLocks/>
          </p:cNvCxnSpPr>
          <p:nvPr/>
        </p:nvCxnSpPr>
        <p:spPr>
          <a:xfrm>
            <a:off x="11263351" y="5626059"/>
            <a:ext cx="2133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0" name="Connector: Elbow 529">
            <a:extLst>
              <a:ext uri="{FF2B5EF4-FFF2-40B4-BE49-F238E27FC236}">
                <a16:creationId xmlns:a16="http://schemas.microsoft.com/office/drawing/2014/main" id="{D035FDB6-FB3E-5A20-FF1C-F9DF6DA5DD96}"/>
              </a:ext>
            </a:extLst>
          </p:cNvPr>
          <p:cNvCxnSpPr>
            <a:stCxn id="514" idx="0"/>
            <a:endCxn id="522" idx="0"/>
          </p:cNvCxnSpPr>
          <p:nvPr/>
        </p:nvCxnSpPr>
        <p:spPr>
          <a:xfrm rot="16200000" flipH="1">
            <a:off x="9110039" y="2828200"/>
            <a:ext cx="488129" cy="4876507"/>
          </a:xfrm>
          <a:prstGeom prst="bentConnector3">
            <a:avLst>
              <a:gd name="adj1" fmla="val -39339"/>
            </a:avLst>
          </a:prstGeom>
          <a:ln>
            <a:solidFill>
              <a:srgbClr val="720C27"/>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31" name="Connector: Elbow 530">
            <a:extLst>
              <a:ext uri="{FF2B5EF4-FFF2-40B4-BE49-F238E27FC236}">
                <a16:creationId xmlns:a16="http://schemas.microsoft.com/office/drawing/2014/main" id="{B8C4C8FD-5F95-1CE4-3526-24E584ADB886}"/>
              </a:ext>
            </a:extLst>
          </p:cNvPr>
          <p:cNvCxnSpPr>
            <a:cxnSpLocks/>
            <a:stCxn id="523" idx="2"/>
            <a:endCxn id="522" idx="2"/>
          </p:cNvCxnSpPr>
          <p:nvPr/>
        </p:nvCxnSpPr>
        <p:spPr>
          <a:xfrm rot="5400000" flipH="1" flipV="1">
            <a:off x="9149720" y="3494746"/>
            <a:ext cx="408768" cy="4876507"/>
          </a:xfrm>
          <a:prstGeom prst="bentConnector3">
            <a:avLst>
              <a:gd name="adj1" fmla="val -43993"/>
            </a:avLst>
          </a:prstGeom>
          <a:ln>
            <a:solidFill>
              <a:srgbClr val="00365B"/>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34" name="TextBox 533">
            <a:extLst>
              <a:ext uri="{FF2B5EF4-FFF2-40B4-BE49-F238E27FC236}">
                <a16:creationId xmlns:a16="http://schemas.microsoft.com/office/drawing/2014/main" id="{3AC4505E-083E-CB23-8DD8-9CF351A51160}"/>
              </a:ext>
            </a:extLst>
          </p:cNvPr>
          <p:cNvSpPr txBox="1"/>
          <p:nvPr/>
        </p:nvSpPr>
        <p:spPr>
          <a:xfrm>
            <a:off x="8416551" y="4597563"/>
            <a:ext cx="3743332" cy="230832"/>
          </a:xfrm>
          <a:prstGeom prst="rect">
            <a:avLst/>
          </a:prstGeom>
          <a:noFill/>
        </p:spPr>
        <p:txBody>
          <a:bodyPr wrap="none" rtlCol="0">
            <a:spAutoFit/>
          </a:bodyPr>
          <a:lstStyle/>
          <a:p>
            <a:r>
              <a:rPr lang="en-US" sz="900" b="1" dirty="0">
                <a:solidFill>
                  <a:srgbClr val="720C27"/>
                </a:solidFill>
              </a:rPr>
              <a:t>Effect not explained by any gate. Q = +0.246  Partial(AVP) -0.126  z =  -12.68</a:t>
            </a:r>
          </a:p>
        </p:txBody>
      </p:sp>
      <p:sp>
        <p:nvSpPr>
          <p:cNvPr id="536" name="TextBox 535">
            <a:extLst>
              <a:ext uri="{FF2B5EF4-FFF2-40B4-BE49-F238E27FC236}">
                <a16:creationId xmlns:a16="http://schemas.microsoft.com/office/drawing/2014/main" id="{0A2DA104-37CF-F8EC-8FA7-717520A063B5}"/>
              </a:ext>
            </a:extLst>
          </p:cNvPr>
          <p:cNvSpPr txBox="1"/>
          <p:nvPr/>
        </p:nvSpPr>
        <p:spPr>
          <a:xfrm>
            <a:off x="8215924" y="6342926"/>
            <a:ext cx="3741730" cy="230832"/>
          </a:xfrm>
          <a:prstGeom prst="rect">
            <a:avLst/>
          </a:prstGeom>
          <a:noFill/>
        </p:spPr>
        <p:txBody>
          <a:bodyPr wrap="none" rtlCol="0">
            <a:spAutoFit/>
          </a:bodyPr>
          <a:lstStyle/>
          <a:p>
            <a:r>
              <a:rPr lang="en-US" sz="900" b="1" dirty="0">
                <a:solidFill>
                  <a:srgbClr val="00365B"/>
                </a:solidFill>
              </a:rPr>
              <a:t>Effect not explained by any gate Q = +0.125  Partial (AVP)  -0.065  z =  -6.46</a:t>
            </a:r>
          </a:p>
        </p:txBody>
      </p:sp>
      <p:cxnSp>
        <p:nvCxnSpPr>
          <p:cNvPr id="539" name="Straight Connector 538">
            <a:extLst>
              <a:ext uri="{FF2B5EF4-FFF2-40B4-BE49-F238E27FC236}">
                <a16:creationId xmlns:a16="http://schemas.microsoft.com/office/drawing/2014/main" id="{FAADCEA4-C6B9-84D5-0E80-EE89F72CC3A2}"/>
              </a:ext>
            </a:extLst>
          </p:cNvPr>
          <p:cNvCxnSpPr/>
          <p:nvPr/>
        </p:nvCxnSpPr>
        <p:spPr>
          <a:xfrm>
            <a:off x="6704113" y="4569333"/>
            <a:ext cx="536389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D08084B8-F91C-FF77-71FA-ED6F77A51DCD}"/>
              </a:ext>
            </a:extLst>
          </p:cNvPr>
          <p:cNvCxnSpPr/>
          <p:nvPr/>
        </p:nvCxnSpPr>
        <p:spPr>
          <a:xfrm>
            <a:off x="6601880" y="3215565"/>
            <a:ext cx="536389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42" name="TextBox 541">
            <a:extLst>
              <a:ext uri="{FF2B5EF4-FFF2-40B4-BE49-F238E27FC236}">
                <a16:creationId xmlns:a16="http://schemas.microsoft.com/office/drawing/2014/main" id="{8FC742A6-FCDB-34EA-1A27-A8D3680C935D}"/>
              </a:ext>
            </a:extLst>
          </p:cNvPr>
          <p:cNvSpPr txBox="1"/>
          <p:nvPr/>
        </p:nvSpPr>
        <p:spPr>
          <a:xfrm>
            <a:off x="8222418" y="2946309"/>
            <a:ext cx="9049512" cy="338554"/>
          </a:xfrm>
          <a:prstGeom prst="rect">
            <a:avLst/>
          </a:prstGeom>
          <a:noFill/>
        </p:spPr>
        <p:txBody>
          <a:bodyPr wrap="square">
            <a:spAutoFit/>
          </a:bodyPr>
          <a:lstStyle/>
          <a:p>
            <a:r>
              <a:rPr lang="en-US" sz="1600" b="1" dirty="0">
                <a:solidFill>
                  <a:srgbClr val="00365B"/>
                </a:solidFill>
              </a:rPr>
              <a:t>Declared Structure</a:t>
            </a:r>
          </a:p>
        </p:txBody>
      </p:sp>
      <p:sp>
        <p:nvSpPr>
          <p:cNvPr id="544" name="TextBox 543">
            <a:extLst>
              <a:ext uri="{FF2B5EF4-FFF2-40B4-BE49-F238E27FC236}">
                <a16:creationId xmlns:a16="http://schemas.microsoft.com/office/drawing/2014/main" id="{951E9F5F-3957-2250-8DDF-1E16F4DD82B8}"/>
              </a:ext>
            </a:extLst>
          </p:cNvPr>
          <p:cNvSpPr txBox="1"/>
          <p:nvPr/>
        </p:nvSpPr>
        <p:spPr>
          <a:xfrm>
            <a:off x="6904681" y="6489412"/>
            <a:ext cx="5255202" cy="400110"/>
          </a:xfrm>
          <a:prstGeom prst="rect">
            <a:avLst/>
          </a:prstGeom>
          <a:noFill/>
        </p:spPr>
        <p:txBody>
          <a:bodyPr wrap="square">
            <a:spAutoFit/>
          </a:bodyPr>
          <a:lstStyle/>
          <a:p>
            <a:r>
              <a:rPr lang="en-US" sz="1000" dirty="0">
                <a:solidFill>
                  <a:schemeClr val="bg1">
                    <a:lumMod val="50000"/>
                  </a:schemeClr>
                </a:solidFill>
              </a:rPr>
              <a:t>No gate shows it. Compare members who took identical paths through all five gates, and the trapped ones still issue less. That difference is the whole finding.</a:t>
            </a:r>
            <a:endParaRPr lang="en-US" sz="1000" b="1" dirty="0">
              <a:solidFill>
                <a:schemeClr val="bg1">
                  <a:lumMod val="50000"/>
                </a:schemeClr>
              </a:solidFill>
            </a:endParaRPr>
          </a:p>
        </p:txBody>
      </p:sp>
      <p:cxnSp>
        <p:nvCxnSpPr>
          <p:cNvPr id="550" name="Connector: Curved 549">
            <a:extLst>
              <a:ext uri="{FF2B5EF4-FFF2-40B4-BE49-F238E27FC236}">
                <a16:creationId xmlns:a16="http://schemas.microsoft.com/office/drawing/2014/main" id="{0842676E-846C-042F-40C4-D212A4FEF645}"/>
              </a:ext>
            </a:extLst>
          </p:cNvPr>
          <p:cNvCxnSpPr>
            <a:stCxn id="514" idx="3"/>
            <a:endCxn id="521" idx="0"/>
          </p:cNvCxnSpPr>
          <p:nvPr/>
        </p:nvCxnSpPr>
        <p:spPr>
          <a:xfrm>
            <a:off x="7208104" y="5116466"/>
            <a:ext cx="3739615" cy="394052"/>
          </a:xfrm>
          <a:prstGeom prst="curvedConnector2">
            <a:avLst/>
          </a:prstGeom>
          <a:ln>
            <a:solidFill>
              <a:srgbClr val="0070C0"/>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52" name="TextBox 551">
            <a:extLst>
              <a:ext uri="{FF2B5EF4-FFF2-40B4-BE49-F238E27FC236}">
                <a16:creationId xmlns:a16="http://schemas.microsoft.com/office/drawing/2014/main" id="{E7C60F00-8E09-2615-CF4E-FEE124C91D77}"/>
              </a:ext>
            </a:extLst>
          </p:cNvPr>
          <p:cNvSpPr txBox="1"/>
          <p:nvPr/>
        </p:nvSpPr>
        <p:spPr>
          <a:xfrm>
            <a:off x="7811567" y="4908972"/>
            <a:ext cx="2478564" cy="230832"/>
          </a:xfrm>
          <a:prstGeom prst="rect">
            <a:avLst/>
          </a:prstGeom>
          <a:noFill/>
        </p:spPr>
        <p:txBody>
          <a:bodyPr wrap="none" rtlCol="0">
            <a:spAutoFit/>
          </a:bodyPr>
          <a:lstStyle/>
          <a:p>
            <a:r>
              <a:rPr lang="en-US" sz="900" b="1" dirty="0">
                <a:solidFill>
                  <a:srgbClr val="0070C0"/>
                </a:solidFill>
              </a:rPr>
              <a:t>Artifact Q = -0.227  Partial 0.093  Immortal Time</a:t>
            </a:r>
          </a:p>
        </p:txBody>
      </p:sp>
      <p:sp>
        <p:nvSpPr>
          <p:cNvPr id="554" name="TextBox 553">
            <a:extLst>
              <a:ext uri="{FF2B5EF4-FFF2-40B4-BE49-F238E27FC236}">
                <a16:creationId xmlns:a16="http://schemas.microsoft.com/office/drawing/2014/main" id="{A550EF23-24BB-302D-1E7F-B6D79A0D3015}"/>
              </a:ext>
            </a:extLst>
          </p:cNvPr>
          <p:cNvSpPr txBox="1"/>
          <p:nvPr/>
        </p:nvSpPr>
        <p:spPr>
          <a:xfrm>
            <a:off x="7659411" y="5701241"/>
            <a:ext cx="3983949" cy="507831"/>
          </a:xfrm>
          <a:prstGeom prst="rect">
            <a:avLst/>
          </a:prstGeom>
          <a:noFill/>
        </p:spPr>
        <p:txBody>
          <a:bodyPr wrap="square">
            <a:spAutoFit/>
          </a:bodyPr>
          <a:lstStyle/>
          <a:p>
            <a:r>
              <a:rPr lang="en-US" sz="900" dirty="0">
                <a:solidFill>
                  <a:schemeClr val="bg1">
                    <a:lumMod val="50000"/>
                  </a:schemeClr>
                </a:solidFill>
              </a:rPr>
              <a:t>The funnel's own structure checks out — each stage connects to the next exactly as the process says, all the way down. What doesn't check out is the IT trap. Its effect shows up at issuance, and no stage in between accounts for it.</a:t>
            </a:r>
          </a:p>
        </p:txBody>
      </p:sp>
      <p:sp>
        <p:nvSpPr>
          <p:cNvPr id="556" name="TextBox 555">
            <a:extLst>
              <a:ext uri="{FF2B5EF4-FFF2-40B4-BE49-F238E27FC236}">
                <a16:creationId xmlns:a16="http://schemas.microsoft.com/office/drawing/2014/main" id="{EFD14463-8CE8-895F-6E69-9FFC37D82CAC}"/>
              </a:ext>
            </a:extLst>
          </p:cNvPr>
          <p:cNvSpPr txBox="1"/>
          <p:nvPr/>
        </p:nvSpPr>
        <p:spPr>
          <a:xfrm>
            <a:off x="4990630" y="7802735"/>
            <a:ext cx="9073896" cy="246221"/>
          </a:xfrm>
          <a:prstGeom prst="rect">
            <a:avLst/>
          </a:prstGeom>
          <a:noFill/>
        </p:spPr>
        <p:txBody>
          <a:bodyPr wrap="square">
            <a:spAutoFit/>
          </a:bodyPr>
          <a:lstStyle/>
          <a:p>
            <a:r>
              <a:rPr lang="en-US" sz="1000" dirty="0">
                <a:solidFill>
                  <a:srgbClr val="B76F81"/>
                </a:solidFill>
              </a:rPr>
              <a:t>This structure asserts Q[IT, ISSUE] = 0 and Q[RULE, ISSUE] = 0. Every arrow not drawn is a testable claim.</a:t>
            </a:r>
          </a:p>
        </p:txBody>
      </p:sp>
      <p:sp>
        <p:nvSpPr>
          <p:cNvPr id="558" name="TextBox 557">
            <a:extLst>
              <a:ext uri="{FF2B5EF4-FFF2-40B4-BE49-F238E27FC236}">
                <a16:creationId xmlns:a16="http://schemas.microsoft.com/office/drawing/2014/main" id="{6A1BDFCA-8E90-2D05-E8D8-42F30E8DDA13}"/>
              </a:ext>
            </a:extLst>
          </p:cNvPr>
          <p:cNvSpPr txBox="1"/>
          <p:nvPr/>
        </p:nvSpPr>
        <p:spPr>
          <a:xfrm>
            <a:off x="6904681" y="6998552"/>
            <a:ext cx="5562486" cy="707886"/>
          </a:xfrm>
          <a:prstGeom prst="rect">
            <a:avLst/>
          </a:prstGeom>
          <a:noFill/>
        </p:spPr>
        <p:txBody>
          <a:bodyPr wrap="square">
            <a:spAutoFit/>
          </a:bodyPr>
          <a:lstStyle/>
          <a:p>
            <a:r>
              <a:rPr lang="en-US" sz="1000" dirty="0">
                <a:solidFill>
                  <a:schemeClr val="bg1">
                    <a:lumMod val="50000"/>
                  </a:schemeClr>
                </a:solidFill>
              </a:rPr>
              <a:t>One thing I checked: you can only be flagged as trapped at a gate you reached. So, the trapped group is enriched for people who got deep in the funnel — that's the +0.093 partial at ACMPL, and it's an artifact, not a finding. The fix is comparing members standing at the same gate, split by whether they were trapped there.</a:t>
            </a:r>
          </a:p>
        </p:txBody>
      </p:sp>
      <p:sp>
        <p:nvSpPr>
          <p:cNvPr id="560" name="TextBox 559">
            <a:extLst>
              <a:ext uri="{FF2B5EF4-FFF2-40B4-BE49-F238E27FC236}">
                <a16:creationId xmlns:a16="http://schemas.microsoft.com/office/drawing/2014/main" id="{A2375101-EA4B-74D3-A1A0-7C7BE02EB33C}"/>
              </a:ext>
            </a:extLst>
          </p:cNvPr>
          <p:cNvSpPr txBox="1"/>
          <p:nvPr/>
        </p:nvSpPr>
        <p:spPr>
          <a:xfrm>
            <a:off x="7519449" y="5129120"/>
            <a:ext cx="3785202" cy="338554"/>
          </a:xfrm>
          <a:prstGeom prst="rect">
            <a:avLst/>
          </a:prstGeom>
          <a:noFill/>
        </p:spPr>
        <p:txBody>
          <a:bodyPr wrap="square">
            <a:spAutoFit/>
          </a:bodyPr>
          <a:lstStyle/>
          <a:p>
            <a:r>
              <a:rPr lang="en-US" sz="800" dirty="0">
                <a:solidFill>
                  <a:schemeClr val="bg1">
                    <a:lumMod val="50000"/>
                  </a:schemeClr>
                </a:solidFill>
              </a:rPr>
              <a:t>Being labeled trapped guarantees you advanced far enough to be trapped. That guaranteed advancement is what makes trapped members look like better prospects.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8395E-4736-8192-1883-F3E0060B282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0">
                <a:extLst>
                  <a:ext uri="{FF2B5EF4-FFF2-40B4-BE49-F238E27FC236}">
                    <a16:creationId xmlns:a16="http://schemas.microsoft.com/office/drawing/2014/main" id="{465558A6-360F-FE6B-DDDE-30A72EDFE876}"/>
                  </a:ext>
                </a:extLst>
              </p:cNvPr>
              <p:cNvSpPr txBox="1"/>
              <p:nvPr/>
            </p:nvSpPr>
            <p:spPr>
              <a:xfrm>
                <a:off x="354813" y="1012507"/>
                <a:ext cx="11247120" cy="457200"/>
              </a:xfrm>
              <a:prstGeom prst="rect">
                <a:avLst/>
              </a:prstGeom>
              <a:noFill/>
              <a:ln/>
            </p:spPr>
            <p:txBody>
              <a:bodyPr wrap="square" rtlCol="0" anchor="ctr"/>
              <a:lstStyle/>
              <a:p>
                <a:pPr marL="0" indent="0">
                  <a:buNone/>
                </a:pPr>
                <a:r>
                  <a:rPr lang="en-US" sz="2800" b="1" dirty="0">
                    <a:solidFill>
                      <a:srgbClr val="12395B"/>
                    </a:solidFill>
                  </a:rPr>
                  <a:t>IT measures performance. P&amp;C measures loss</a:t>
                </a:r>
              </a:p>
              <a:p>
                <a:pPr marL="171450" indent="-171450">
                  <a:buFont typeface="Arial" panose="020B0604020202020204" pitchFamily="34" charset="0"/>
                  <a:buChar char="•"/>
                </a:pPr>
                <a:r>
                  <a:rPr lang="en-US" sz="1200" b="1" dirty="0"/>
                  <a:t>IT</a:t>
                </a:r>
                <a:r>
                  <a:rPr lang="en-US" sz="1200" dirty="0"/>
                  <a:t>: how well does each stage perform, given who reached it? </a:t>
                </a:r>
                <a:r>
                  <a:rPr lang="en-US" sz="1200" b="1" dirty="0"/>
                  <a:t>P&amp;C</a:t>
                </a:r>
                <a:r>
                  <a:rPr lang="en-US" sz="1200" dirty="0"/>
                  <a:t>: where did the book get lost, as a share of the whole?</a:t>
                </a:r>
              </a:p>
              <a:p>
                <a:pPr marL="171450" indent="-171450">
                  <a:buFont typeface="Arial" panose="020B0604020202020204" pitchFamily="34" charset="0"/>
                  <a:buChar char="•"/>
                </a:pPr>
                <a:r>
                  <a:rPr lang="en-US" sz="1200" dirty="0">
                    <a:solidFill>
                      <a:srgbClr val="086B94"/>
                    </a:solidFill>
                  </a:rPr>
                  <a:t>Quote Complete → App Start: 5,883 / 7,287 = </a:t>
                </a:r>
                <a:r>
                  <a:rPr lang="en-US" sz="1200" b="1" dirty="0">
                    <a:solidFill>
                      <a:srgbClr val="086B94"/>
                    </a:solidFill>
                  </a:rPr>
                  <a:t>80.7% </a:t>
                </a:r>
                <a:r>
                  <a:rPr lang="en-US" sz="1200" b="1" dirty="0">
                    <a:solidFill>
                      <a:srgbClr val="720C27"/>
                    </a:solidFill>
                  </a:rPr>
                  <a:t>(Worst Transition)     </a:t>
                </a:r>
                <a:r>
                  <a:rPr lang="en-US" sz="1200" b="1" dirty="0">
                    <a:solidFill>
                      <a:srgbClr val="534AB7"/>
                    </a:solidFill>
                  </a:rPr>
                  <a:t>vs. </a:t>
                </a:r>
                <a:r>
                  <a:rPr lang="en-US" sz="1200" dirty="0">
                    <a:solidFill>
                      <a:srgbClr val="086B94"/>
                    </a:solidFill>
                  </a:rPr>
                  <a:t>Quote Complete </a:t>
                </a:r>
                <a14:m>
                  <m:oMath xmlns:m="http://schemas.openxmlformats.org/officeDocument/2006/math">
                    <m:r>
                      <a:rPr lang="en-US" sz="1200" i="1">
                        <a:solidFill>
                          <a:srgbClr val="086B94"/>
                        </a:solidFill>
                        <a:latin typeface="Cambria Math" panose="02040503050406030204" pitchFamily="18" charset="0"/>
                        <a:ea typeface="Cambria Math" panose="02040503050406030204" pitchFamily="18" charset="0"/>
                      </a:rPr>
                      <m:t>→</m:t>
                    </m:r>
                  </m:oMath>
                </a14:m>
                <a:r>
                  <a:rPr lang="en-US" sz="1200" dirty="0">
                    <a:solidFill>
                      <a:srgbClr val="086B94"/>
                    </a:solidFill>
                  </a:rPr>
                  <a:t> App Start: </a:t>
                </a:r>
                <a:r>
                  <a:rPr lang="en-US" sz="1200" dirty="0">
                    <a:solidFill>
                      <a:srgbClr val="720C27"/>
                    </a:solidFill>
                  </a:rPr>
                  <a:t>1404</a:t>
                </a:r>
                <a:r>
                  <a:rPr lang="en-US" sz="1200" dirty="0">
                    <a:solidFill>
                      <a:srgbClr val="086B94"/>
                    </a:solidFill>
                  </a:rPr>
                  <a:t>/ 9,793</a:t>
                </a:r>
                <a:r>
                  <a:rPr lang="en-US" sz="1200" dirty="0">
                    <a:solidFill>
                      <a:srgbClr val="325237"/>
                    </a:solidFill>
                  </a:rPr>
                  <a:t> = 14.3% </a:t>
                </a:r>
                <a:r>
                  <a:rPr lang="en-US" sz="1200" dirty="0">
                    <a:solidFill>
                      <a:srgbClr val="720C27"/>
                    </a:solidFill>
                  </a:rPr>
                  <a:t>(</a:t>
                </a:r>
                <a:r>
                  <a:rPr lang="en-US" sz="1200" b="1" dirty="0">
                    <a:solidFill>
                      <a:srgbClr val="720C27"/>
                    </a:solidFill>
                  </a:rPr>
                  <a:t>Largest Loss)</a:t>
                </a:r>
                <a:endParaRPr lang="en-US" sz="1200" dirty="0">
                  <a:solidFill>
                    <a:srgbClr val="720C27"/>
                  </a:solidFill>
                </a:endParaRPr>
              </a:p>
              <a:p>
                <a:endParaRPr lang="en-US" sz="1100" b="1" dirty="0">
                  <a:solidFill>
                    <a:srgbClr val="720C27"/>
                  </a:solidFill>
                </a:endParaRPr>
              </a:p>
              <a:p>
                <a:endParaRPr lang="en-US" sz="1100" dirty="0"/>
              </a:p>
              <a:p>
                <a:endParaRPr lang="en-US" sz="1100" dirty="0"/>
              </a:p>
              <a:p>
                <a:pPr marL="0" indent="0">
                  <a:buNone/>
                </a:pPr>
                <a:endParaRPr lang="en-US" sz="2800" dirty="0">
                  <a:solidFill>
                    <a:srgbClr val="12395B"/>
                  </a:solidFill>
                </a:endParaRPr>
              </a:p>
            </p:txBody>
          </p:sp>
        </mc:Choice>
        <mc:Fallback xmlns="">
          <p:sp>
            <p:nvSpPr>
              <p:cNvPr id="2" name="Text 0">
                <a:extLst>
                  <a:ext uri="{FF2B5EF4-FFF2-40B4-BE49-F238E27FC236}">
                    <a16:creationId xmlns:a16="http://schemas.microsoft.com/office/drawing/2014/main" id="{465558A6-360F-FE6B-DDDE-30A72EDFE876}"/>
                  </a:ext>
                </a:extLst>
              </p:cNvPr>
              <p:cNvSpPr txBox="1">
                <a:spLocks noRot="1" noChangeAspect="1" noMove="1" noResize="1" noEditPoints="1" noAdjustHandles="1" noChangeArrowheads="1" noChangeShapeType="1" noTextEdit="1"/>
              </p:cNvSpPr>
              <p:nvPr/>
            </p:nvSpPr>
            <p:spPr>
              <a:xfrm>
                <a:off x="354813" y="1012507"/>
                <a:ext cx="11247120" cy="457200"/>
              </a:xfrm>
              <a:prstGeom prst="rect">
                <a:avLst/>
              </a:prstGeom>
              <a:blipFill>
                <a:blip r:embed="rId3"/>
                <a:stretch>
                  <a:fillRect l="-1084" t="-161333"/>
                </a:stretch>
              </a:blipFill>
              <a:ln/>
            </p:spPr>
            <p:txBody>
              <a:bodyPr/>
              <a:lstStyle/>
              <a:p>
                <a:r>
                  <a:rPr lang="en-US">
                    <a:noFill/>
                  </a:rPr>
                  <a:t> </a:t>
                </a:r>
              </a:p>
            </p:txBody>
          </p:sp>
        </mc:Fallback>
      </mc:AlternateContent>
      <p:sp>
        <p:nvSpPr>
          <p:cNvPr id="6" name="Text 4">
            <a:extLst>
              <a:ext uri="{FF2B5EF4-FFF2-40B4-BE49-F238E27FC236}">
                <a16:creationId xmlns:a16="http://schemas.microsoft.com/office/drawing/2014/main" id="{069E5DD0-8B81-5089-CFB9-64AC65CC5E5C}"/>
              </a:ext>
            </a:extLst>
          </p:cNvPr>
          <p:cNvSpPr txBox="1"/>
          <p:nvPr/>
        </p:nvSpPr>
        <p:spPr>
          <a:xfrm>
            <a:off x="2194560" y="1680019"/>
            <a:ext cx="502920" cy="457200"/>
          </a:xfrm>
          <a:prstGeom prst="rect">
            <a:avLst/>
          </a:prstGeom>
          <a:noFill/>
          <a:ln/>
        </p:spPr>
        <p:txBody>
          <a:bodyPr wrap="square" lIns="0" tIns="0" rIns="0" bIns="0" rtlCol="0" anchor="ctr"/>
          <a:lstStyle/>
          <a:p>
            <a:pPr marL="0" indent="0" algn="r">
              <a:buNone/>
            </a:pPr>
            <a:r>
              <a:rPr lang="en-US" sz="1200" dirty="0">
                <a:solidFill>
                  <a:srgbClr val="FFFFFF"/>
                </a:solidFill>
              </a:rPr>
              <a:t>9,793</a:t>
            </a:r>
            <a:endParaRPr lang="en-US" sz="1200" dirty="0"/>
          </a:p>
        </p:txBody>
      </p:sp>
      <p:sp>
        <p:nvSpPr>
          <p:cNvPr id="15" name="Text 13">
            <a:extLst>
              <a:ext uri="{FF2B5EF4-FFF2-40B4-BE49-F238E27FC236}">
                <a16:creationId xmlns:a16="http://schemas.microsoft.com/office/drawing/2014/main" id="{39A5DE6E-70F1-14BF-B383-6DB6A60B3D26}"/>
              </a:ext>
            </a:extLst>
          </p:cNvPr>
          <p:cNvSpPr txBox="1"/>
          <p:nvPr/>
        </p:nvSpPr>
        <p:spPr>
          <a:xfrm>
            <a:off x="640080" y="3362515"/>
            <a:ext cx="1600200" cy="457200"/>
          </a:xfrm>
          <a:prstGeom prst="rect">
            <a:avLst/>
          </a:prstGeom>
          <a:noFill/>
          <a:ln/>
        </p:spPr>
        <p:txBody>
          <a:bodyPr wrap="square" lIns="0" tIns="0" rIns="0" bIns="0" rtlCol="0" anchor="ctr"/>
          <a:lstStyle/>
          <a:p>
            <a:pPr marL="0" indent="0">
              <a:buNone/>
            </a:pPr>
            <a:r>
              <a:rPr lang="en-US" sz="1200" b="1" dirty="0">
                <a:solidFill>
                  <a:srgbClr val="FFFFFF"/>
                </a:solidFill>
              </a:rPr>
              <a:t>Quote Complete</a:t>
            </a:r>
            <a:endParaRPr lang="en-US" sz="1200" dirty="0"/>
          </a:p>
        </p:txBody>
      </p:sp>
      <p:sp>
        <p:nvSpPr>
          <p:cNvPr id="16" name="Text 14">
            <a:extLst>
              <a:ext uri="{FF2B5EF4-FFF2-40B4-BE49-F238E27FC236}">
                <a16:creationId xmlns:a16="http://schemas.microsoft.com/office/drawing/2014/main" id="{8FECD36E-39AF-0605-2B55-43F3B6F636BA}"/>
              </a:ext>
            </a:extLst>
          </p:cNvPr>
          <p:cNvSpPr txBox="1"/>
          <p:nvPr/>
        </p:nvSpPr>
        <p:spPr>
          <a:xfrm>
            <a:off x="2194560" y="3362515"/>
            <a:ext cx="502920" cy="457200"/>
          </a:xfrm>
          <a:prstGeom prst="rect">
            <a:avLst/>
          </a:prstGeom>
          <a:noFill/>
          <a:ln/>
        </p:spPr>
        <p:txBody>
          <a:bodyPr wrap="square" lIns="0" tIns="0" rIns="0" bIns="0" rtlCol="0" anchor="ctr"/>
          <a:lstStyle/>
          <a:p>
            <a:pPr marL="0" indent="0" algn="r">
              <a:buNone/>
            </a:pPr>
            <a:r>
              <a:rPr lang="en-US" sz="1200" dirty="0">
                <a:solidFill>
                  <a:srgbClr val="FFFFFF"/>
                </a:solidFill>
              </a:rPr>
              <a:t>7,287</a:t>
            </a:r>
            <a:endParaRPr lang="en-US" sz="1200" dirty="0"/>
          </a:p>
        </p:txBody>
      </p:sp>
      <p:sp>
        <p:nvSpPr>
          <p:cNvPr id="26" name="Text 24">
            <a:extLst>
              <a:ext uri="{FF2B5EF4-FFF2-40B4-BE49-F238E27FC236}">
                <a16:creationId xmlns:a16="http://schemas.microsoft.com/office/drawing/2014/main" id="{447422F5-1944-5248-9F04-9687899A5E2B}"/>
              </a:ext>
            </a:extLst>
          </p:cNvPr>
          <p:cNvSpPr txBox="1"/>
          <p:nvPr/>
        </p:nvSpPr>
        <p:spPr>
          <a:xfrm>
            <a:off x="2194560" y="5045011"/>
            <a:ext cx="502920" cy="457200"/>
          </a:xfrm>
          <a:prstGeom prst="rect">
            <a:avLst/>
          </a:prstGeom>
          <a:noFill/>
          <a:ln/>
        </p:spPr>
        <p:txBody>
          <a:bodyPr wrap="square" lIns="0" tIns="0" rIns="0" bIns="0" rtlCol="0" anchor="ctr"/>
          <a:lstStyle/>
          <a:p>
            <a:pPr marL="0" indent="0" algn="r">
              <a:buNone/>
            </a:pPr>
            <a:r>
              <a:rPr lang="en-US" sz="1200" dirty="0">
                <a:solidFill>
                  <a:srgbClr val="FFFFFF"/>
                </a:solidFill>
              </a:rPr>
              <a:t>4,907</a:t>
            </a:r>
            <a:endParaRPr lang="en-US" sz="1200" dirty="0"/>
          </a:p>
        </p:txBody>
      </p:sp>
      <p:sp>
        <p:nvSpPr>
          <p:cNvPr id="31" name="Text 29">
            <a:extLst>
              <a:ext uri="{FF2B5EF4-FFF2-40B4-BE49-F238E27FC236}">
                <a16:creationId xmlns:a16="http://schemas.microsoft.com/office/drawing/2014/main" id="{2E09E551-966B-23DE-7316-BFC4ED472359}"/>
              </a:ext>
            </a:extLst>
          </p:cNvPr>
          <p:cNvSpPr txBox="1"/>
          <p:nvPr/>
        </p:nvSpPr>
        <p:spPr>
          <a:xfrm>
            <a:off x="2194560" y="5886259"/>
            <a:ext cx="502920" cy="457200"/>
          </a:xfrm>
          <a:prstGeom prst="rect">
            <a:avLst/>
          </a:prstGeom>
          <a:noFill/>
          <a:ln/>
        </p:spPr>
        <p:txBody>
          <a:bodyPr wrap="square" lIns="0" tIns="0" rIns="0" bIns="0" rtlCol="0" anchor="ctr"/>
          <a:lstStyle/>
          <a:p>
            <a:pPr marL="0" indent="0" algn="r">
              <a:buNone/>
            </a:pPr>
            <a:r>
              <a:rPr lang="en-US" sz="1200" dirty="0">
                <a:solidFill>
                  <a:srgbClr val="FFFFFF"/>
                </a:solidFill>
              </a:rPr>
              <a:t>4,116</a:t>
            </a:r>
            <a:endParaRPr lang="en-US" sz="1200" dirty="0"/>
          </a:p>
        </p:txBody>
      </p:sp>
      <p:sp>
        <p:nvSpPr>
          <p:cNvPr id="37" name="Text 35">
            <a:extLst>
              <a:ext uri="{FF2B5EF4-FFF2-40B4-BE49-F238E27FC236}">
                <a16:creationId xmlns:a16="http://schemas.microsoft.com/office/drawing/2014/main" id="{5208834A-BB0F-D787-401D-442979261A4C}"/>
              </a:ext>
            </a:extLst>
          </p:cNvPr>
          <p:cNvSpPr txBox="1"/>
          <p:nvPr/>
        </p:nvSpPr>
        <p:spPr>
          <a:xfrm>
            <a:off x="412750" y="1295971"/>
            <a:ext cx="8321040" cy="868680"/>
          </a:xfrm>
          <a:prstGeom prst="rect">
            <a:avLst/>
          </a:prstGeom>
          <a:noFill/>
          <a:ln/>
        </p:spPr>
        <p:txBody>
          <a:bodyPr wrap="square" lIns="0" tIns="0" rIns="0" bIns="0" rtlCol="0" anchor="ctr"/>
          <a:lstStyle/>
          <a:p>
            <a:pPr marL="0" indent="0">
              <a:lnSpc>
                <a:spcPct val="130000"/>
              </a:lnSpc>
              <a:buNone/>
            </a:pPr>
            <a:r>
              <a:rPr lang="en-US" sz="1500" dirty="0">
                <a:solidFill>
                  <a:srgbClr val="1A1A1A"/>
                </a:solidFill>
              </a:rPr>
              <a:t>Survival from Store Front to Issuance is 42.0%. Every additional policy costs roughly 2.4 more arrivals at the top — and top-of-funnel volume is not something you can decide to have.</a:t>
            </a:r>
            <a:endParaRPr lang="en-US" sz="1500" dirty="0"/>
          </a:p>
        </p:txBody>
      </p:sp>
    </p:spTree>
    <p:extLst>
      <p:ext uri="{BB962C8B-B14F-4D97-AF65-F5344CB8AC3E}">
        <p14:creationId xmlns:p14="http://schemas.microsoft.com/office/powerpoint/2010/main" val="1411793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9BDC4-F61B-B5BE-A7BE-59995DF145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E8CAC4-CB0F-5D73-53AF-3CCB3A123D63}"/>
              </a:ext>
            </a:extLst>
          </p:cNvPr>
          <p:cNvSpPr txBox="1"/>
          <p:nvPr/>
        </p:nvSpPr>
        <p:spPr>
          <a:xfrm>
            <a:off x="129307" y="-298624"/>
            <a:ext cx="10799950" cy="822276"/>
          </a:xfrm>
          <a:prstGeom prst="rect">
            <a:avLst/>
          </a:prstGeom>
          <a:noFill/>
        </p:spPr>
        <p:txBody>
          <a:bodyPr wrap="square" rtlCol="0">
            <a:spAutoFit/>
          </a:bodyPr>
          <a:lstStyle/>
          <a:p>
            <a:pPr>
              <a:lnSpc>
                <a:spcPts val="2850"/>
              </a:lnSpc>
              <a:spcAft>
                <a:spcPts val="600"/>
              </a:spcAft>
            </a:pPr>
            <a:br>
              <a:rPr lang="en-US" dirty="0"/>
            </a:br>
            <a:endParaRPr lang="en-US" sz="2400" dirty="0"/>
          </a:p>
        </p:txBody>
      </p:sp>
      <p:graphicFrame>
        <p:nvGraphicFramePr>
          <p:cNvPr id="2" name="Table 1">
            <a:extLst>
              <a:ext uri="{FF2B5EF4-FFF2-40B4-BE49-F238E27FC236}">
                <a16:creationId xmlns:a16="http://schemas.microsoft.com/office/drawing/2014/main" id="{90B1DCD7-E3D3-EC62-6329-BA8724EFA4E6}"/>
              </a:ext>
            </a:extLst>
          </p:cNvPr>
          <p:cNvGraphicFramePr>
            <a:graphicFrameLocks noGrp="1"/>
          </p:cNvGraphicFramePr>
          <p:nvPr>
            <p:extLst>
              <p:ext uri="{D42A27DB-BD31-4B8C-83A1-F6EECF244321}">
                <p14:modId xmlns:p14="http://schemas.microsoft.com/office/powerpoint/2010/main" val="3315499859"/>
              </p:ext>
            </p:extLst>
          </p:nvPr>
        </p:nvGraphicFramePr>
        <p:xfrm>
          <a:off x="234950" y="1356702"/>
          <a:ext cx="6200140" cy="685800"/>
        </p:xfrm>
        <a:graphic>
          <a:graphicData uri="http://schemas.openxmlformats.org/drawingml/2006/table">
            <a:tbl>
              <a:tblPr>
                <a:tableStyleId>{5C22544A-7EE6-4342-B048-85BDC9FD1C3A}</a:tableStyleId>
              </a:tblPr>
              <a:tblGrid>
                <a:gridCol w="1694180">
                  <a:extLst>
                    <a:ext uri="{9D8B030D-6E8A-4147-A177-3AD203B41FA5}">
                      <a16:colId xmlns:a16="http://schemas.microsoft.com/office/drawing/2014/main" val="3791364680"/>
                    </a:ext>
                  </a:extLst>
                </a:gridCol>
                <a:gridCol w="1802130">
                  <a:extLst>
                    <a:ext uri="{9D8B030D-6E8A-4147-A177-3AD203B41FA5}">
                      <a16:colId xmlns:a16="http://schemas.microsoft.com/office/drawing/2014/main" val="4215434947"/>
                    </a:ext>
                  </a:extLst>
                </a:gridCol>
                <a:gridCol w="2703830">
                  <a:extLst>
                    <a:ext uri="{9D8B030D-6E8A-4147-A177-3AD203B41FA5}">
                      <a16:colId xmlns:a16="http://schemas.microsoft.com/office/drawing/2014/main" val="3852315101"/>
                    </a:ext>
                  </a:extLst>
                </a:gridCol>
              </a:tblGrid>
              <a:tr h="0">
                <a:tc>
                  <a:txBody>
                    <a:bodyPr/>
                    <a:lstStyle/>
                    <a:p>
                      <a:pPr>
                        <a:buNone/>
                      </a:pPr>
                      <a:endParaRPr lang="en-US" sz="900" b="1" dirty="0">
                        <a:solidFill>
                          <a:srgbClr val="EEEDFE"/>
                        </a:solidFill>
                        <a:latin typeface="Arial" panose="020B0604020202020204" pitchFamily="34" charset="0"/>
                        <a:cs typeface="Arial" panose="020B0604020202020204" pitchFamily="34" charset="0"/>
                      </a:endParaRPr>
                    </a:p>
                  </a:txBody>
                  <a:tcPr anchor="ctr">
                    <a:solidFill>
                      <a:srgbClr val="12395B"/>
                    </a:solidFill>
                  </a:tcPr>
                </a:tc>
                <a:tc>
                  <a:txBody>
                    <a:bodyPr/>
                    <a:lstStyle/>
                    <a:p>
                      <a:pPr>
                        <a:buNone/>
                      </a:pPr>
                      <a:r>
                        <a:rPr lang="en-US" sz="900" b="1" dirty="0">
                          <a:solidFill>
                            <a:srgbClr val="EEEDFE"/>
                          </a:solidFill>
                          <a:latin typeface="Arial" panose="020B0604020202020204" pitchFamily="34" charset="0"/>
                          <a:cs typeface="Arial" panose="020B0604020202020204" pitchFamily="34" charset="0"/>
                        </a:rPr>
                        <a:t>Classical (fact about the test)</a:t>
                      </a:r>
                    </a:p>
                  </a:txBody>
                  <a:tcPr anchor="ctr">
                    <a:solidFill>
                      <a:srgbClr val="12395B"/>
                    </a:solidFill>
                  </a:tcPr>
                </a:tc>
                <a:tc>
                  <a:txBody>
                    <a:bodyPr/>
                    <a:lstStyle/>
                    <a:p>
                      <a:pPr>
                        <a:buNone/>
                      </a:pPr>
                      <a:r>
                        <a:rPr lang="en-US" sz="900" b="1" dirty="0">
                          <a:solidFill>
                            <a:srgbClr val="EEEDFE"/>
                          </a:solidFill>
                          <a:latin typeface="Arial" panose="020B0604020202020204" pitchFamily="34" charset="0"/>
                          <a:cs typeface="Arial" panose="020B0604020202020204" pitchFamily="34" charset="0"/>
                        </a:rPr>
                        <a:t>Bayesian (fact about the model in production)</a:t>
                      </a:r>
                    </a:p>
                  </a:txBody>
                  <a:tcPr anchor="ctr">
                    <a:solidFill>
                      <a:srgbClr val="12395B"/>
                    </a:solidFill>
                  </a:tcPr>
                </a:tc>
                <a:extLst>
                  <a:ext uri="{0D108BD9-81ED-4DB2-BD59-A6C34878D82A}">
                    <a16:rowId xmlns:a16="http://schemas.microsoft.com/office/drawing/2014/main" val="514951635"/>
                  </a:ext>
                </a:extLst>
              </a:tr>
              <a:tr h="0">
                <a:tc>
                  <a:txBody>
                    <a:bodyPr/>
                    <a:lstStyle/>
                    <a:p>
                      <a:pPr>
                        <a:buNone/>
                      </a:pPr>
                      <a:r>
                        <a:rPr lang="en-US" sz="900" dirty="0">
                          <a:latin typeface="Arial" panose="020B0604020202020204" pitchFamily="34" charset="0"/>
                          <a:cs typeface="Arial" panose="020B0604020202020204" pitchFamily="34" charset="0"/>
                        </a:rPr>
                        <a:t>Miss a bad model</a:t>
                      </a:r>
                    </a:p>
                  </a:txBody>
                  <a:tcPr anchor="ctr"/>
                </a:tc>
                <a:tc>
                  <a:txBody>
                    <a:bodyPr/>
                    <a:lstStyle/>
                    <a:p>
                      <a:pPr>
                        <a:buNone/>
                      </a:pPr>
                      <a:r>
                        <a:rPr lang="en-US" sz="900" dirty="0">
                          <a:latin typeface="Arial" panose="020B0604020202020204" pitchFamily="34" charset="0"/>
                          <a:cs typeface="Arial" panose="020B0604020202020204" pitchFamily="34" charset="0"/>
                        </a:rPr>
                        <a:t>P(pass | bad)</a:t>
                      </a:r>
                    </a:p>
                  </a:txBody>
                  <a:tcPr anchor="ctr"/>
                </a:tc>
                <a:tc>
                  <a:txBody>
                    <a:bodyPr/>
                    <a:lstStyle/>
                    <a:p>
                      <a:pPr>
                        <a:buNone/>
                      </a:pPr>
                      <a:r>
                        <a:rPr lang="en-US" sz="900" dirty="0">
                          <a:latin typeface="Arial" panose="020B0604020202020204" pitchFamily="34" charset="0"/>
                          <a:cs typeface="Arial" panose="020B0604020202020204" pitchFamily="34" charset="0"/>
                        </a:rPr>
                        <a:t>P(bad | pass)</a:t>
                      </a:r>
                    </a:p>
                  </a:txBody>
                  <a:tcPr anchor="ctr"/>
                </a:tc>
                <a:extLst>
                  <a:ext uri="{0D108BD9-81ED-4DB2-BD59-A6C34878D82A}">
                    <a16:rowId xmlns:a16="http://schemas.microsoft.com/office/drawing/2014/main" val="385884902"/>
                  </a:ext>
                </a:extLst>
              </a:tr>
              <a:tr h="127784">
                <a:tc>
                  <a:txBody>
                    <a:bodyPr/>
                    <a:lstStyle/>
                    <a:p>
                      <a:pPr>
                        <a:buNone/>
                      </a:pPr>
                      <a:r>
                        <a:rPr lang="en-US" sz="900" dirty="0">
                          <a:latin typeface="Arial" panose="020B0604020202020204" pitchFamily="34" charset="0"/>
                          <a:cs typeface="Arial" panose="020B0604020202020204" pitchFamily="34" charset="0"/>
                        </a:rPr>
                        <a:t>False alarm on a good model</a:t>
                      </a:r>
                    </a:p>
                  </a:txBody>
                  <a:tcPr anchor="ctr">
                    <a:solidFill>
                      <a:schemeClr val="bg1"/>
                    </a:solidFill>
                  </a:tcPr>
                </a:tc>
                <a:tc>
                  <a:txBody>
                    <a:bodyPr/>
                    <a:lstStyle/>
                    <a:p>
                      <a:pPr>
                        <a:buNone/>
                      </a:pPr>
                      <a:r>
                        <a:rPr lang="en-US" sz="900" dirty="0">
                          <a:latin typeface="Arial" panose="020B0604020202020204" pitchFamily="34" charset="0"/>
                          <a:cs typeface="Arial" panose="020B0604020202020204" pitchFamily="34" charset="0"/>
                        </a:rPr>
                        <a:t>P(fail | good)</a:t>
                      </a:r>
                    </a:p>
                  </a:txBody>
                  <a:tcPr anchor="ctr">
                    <a:solidFill>
                      <a:schemeClr val="bg1"/>
                    </a:solidFill>
                  </a:tcPr>
                </a:tc>
                <a:tc>
                  <a:txBody>
                    <a:bodyPr/>
                    <a:lstStyle/>
                    <a:p>
                      <a:pPr>
                        <a:buNone/>
                      </a:pPr>
                      <a:r>
                        <a:rPr lang="en-US" sz="900" dirty="0">
                          <a:latin typeface="Arial" panose="020B0604020202020204" pitchFamily="34" charset="0"/>
                          <a:cs typeface="Arial" panose="020B0604020202020204" pitchFamily="34" charset="0"/>
                        </a:rPr>
                        <a:t>P(good | fail)</a:t>
                      </a:r>
                    </a:p>
                  </a:txBody>
                  <a:tcPr anchor="ctr">
                    <a:solidFill>
                      <a:schemeClr val="bg1"/>
                    </a:solidFill>
                  </a:tcPr>
                </a:tc>
                <a:extLst>
                  <a:ext uri="{0D108BD9-81ED-4DB2-BD59-A6C34878D82A}">
                    <a16:rowId xmlns:a16="http://schemas.microsoft.com/office/drawing/2014/main" val="3780117677"/>
                  </a:ext>
                </a:extLst>
              </a:tr>
            </a:tbl>
          </a:graphicData>
        </a:graphic>
      </p:graphicFrame>
      <p:sp>
        <p:nvSpPr>
          <p:cNvPr id="5" name="TextBox 4">
            <a:extLst>
              <a:ext uri="{FF2B5EF4-FFF2-40B4-BE49-F238E27FC236}">
                <a16:creationId xmlns:a16="http://schemas.microsoft.com/office/drawing/2014/main" id="{80195189-6A46-C040-4571-83CAF0E72C9A}"/>
              </a:ext>
            </a:extLst>
          </p:cNvPr>
          <p:cNvSpPr txBox="1"/>
          <p:nvPr/>
        </p:nvSpPr>
        <p:spPr>
          <a:xfrm>
            <a:off x="129307" y="941754"/>
            <a:ext cx="11614149" cy="5524589"/>
          </a:xfrm>
          <a:prstGeom prst="rect">
            <a:avLst/>
          </a:prstGeom>
          <a:noFill/>
        </p:spPr>
        <p:txBody>
          <a:bodyPr wrap="square">
            <a:spAutoFit/>
          </a:bodyPr>
          <a:lstStyle/>
          <a:p>
            <a:pPr rtl="0">
              <a:buNone/>
            </a:pPr>
            <a:r>
              <a:rPr lang="en-US" sz="1000" b="1" dirty="0"/>
              <a:t>The four numbers a complete review reports</a:t>
            </a:r>
            <a:endParaRPr lang="en-US" sz="1000" dirty="0"/>
          </a:p>
          <a:p>
            <a:pPr rtl="0">
              <a:buNone/>
            </a:pPr>
            <a:r>
              <a:rPr lang="en-US" sz="1000" dirty="0"/>
              <a:t>Every accept/reject decision can go wrong in two ways, and each has a classical version and a Bayesian version:</a:t>
            </a:r>
          </a:p>
          <a:p>
            <a:pPr rtl="0">
              <a:buNone/>
            </a:pPr>
            <a:endParaRPr lang="en-US" sz="1000" dirty="0"/>
          </a:p>
          <a:p>
            <a:pPr rtl="0">
              <a:buNone/>
            </a:pPr>
            <a:endParaRPr lang="en-US" sz="1000" dirty="0"/>
          </a:p>
          <a:p>
            <a:pPr rtl="0">
              <a:buNone/>
            </a:pPr>
            <a:endParaRPr lang="en-US" sz="1000" dirty="0"/>
          </a:p>
          <a:p>
            <a:pPr rtl="0">
              <a:buNone/>
            </a:pPr>
            <a:endParaRPr lang="en-US" sz="1000" dirty="0"/>
          </a:p>
          <a:p>
            <a:pPr rtl="0">
              <a:buNone/>
            </a:pPr>
            <a:endParaRPr lang="en-US" sz="1000" dirty="0"/>
          </a:p>
          <a:p>
            <a:pPr rtl="0">
              <a:buNone/>
            </a:pPr>
            <a:endParaRPr lang="en-US" sz="1000" dirty="0"/>
          </a:p>
          <a:p>
            <a:pPr rtl="0">
              <a:buNone/>
            </a:pPr>
            <a:r>
              <a:rPr lang="en-US" sz="1000" dirty="0"/>
              <a:t>The left column is what the count test already gives you, however the breach limit is set. The right column is what's missing, and it's what the person signing off actually decides on. In quality terms, it's consumer's risk and producer's risk seen from after the decision rather than before it.</a:t>
            </a:r>
          </a:p>
          <a:p>
            <a:pPr rtl="0">
              <a:buNone/>
            </a:pPr>
            <a:r>
              <a:rPr lang="en-US" sz="1000" b="1" dirty="0"/>
              <a:t>A picture of all four at once</a:t>
            </a:r>
            <a:endParaRPr lang="en-US" sz="1000" dirty="0"/>
          </a:p>
          <a:p>
            <a:pPr rtl="0">
              <a:buNone/>
            </a:pPr>
            <a:r>
              <a:rPr lang="en-US" sz="1000" dirty="0"/>
              <a:t>Take 1,000 models, 30% of them running at double their stated risk, and apply the same 4-breach rule:</a:t>
            </a:r>
          </a:p>
          <a:p>
            <a:pPr>
              <a:buNone/>
            </a:pPr>
            <a:endParaRPr lang="en-US" sz="1000" dirty="0">
              <a:solidFill>
                <a:schemeClr val="tx1"/>
              </a:solidFill>
              <a:effectLst/>
              <a:latin typeface="+mn-lt"/>
            </a:endParaRPr>
          </a:p>
          <a:p>
            <a:pPr>
              <a:buNone/>
            </a:pPr>
            <a:r>
              <a:rPr lang="en-US" sz="1000" dirty="0">
                <a:solidFill>
                  <a:schemeClr val="tx1"/>
                </a:solidFill>
                <a:effectLst/>
                <a:latin typeface="+mn-lt"/>
              </a:rPr>
              <a:t>1,000 models</a:t>
            </a:r>
          </a:p>
          <a:p>
            <a:r>
              <a:rPr lang="en-US" sz="1000" dirty="0"/>
              <a:t>	 700 </a:t>
            </a:r>
            <a:r>
              <a:rPr lang="en-US" sz="1000" b="1" dirty="0"/>
              <a:t>good</a:t>
            </a:r>
            <a:r>
              <a:rPr lang="en-US" sz="1000" dirty="0"/>
              <a:t> (1% rate)</a:t>
            </a:r>
          </a:p>
          <a:p>
            <a:pPr>
              <a:buNone/>
            </a:pPr>
            <a:r>
              <a:rPr lang="en-US" sz="1000" dirty="0"/>
              <a:t>		624 pass</a:t>
            </a:r>
            <a:endParaRPr lang="en-US" sz="1000" dirty="0">
              <a:solidFill>
                <a:schemeClr val="tx1"/>
              </a:solidFill>
              <a:effectLst/>
              <a:latin typeface="+mn-lt"/>
            </a:endParaRPr>
          </a:p>
          <a:p>
            <a:pPr>
              <a:buNone/>
            </a:pPr>
            <a:r>
              <a:rPr lang="en-US" sz="1000" dirty="0"/>
              <a:t>		76 fail   </a:t>
            </a:r>
            <a:r>
              <a:rPr lang="en-US" sz="1000" dirty="0">
                <a:solidFill>
                  <a:srgbClr val="720C27"/>
                </a:solidFill>
              </a:rPr>
              <a:t>← false alarms</a:t>
            </a:r>
          </a:p>
          <a:p>
            <a:pPr>
              <a:buNone/>
            </a:pPr>
            <a:r>
              <a:rPr lang="en-US" sz="1000" dirty="0">
                <a:solidFill>
                  <a:schemeClr val="tx1"/>
                </a:solidFill>
                <a:effectLst/>
                <a:latin typeface="+mn-lt"/>
              </a:rPr>
              <a:t>                                  300 </a:t>
            </a:r>
            <a:r>
              <a:rPr lang="en-US" sz="1000" b="1" dirty="0">
                <a:solidFill>
                  <a:schemeClr val="tx1"/>
                </a:solidFill>
                <a:effectLst/>
                <a:latin typeface="+mn-lt"/>
              </a:rPr>
              <a:t>bad</a:t>
            </a:r>
            <a:r>
              <a:rPr lang="en-US" sz="1000" dirty="0">
                <a:solidFill>
                  <a:schemeClr val="tx1"/>
                </a:solidFill>
                <a:effectLst/>
                <a:latin typeface="+mn-lt"/>
              </a:rPr>
              <a:t> (2% rate)</a:t>
            </a:r>
          </a:p>
          <a:p>
            <a:pPr>
              <a:buNone/>
            </a:pPr>
            <a:r>
              <a:rPr lang="en-US" sz="1000" dirty="0">
                <a:solidFill>
                  <a:schemeClr val="tx1"/>
                </a:solidFill>
                <a:effectLst/>
                <a:latin typeface="+mn-lt"/>
              </a:rPr>
              <a:t>                                                                 </a:t>
            </a:r>
            <a:r>
              <a:rPr lang="en-US" sz="1000" dirty="0">
                <a:solidFill>
                  <a:srgbClr val="086B94"/>
                </a:solidFill>
                <a:effectLst/>
                <a:latin typeface="+mn-lt"/>
              </a:rPr>
              <a:t>132 pass   ← misses</a:t>
            </a:r>
          </a:p>
          <a:p>
            <a:pPr>
              <a:buNone/>
            </a:pPr>
            <a:r>
              <a:rPr lang="en-US" sz="1000" dirty="0">
                <a:solidFill>
                  <a:schemeClr val="tx1"/>
                </a:solidFill>
                <a:effectLst/>
                <a:latin typeface="+mn-lt"/>
              </a:rPr>
              <a:t>      	</a:t>
            </a:r>
            <a:r>
              <a:rPr lang="en-US" sz="1000" dirty="0"/>
              <a:t>	</a:t>
            </a:r>
            <a:r>
              <a:rPr lang="en-US" sz="1000" dirty="0">
                <a:solidFill>
                  <a:schemeClr val="tx1"/>
                </a:solidFill>
                <a:effectLst/>
                <a:latin typeface="+mn-lt"/>
              </a:rPr>
              <a:t>168 fail</a:t>
            </a:r>
          </a:p>
          <a:p>
            <a:pPr>
              <a:buNone/>
            </a:pPr>
            <a:endParaRPr lang="en-US" sz="1000" dirty="0">
              <a:solidFill>
                <a:schemeClr val="tx1"/>
              </a:solidFill>
              <a:effectLst/>
              <a:latin typeface="+mn-lt"/>
            </a:endParaRPr>
          </a:p>
          <a:p>
            <a:pPr>
              <a:buNone/>
            </a:pPr>
            <a:r>
              <a:rPr lang="en-US" sz="900" dirty="0">
                <a:solidFill>
                  <a:schemeClr val="tx1"/>
                </a:solidFill>
                <a:effectLst/>
                <a:latin typeface="+mn-lt"/>
              </a:rPr>
              <a:t>Passed: 624 + 132 = 756  →  P(bad | pass)  = 132/756 = </a:t>
            </a:r>
            <a:r>
              <a:rPr lang="en-US" sz="900" dirty="0">
                <a:solidFill>
                  <a:srgbClr val="720C27"/>
                </a:solidFill>
                <a:effectLst/>
                <a:latin typeface="+mn-lt"/>
              </a:rPr>
              <a:t>17%</a:t>
            </a:r>
          </a:p>
          <a:p>
            <a:pPr>
              <a:buNone/>
            </a:pPr>
            <a:r>
              <a:rPr lang="en-US" sz="900" dirty="0">
                <a:solidFill>
                  <a:schemeClr val="tx1"/>
                </a:solidFill>
                <a:effectLst/>
                <a:latin typeface="+mn-lt"/>
              </a:rPr>
              <a:t>Failed:  76 + 168 = 244  →  P(good | fail) =  76/244 = 31%</a:t>
            </a:r>
          </a:p>
          <a:p>
            <a:pPr rtl="0">
              <a:buNone/>
            </a:pPr>
            <a:r>
              <a:rPr lang="en-US" sz="900" dirty="0"/>
              <a:t>Both sides show up at once</a:t>
            </a:r>
            <a:r>
              <a:rPr lang="en-US" sz="900" dirty="0">
                <a:solidFill>
                  <a:srgbClr val="720C27"/>
                </a:solidFill>
              </a:rPr>
              <a:t>. About 1 in 6 accepted models is actually bad</a:t>
            </a:r>
            <a:r>
              <a:rPr lang="en-US" sz="900" dirty="0"/>
              <a:t>, and nearly </a:t>
            </a:r>
            <a:r>
              <a:rPr lang="en-US" sz="900" dirty="0">
                <a:solidFill>
                  <a:srgbClr val="086B94"/>
                </a:solidFill>
              </a:rPr>
              <a:t>1 in 3 flagged models is actually fine</a:t>
            </a:r>
            <a:r>
              <a:rPr lang="en-US" sz="900" dirty="0"/>
              <a:t>. The second number matters too: a false alarm costs real money in unnecessary investigation or remediation, so this isn't only an argument for being stricter.</a:t>
            </a:r>
          </a:p>
          <a:p>
            <a:pPr rtl="0">
              <a:buNone/>
            </a:pPr>
            <a:endParaRPr lang="en-US" sz="900" dirty="0"/>
          </a:p>
          <a:p>
            <a:pPr rtl="0">
              <a:buNone/>
            </a:pPr>
            <a:r>
              <a:rPr lang="en-US" sz="800" dirty="0"/>
              <a:t>The formulas behind the two right-column numbers:</a:t>
            </a:r>
          </a:p>
          <a:p>
            <a:pPr marL="171450" indent="-171450" rtl="0">
              <a:buFont typeface="Arial" panose="020B0604020202020204" pitchFamily="34" charset="0"/>
              <a:buChar char="•"/>
            </a:pPr>
            <a:r>
              <a:rPr lang="en-US" sz="800" dirty="0"/>
              <a:t>P(bad | pass) = P(pass | bad)·π / [P(pass | bad)·π + P(pass | good)·(1 − π)]</a:t>
            </a:r>
          </a:p>
          <a:p>
            <a:pPr marL="171450" indent="-171450" rtl="0">
              <a:buFont typeface="Arial" panose="020B0604020202020204" pitchFamily="34" charset="0"/>
              <a:buChar char="•"/>
            </a:pPr>
            <a:r>
              <a:rPr lang="en-US" sz="800" dirty="0"/>
              <a:t>P(good | fail) = P(fail | good)·(1 − π) / [P(fail | good)·(1 − π) + P(fail | bad)·π]</a:t>
            </a:r>
          </a:p>
          <a:p>
            <a:pPr marL="171450" indent="-171450" rtl="0">
              <a:buFont typeface="Arial" panose="020B0604020202020204" pitchFamily="34" charset="0"/>
              <a:buChar char="•"/>
            </a:pPr>
            <a:r>
              <a:rPr lang="en-US" sz="800" dirty="0"/>
              <a:t>where π is the prior probability, the model is bad, taken from its record.</a:t>
            </a:r>
          </a:p>
          <a:p>
            <a:pPr rtl="0">
              <a:buNone/>
            </a:pPr>
            <a:endParaRPr lang="en-US" sz="800" dirty="0"/>
          </a:p>
          <a:p>
            <a:pPr rtl="0">
              <a:buNone/>
            </a:pPr>
            <a:r>
              <a:rPr lang="en-US" sz="800" b="1" dirty="0"/>
              <a:t>How the breach count fits in</a:t>
            </a:r>
            <a:endParaRPr lang="en-US" sz="800" dirty="0"/>
          </a:p>
          <a:p>
            <a:pPr rtl="0">
              <a:buNone/>
            </a:pPr>
            <a:r>
              <a:rPr lang="en-US" sz="800" dirty="0"/>
              <a:t>The count stays the primary evidence no matter how a company sets its limit. The Bayesian layer just uses it more fully: instead of pass/fail, it updates on the actual count k each day, p | record, k breaches in n days ~ Beta(α + k, β + n − k) and reports P(p &gt; tolerance) as a running number, like the 3% → 36% table from the previous step.</a:t>
            </a:r>
          </a:p>
          <a:p>
            <a:pPr rtl="0">
              <a:buNone/>
            </a:pPr>
            <a:endParaRPr lang="en-US" sz="800" dirty="0"/>
          </a:p>
          <a:p>
            <a:pPr rtl="0">
              <a:buNone/>
            </a:pPr>
            <a:r>
              <a:rPr lang="en-US" sz="800" dirty="0"/>
              <a:t>The 1,000-model tree is the fastest way to show the idea, because it needs no statistical terms, and it shows you're weighing both kinds of error rather than just arguing for a stricter test.</a:t>
            </a:r>
          </a:p>
          <a:p>
            <a:pPr rtl="0">
              <a:buNone/>
            </a:pPr>
            <a:endParaRPr lang="en-US" sz="1000" dirty="0"/>
          </a:p>
        </p:txBody>
      </p:sp>
      <p:cxnSp>
        <p:nvCxnSpPr>
          <p:cNvPr id="6" name="Connector: Elbow 5">
            <a:extLst>
              <a:ext uri="{FF2B5EF4-FFF2-40B4-BE49-F238E27FC236}">
                <a16:creationId xmlns:a16="http://schemas.microsoft.com/office/drawing/2014/main" id="{6DFCF53A-34E8-BDF1-AFE8-9F97EB051532}"/>
              </a:ext>
            </a:extLst>
          </p:cNvPr>
          <p:cNvCxnSpPr>
            <a:cxnSpLocks/>
          </p:cNvCxnSpPr>
          <p:nvPr/>
        </p:nvCxnSpPr>
        <p:spPr>
          <a:xfrm>
            <a:off x="520700" y="3079750"/>
            <a:ext cx="628650" cy="119161"/>
          </a:xfrm>
          <a:prstGeom prst="bentConnector3">
            <a:avLst>
              <a:gd name="adj1" fmla="val -505"/>
            </a:avLst>
          </a:prstGeom>
          <a:ln>
            <a:solidFill>
              <a:srgbClr val="12395B"/>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9C57F4E3-6808-52D4-DF65-7FA22E8C731F}"/>
              </a:ext>
            </a:extLst>
          </p:cNvPr>
          <p:cNvCxnSpPr>
            <a:cxnSpLocks/>
          </p:cNvCxnSpPr>
          <p:nvPr/>
        </p:nvCxnSpPr>
        <p:spPr>
          <a:xfrm>
            <a:off x="835025" y="3203575"/>
            <a:ext cx="1076325" cy="174625"/>
          </a:xfrm>
          <a:prstGeom prst="bentConnector3">
            <a:avLst>
              <a:gd name="adj1" fmla="val -737"/>
            </a:avLst>
          </a:prstGeom>
          <a:ln>
            <a:solidFill>
              <a:srgbClr val="12395B"/>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628ABD64-08E3-BC40-9303-6AE09D76BFB0}"/>
              </a:ext>
            </a:extLst>
          </p:cNvPr>
          <p:cNvCxnSpPr>
            <a:cxnSpLocks/>
          </p:cNvCxnSpPr>
          <p:nvPr/>
        </p:nvCxnSpPr>
        <p:spPr>
          <a:xfrm>
            <a:off x="835025" y="3831770"/>
            <a:ext cx="1050205" cy="147793"/>
          </a:xfrm>
          <a:prstGeom prst="bentConnector3">
            <a:avLst>
              <a:gd name="adj1" fmla="val -790"/>
            </a:avLst>
          </a:prstGeom>
          <a:ln>
            <a:solidFill>
              <a:srgbClr val="12395B"/>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0374B34E-217A-A423-F026-D6750DEB0DBF}"/>
              </a:ext>
            </a:extLst>
          </p:cNvPr>
          <p:cNvCxnSpPr>
            <a:cxnSpLocks/>
          </p:cNvCxnSpPr>
          <p:nvPr/>
        </p:nvCxnSpPr>
        <p:spPr>
          <a:xfrm>
            <a:off x="841374" y="3340588"/>
            <a:ext cx="1076325" cy="174625"/>
          </a:xfrm>
          <a:prstGeom prst="bentConnector3">
            <a:avLst>
              <a:gd name="adj1" fmla="val -737"/>
            </a:avLst>
          </a:prstGeom>
          <a:ln>
            <a:solidFill>
              <a:srgbClr val="12395B"/>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33289040-0623-FCB9-2B50-87A882311A65}"/>
              </a:ext>
            </a:extLst>
          </p:cNvPr>
          <p:cNvCxnSpPr>
            <a:cxnSpLocks/>
          </p:cNvCxnSpPr>
          <p:nvPr/>
        </p:nvCxnSpPr>
        <p:spPr>
          <a:xfrm>
            <a:off x="520700" y="3207837"/>
            <a:ext cx="628650" cy="451253"/>
          </a:xfrm>
          <a:prstGeom prst="bentConnector3">
            <a:avLst>
              <a:gd name="adj1" fmla="val -505"/>
            </a:avLst>
          </a:prstGeom>
          <a:ln>
            <a:solidFill>
              <a:srgbClr val="12395B"/>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7E11A4A0-5460-844C-7B29-E54657FC5DA2}"/>
              </a:ext>
            </a:extLst>
          </p:cNvPr>
          <p:cNvCxnSpPr>
            <a:cxnSpLocks/>
          </p:cNvCxnSpPr>
          <p:nvPr/>
        </p:nvCxnSpPr>
        <p:spPr>
          <a:xfrm>
            <a:off x="835025" y="3657245"/>
            <a:ext cx="1076325" cy="174625"/>
          </a:xfrm>
          <a:prstGeom prst="bentConnector3">
            <a:avLst>
              <a:gd name="adj1" fmla="val -737"/>
            </a:avLst>
          </a:prstGeom>
          <a:ln>
            <a:solidFill>
              <a:srgbClr val="12395B"/>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496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E5A1B-0CC6-7F63-853E-EAA39007BB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DA5508-1A28-E87C-B9D8-96C5BBE596E8}"/>
              </a:ext>
            </a:extLst>
          </p:cNvPr>
          <p:cNvSpPr txBox="1"/>
          <p:nvPr/>
        </p:nvSpPr>
        <p:spPr>
          <a:xfrm>
            <a:off x="73025" y="1077531"/>
            <a:ext cx="11247120" cy="457200"/>
          </a:xfrm>
          <a:prstGeom prst="rect">
            <a:avLst/>
          </a:prstGeom>
          <a:noFill/>
          <a:ln/>
        </p:spPr>
        <p:txBody>
          <a:bodyPr wrap="square" lIns="0" tIns="0" rIns="0" bIns="0" rtlCol="0" anchor="ctr"/>
          <a:lstStyle/>
          <a:p>
            <a:pPr marL="0" indent="0">
              <a:buNone/>
            </a:pPr>
            <a:endParaRPr lang="en-US" sz="1400" b="1" dirty="0">
              <a:solidFill>
                <a:srgbClr val="1F3864"/>
              </a:solidFill>
              <a:latin typeface="Cambria" pitchFamily="34" charset="0"/>
              <a:ea typeface="Cambria" pitchFamily="34" charset="-122"/>
              <a:cs typeface="Cambria" pitchFamily="34" charset="-120"/>
            </a:endParaRPr>
          </a:p>
          <a:p>
            <a:r>
              <a:rPr lang="en-US" sz="2000" b="1" dirty="0">
                <a:solidFill>
                  <a:srgbClr val="12395B"/>
                </a:solidFill>
                <a:latin typeface="Arial" panose="020B0604020202020204" pitchFamily="34" charset="0"/>
                <a:cs typeface="Arial" panose="020B0604020202020204" pitchFamily="34" charset="0"/>
              </a:rPr>
              <a:t>We know where customers leave the sales funnel. We don't know which losses matter.</a:t>
            </a:r>
          </a:p>
          <a:p>
            <a:endParaRPr lang="en-US" sz="1400" dirty="0">
              <a:solidFill>
                <a:srgbClr val="12395B"/>
              </a:solidFill>
              <a:latin typeface="Arial" panose="020B0604020202020204" pitchFamily="34" charset="0"/>
              <a:cs typeface="Arial" panose="020B0604020202020204" pitchFamily="34" charset="0"/>
            </a:endParaRPr>
          </a:p>
          <a:p>
            <a:r>
              <a:rPr lang="en-US" sz="1400" b="1" dirty="0">
                <a:solidFill>
                  <a:srgbClr val="12395B"/>
                </a:solidFill>
                <a:latin typeface="Arial" panose="020B0604020202020204" pitchFamily="34" charset="0"/>
                <a:cs typeface="Arial" panose="020B0604020202020204" pitchFamily="34" charset="0"/>
              </a:rPr>
              <a:t>What we see:</a:t>
            </a:r>
            <a:r>
              <a:rPr lang="en-US" sz="1400" dirty="0">
                <a:solidFill>
                  <a:srgbClr val="12395B"/>
                </a:solidFill>
                <a:latin typeface="Arial" panose="020B0604020202020204" pitchFamily="34" charset="0"/>
                <a:cs typeface="Arial" panose="020B0604020202020204" pitchFamily="34" charset="0"/>
              </a:rPr>
              <a:t> The biggest drop is after the quote. Both IT and P&amp;C flag it, and the usual explanation is price shopping.</a:t>
            </a:r>
          </a:p>
          <a:p>
            <a:endParaRPr lang="en-US" sz="1400" dirty="0">
              <a:solidFill>
                <a:srgbClr val="12395B"/>
              </a:solidFill>
              <a:latin typeface="Arial" panose="020B0604020202020204" pitchFamily="34" charset="0"/>
              <a:cs typeface="Arial" panose="020B0604020202020204" pitchFamily="34" charset="0"/>
            </a:endParaRPr>
          </a:p>
          <a:p>
            <a:r>
              <a:rPr lang="en-US" sz="1400" b="1" dirty="0">
                <a:solidFill>
                  <a:srgbClr val="12395B"/>
                </a:solidFill>
                <a:latin typeface="Arial" panose="020B0604020202020204" pitchFamily="34" charset="0"/>
                <a:cs typeface="Arial" panose="020B0604020202020204" pitchFamily="34" charset="0"/>
              </a:rPr>
              <a:t>What we don't see:</a:t>
            </a:r>
            <a:r>
              <a:rPr lang="en-US" sz="1400" dirty="0">
                <a:solidFill>
                  <a:srgbClr val="12395B"/>
                </a:solidFill>
                <a:latin typeface="Arial" panose="020B0604020202020204" pitchFamily="34" charset="0"/>
                <a:cs typeface="Arial" panose="020B0604020202020204" pitchFamily="34" charset="0"/>
              </a:rPr>
              <a:t> 791 customers completed an application and never received a policy. By every current measure it's the smallest loss on the chart, so no one has asked why.</a:t>
            </a:r>
          </a:p>
          <a:p>
            <a:endParaRPr lang="en-US" sz="1400" dirty="0">
              <a:solidFill>
                <a:srgbClr val="12395B"/>
              </a:solidFill>
              <a:latin typeface="Arial" panose="020B0604020202020204" pitchFamily="34" charset="0"/>
              <a:cs typeface="Arial" panose="020B0604020202020204" pitchFamily="34" charset="0"/>
            </a:endParaRPr>
          </a:p>
          <a:p>
            <a:r>
              <a:rPr lang="en-US" sz="1400" b="1" dirty="0">
                <a:solidFill>
                  <a:srgbClr val="12395B"/>
                </a:solidFill>
                <a:latin typeface="Arial" panose="020B0604020202020204" pitchFamily="34" charset="0"/>
                <a:cs typeface="Arial" panose="020B0604020202020204" pitchFamily="34" charset="0"/>
              </a:rPr>
              <a:t>What we don't know:</a:t>
            </a:r>
            <a:r>
              <a:rPr lang="en-US" sz="1400" dirty="0">
                <a:solidFill>
                  <a:srgbClr val="12395B"/>
                </a:solidFill>
                <a:latin typeface="Arial" panose="020B0604020202020204" pitchFamily="34" charset="0"/>
                <a:cs typeface="Arial" panose="020B0604020202020204" pitchFamily="34" charset="0"/>
              </a:rPr>
              <a:t> Which of these losses are normal and which aren't. Our reports count how many people leave at each step. They don't tell us whether leaving at that step should be expected.</a:t>
            </a:r>
          </a:p>
          <a:p>
            <a:endParaRPr lang="en-US" sz="1400" dirty="0">
              <a:solidFill>
                <a:srgbClr val="12395B"/>
              </a:solidFill>
              <a:latin typeface="Arial" panose="020B0604020202020204" pitchFamily="34" charset="0"/>
              <a:cs typeface="Arial" panose="020B0604020202020204" pitchFamily="34" charset="0"/>
            </a:endParaRPr>
          </a:p>
          <a:p>
            <a:r>
              <a:rPr lang="en-US" sz="1400" b="1" dirty="0">
                <a:solidFill>
                  <a:srgbClr val="12395B"/>
                </a:solidFill>
                <a:latin typeface="Arial" panose="020B0604020202020204" pitchFamily="34" charset="0"/>
                <a:cs typeface="Arial" panose="020B0604020202020204" pitchFamily="34" charset="0"/>
              </a:rPr>
              <a:t>So, what:</a:t>
            </a:r>
            <a:r>
              <a:rPr lang="en-US" sz="1400" dirty="0">
                <a:solidFill>
                  <a:srgbClr val="12395B"/>
                </a:solidFill>
                <a:latin typeface="Arial" panose="020B0604020202020204" pitchFamily="34" charset="0"/>
                <a:cs typeface="Arial" panose="020B0604020202020204" pitchFamily="34" charset="0"/>
              </a:rPr>
              <a:t> Every customer who completes an application represents cost already spent: marketing, quoting, underwriting. Without knowing which losses are avoidable, we can't tell whether the answer is more shoppers or a better process.</a:t>
            </a:r>
          </a:p>
        </p:txBody>
      </p:sp>
      <p:sp>
        <p:nvSpPr>
          <p:cNvPr id="10" name="Rectangle: Rounded Corners 9">
            <a:extLst>
              <a:ext uri="{FF2B5EF4-FFF2-40B4-BE49-F238E27FC236}">
                <a16:creationId xmlns:a16="http://schemas.microsoft.com/office/drawing/2014/main" id="{85CE71D5-7F3A-C390-B34C-89ADF1C18E2B}"/>
              </a:ext>
            </a:extLst>
          </p:cNvPr>
          <p:cNvSpPr/>
          <p:nvPr/>
        </p:nvSpPr>
        <p:spPr>
          <a:xfrm>
            <a:off x="1939924" y="3551282"/>
            <a:ext cx="2533650"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Digital Store Front</a:t>
            </a:r>
          </a:p>
        </p:txBody>
      </p:sp>
      <p:sp>
        <p:nvSpPr>
          <p:cNvPr id="12" name="Rectangle: Rounded Corners 11">
            <a:extLst>
              <a:ext uri="{FF2B5EF4-FFF2-40B4-BE49-F238E27FC236}">
                <a16:creationId xmlns:a16="http://schemas.microsoft.com/office/drawing/2014/main" id="{60D60339-325E-5C9E-3EAA-6518FC70856B}"/>
              </a:ext>
            </a:extLst>
          </p:cNvPr>
          <p:cNvSpPr/>
          <p:nvPr/>
        </p:nvSpPr>
        <p:spPr>
          <a:xfrm>
            <a:off x="2235834" y="4106907"/>
            <a:ext cx="1917700" cy="292100"/>
          </a:xfrm>
          <a:prstGeom prst="roundRect">
            <a:avLst/>
          </a:prstGeom>
          <a:solidFill>
            <a:srgbClr val="086B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Quote Start</a:t>
            </a:r>
          </a:p>
        </p:txBody>
      </p:sp>
      <p:sp>
        <p:nvSpPr>
          <p:cNvPr id="14" name="Rectangle: Rounded Corners 13">
            <a:extLst>
              <a:ext uri="{FF2B5EF4-FFF2-40B4-BE49-F238E27FC236}">
                <a16:creationId xmlns:a16="http://schemas.microsoft.com/office/drawing/2014/main" id="{5B2F186B-7AC4-B13B-AECE-DD376798C3BB}"/>
              </a:ext>
            </a:extLst>
          </p:cNvPr>
          <p:cNvSpPr/>
          <p:nvPr/>
        </p:nvSpPr>
        <p:spPr>
          <a:xfrm>
            <a:off x="2336800" y="4662532"/>
            <a:ext cx="1689100" cy="292100"/>
          </a:xfrm>
          <a:prstGeom prst="roundRect">
            <a:avLst/>
          </a:prstGeom>
          <a:solidFill>
            <a:srgbClr val="720C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Quote Complete</a:t>
            </a:r>
          </a:p>
        </p:txBody>
      </p:sp>
      <p:sp>
        <p:nvSpPr>
          <p:cNvPr id="16" name="Rectangle: Rounded Corners 15">
            <a:extLst>
              <a:ext uri="{FF2B5EF4-FFF2-40B4-BE49-F238E27FC236}">
                <a16:creationId xmlns:a16="http://schemas.microsoft.com/office/drawing/2014/main" id="{4E385C4C-F629-B198-D04D-A5A1F262F166}"/>
              </a:ext>
            </a:extLst>
          </p:cNvPr>
          <p:cNvSpPr/>
          <p:nvPr/>
        </p:nvSpPr>
        <p:spPr>
          <a:xfrm>
            <a:off x="2473959" y="5218157"/>
            <a:ext cx="1460499" cy="292100"/>
          </a:xfrm>
          <a:prstGeom prst="roundRect">
            <a:avLst/>
          </a:prstGeom>
          <a:solidFill>
            <a:srgbClr val="5F5E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App Start</a:t>
            </a:r>
          </a:p>
        </p:txBody>
      </p:sp>
      <p:sp>
        <p:nvSpPr>
          <p:cNvPr id="18" name="Rectangle: Rounded Corners 17">
            <a:extLst>
              <a:ext uri="{FF2B5EF4-FFF2-40B4-BE49-F238E27FC236}">
                <a16:creationId xmlns:a16="http://schemas.microsoft.com/office/drawing/2014/main" id="{19DC85BC-7CDD-68E4-23CC-3F81EEBCF963}"/>
              </a:ext>
            </a:extLst>
          </p:cNvPr>
          <p:cNvSpPr/>
          <p:nvPr/>
        </p:nvSpPr>
        <p:spPr>
          <a:xfrm>
            <a:off x="2600958" y="5773782"/>
            <a:ext cx="12065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App Complete</a:t>
            </a:r>
          </a:p>
        </p:txBody>
      </p:sp>
      <p:sp>
        <p:nvSpPr>
          <p:cNvPr id="20" name="Rectangle: Rounded Corners 19">
            <a:extLst>
              <a:ext uri="{FF2B5EF4-FFF2-40B4-BE49-F238E27FC236}">
                <a16:creationId xmlns:a16="http://schemas.microsoft.com/office/drawing/2014/main" id="{37B87515-EA09-A3A0-FD4B-521F8E90E31B}"/>
              </a:ext>
            </a:extLst>
          </p:cNvPr>
          <p:cNvSpPr/>
          <p:nvPr/>
        </p:nvSpPr>
        <p:spPr>
          <a:xfrm>
            <a:off x="2771140" y="6329407"/>
            <a:ext cx="838200" cy="292100"/>
          </a:xfrm>
          <a:prstGeom prst="roundRect">
            <a:avLst/>
          </a:prstGeom>
          <a:solidFill>
            <a:srgbClr val="06D6A0"/>
          </a:solidFill>
          <a:ln>
            <a:solidFill>
              <a:srgbClr val="06D6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Issuance</a:t>
            </a:r>
          </a:p>
        </p:txBody>
      </p:sp>
      <p:sp>
        <p:nvSpPr>
          <p:cNvPr id="21" name="Arrow: Down 20">
            <a:extLst>
              <a:ext uri="{FF2B5EF4-FFF2-40B4-BE49-F238E27FC236}">
                <a16:creationId xmlns:a16="http://schemas.microsoft.com/office/drawing/2014/main" id="{9FBEA984-386B-6360-4188-E9541EBFD46E}"/>
              </a:ext>
            </a:extLst>
          </p:cNvPr>
          <p:cNvSpPr/>
          <p:nvPr/>
        </p:nvSpPr>
        <p:spPr>
          <a:xfrm>
            <a:off x="3171825" y="3843382"/>
            <a:ext cx="45719" cy="26352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Arrow: Down 22">
            <a:extLst>
              <a:ext uri="{FF2B5EF4-FFF2-40B4-BE49-F238E27FC236}">
                <a16:creationId xmlns:a16="http://schemas.microsoft.com/office/drawing/2014/main" id="{C07473D9-D335-A678-C458-36621C003A7C}"/>
              </a:ext>
            </a:extLst>
          </p:cNvPr>
          <p:cNvSpPr/>
          <p:nvPr/>
        </p:nvSpPr>
        <p:spPr>
          <a:xfrm>
            <a:off x="3181350" y="4399007"/>
            <a:ext cx="45719" cy="26352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Arrow: Down 24">
            <a:extLst>
              <a:ext uri="{FF2B5EF4-FFF2-40B4-BE49-F238E27FC236}">
                <a16:creationId xmlns:a16="http://schemas.microsoft.com/office/drawing/2014/main" id="{A8774648-7E4D-DCE3-9DB4-3B2E3B474CDD}"/>
              </a:ext>
            </a:extLst>
          </p:cNvPr>
          <p:cNvSpPr/>
          <p:nvPr/>
        </p:nvSpPr>
        <p:spPr>
          <a:xfrm>
            <a:off x="3181350" y="4954632"/>
            <a:ext cx="45719" cy="26352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Arrow: Down 26">
            <a:extLst>
              <a:ext uri="{FF2B5EF4-FFF2-40B4-BE49-F238E27FC236}">
                <a16:creationId xmlns:a16="http://schemas.microsoft.com/office/drawing/2014/main" id="{6D797D60-B36B-C745-FE43-0A6614DA21F5}"/>
              </a:ext>
            </a:extLst>
          </p:cNvPr>
          <p:cNvSpPr/>
          <p:nvPr/>
        </p:nvSpPr>
        <p:spPr>
          <a:xfrm>
            <a:off x="3190240" y="5510257"/>
            <a:ext cx="45719" cy="26352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Arrow: Down 28">
            <a:extLst>
              <a:ext uri="{FF2B5EF4-FFF2-40B4-BE49-F238E27FC236}">
                <a16:creationId xmlns:a16="http://schemas.microsoft.com/office/drawing/2014/main" id="{93E1A1B0-14C9-EDDF-6758-ED24F8EE803B}"/>
              </a:ext>
            </a:extLst>
          </p:cNvPr>
          <p:cNvSpPr/>
          <p:nvPr/>
        </p:nvSpPr>
        <p:spPr>
          <a:xfrm>
            <a:off x="3171825" y="6065882"/>
            <a:ext cx="45719" cy="263525"/>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8724FD6-39A7-D236-FB56-190D5E6055EC}"/>
                  </a:ext>
                </a:extLst>
              </p:cNvPr>
              <p:cNvSpPr txBox="1"/>
              <p:nvPr/>
            </p:nvSpPr>
            <p:spPr>
              <a:xfrm>
                <a:off x="11849419" y="2174073"/>
                <a:ext cx="1155381" cy="441018"/>
              </a:xfrm>
              <a:prstGeom prst="rect">
                <a:avLst/>
              </a:prstGeom>
              <a:noFill/>
            </p:spPr>
            <p:txBody>
              <a:bodyPr wrap="none" lIns="0" tIns="0" rIns="0" bIns="0" rtlCol="0">
                <a:spAutoFit/>
              </a:bodyPr>
              <a:lstStyle/>
              <a:p>
                <a:pPr/>
                <a14:m>
                  <m:oMathPara xmlns:m="http://schemas.openxmlformats.org/officeDocument/2006/math">
                    <m:oMath>
                      <m:sSub>
                        <m:sSubPr>
                          <m:ctrlPr>
                            <a:rPr lang="en-US" sz="1400" b="0" i="0" smtClean="0">
                              <a:latin typeface="Cambria Math" panose="02040503050406030204" pitchFamily="18" charset="0"/>
                            </a:rPr>
                          </m:ctrlPr>
                        </m:sSubPr>
                        <m:e>
                          <m:r>
                            <m:rPr>
                              <m:sty m:val="p"/>
                            </m:rPr>
                            <a:rPr lang="en-US" sz="1400" b="0" i="0" smtClean="0">
                              <a:latin typeface="Cambria Math" panose="02040503050406030204" pitchFamily="18" charset="0"/>
                            </a:rPr>
                            <m:t>IT</m:t>
                          </m:r>
                          <m:r>
                            <a:rPr lang="en-US" sz="1400" b="0" i="0" smtClean="0">
                              <a:latin typeface="Cambria Math" panose="02040503050406030204" pitchFamily="18" charset="0"/>
                            </a:rPr>
                            <m:t>= </m:t>
                          </m:r>
                          <m:r>
                            <m:rPr>
                              <m:sty m:val="p"/>
                            </m:rPr>
                            <a:rPr lang="en-US" sz="1400" b="0" i="0" smtClean="0">
                              <a:latin typeface="Cambria Math" panose="02040503050406030204" pitchFamily="18" charset="0"/>
                            </a:rPr>
                            <m:t>r</m:t>
                          </m:r>
                        </m:e>
                        <m:sub>
                          <m:r>
                            <m:rPr>
                              <m:sty m:val="p"/>
                            </m:rPr>
                            <a:rPr lang="en-US" sz="1400" b="0" i="0" smtClean="0">
                              <a:latin typeface="Cambria Math" panose="02040503050406030204" pitchFamily="18" charset="0"/>
                            </a:rPr>
                            <m:t>j</m:t>
                          </m:r>
                        </m:sub>
                      </m:sSub>
                      <m:r>
                        <a:rPr lang="en-US" sz="1400" b="0" i="0"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0" smtClean="0">
                                  <a:latin typeface="Cambria Math" panose="02040503050406030204" pitchFamily="18" charset="0"/>
                                </a:rPr>
                              </m:ctrlPr>
                            </m:sSubPr>
                            <m:e>
                              <m:r>
                                <m:rPr>
                                  <m:sty m:val="p"/>
                                </m:rPr>
                                <a:rPr lang="en-US" sz="1400" b="0" i="0" smtClean="0">
                                  <a:latin typeface="Cambria Math" panose="02040503050406030204" pitchFamily="18" charset="0"/>
                                </a:rPr>
                                <m:t>n</m:t>
                              </m:r>
                            </m:e>
                            <m:sub>
                              <m:r>
                                <m:rPr>
                                  <m:sty m:val="p"/>
                                </m:rPr>
                                <a:rPr lang="en-US" sz="1400" i="0">
                                  <a:latin typeface="Cambria Math" panose="02040503050406030204" pitchFamily="18" charset="0"/>
                                </a:rPr>
                                <m:t>j</m:t>
                              </m:r>
                              <m:r>
                                <a:rPr lang="en-US" sz="1400" b="0" i="0" smtClean="0">
                                  <a:latin typeface="Cambria Math" panose="02040503050406030204" pitchFamily="18" charset="0"/>
                                </a:rPr>
                                <m:t>+1</m:t>
                              </m:r>
                            </m:sub>
                          </m:sSub>
                        </m:num>
                        <m:den>
                          <m:sSub>
                            <m:sSubPr>
                              <m:ctrlPr>
                                <a:rPr lang="en-US" sz="1400" i="0">
                                  <a:latin typeface="Cambria Math" panose="02040503050406030204" pitchFamily="18" charset="0"/>
                                </a:rPr>
                              </m:ctrlPr>
                            </m:sSubPr>
                            <m:e>
                              <m:r>
                                <m:rPr>
                                  <m:sty m:val="p"/>
                                </m:rPr>
                                <a:rPr lang="en-US" sz="1400" i="0">
                                  <a:latin typeface="Cambria Math" panose="02040503050406030204" pitchFamily="18" charset="0"/>
                                </a:rPr>
                                <m:t>n</m:t>
                              </m:r>
                            </m:e>
                            <m:sub>
                              <m:r>
                                <m:rPr>
                                  <m:sty m:val="p"/>
                                </m:rPr>
                                <a:rPr lang="en-US" sz="1400" i="0">
                                  <a:latin typeface="Cambria Math" panose="02040503050406030204" pitchFamily="18" charset="0"/>
                                </a:rPr>
                                <m:t>j</m:t>
                              </m:r>
                            </m:sub>
                          </m:sSub>
                        </m:den>
                      </m:f>
                    </m:oMath>
                  </m:oMathPara>
                </a14:m>
                <a:endParaRPr lang="en-US" sz="1400" dirty="0"/>
              </a:p>
            </p:txBody>
          </p:sp>
        </mc:Choice>
        <mc:Fallback xmlns="">
          <p:sp>
            <p:nvSpPr>
              <p:cNvPr id="30" name="TextBox 29">
                <a:extLst>
                  <a:ext uri="{FF2B5EF4-FFF2-40B4-BE49-F238E27FC236}">
                    <a16:creationId xmlns:a16="http://schemas.microsoft.com/office/drawing/2014/main" id="{F8724FD6-39A7-D236-FB56-190D5E6055EC}"/>
                  </a:ext>
                </a:extLst>
              </p:cNvPr>
              <p:cNvSpPr txBox="1">
                <a:spLocks noRot="1" noChangeAspect="1" noMove="1" noResize="1" noEditPoints="1" noAdjustHandles="1" noChangeArrowheads="1" noChangeShapeType="1" noTextEdit="1"/>
              </p:cNvSpPr>
              <p:nvPr/>
            </p:nvSpPr>
            <p:spPr>
              <a:xfrm>
                <a:off x="11849419" y="2174073"/>
                <a:ext cx="1155381" cy="441018"/>
              </a:xfrm>
              <a:prstGeom prst="rect">
                <a:avLst/>
              </a:prstGeom>
              <a:blipFill>
                <a:blip r:embed="rId3"/>
                <a:stretch>
                  <a:fillRect l="-3175" r="-1058" b="-13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09E4AA9-C613-67AD-DCEF-44763A1D39AC}"/>
                  </a:ext>
                </a:extLst>
              </p:cNvPr>
              <p:cNvSpPr txBox="1"/>
              <p:nvPr/>
            </p:nvSpPr>
            <p:spPr>
              <a:xfrm>
                <a:off x="11849419" y="1922515"/>
                <a:ext cx="1686616" cy="414216"/>
              </a:xfrm>
              <a:prstGeom prst="rect">
                <a:avLst/>
              </a:prstGeom>
              <a:noFill/>
            </p:spPr>
            <p:txBody>
              <a:bodyPr wrap="none" lIns="0" tIns="0" rIns="0" bIns="0" rtlCol="0">
                <a:spAutoFit/>
              </a:bodyPr>
              <a:lstStyle/>
              <a:p>
                <a:pPr/>
                <a14:m>
                  <m:oMathPara xmlns:m="http://schemas.openxmlformats.org/officeDocument/2006/math">
                    <m:oMath>
                      <m:sSub>
                        <m:sSubPr>
                          <m:ctrlPr>
                            <a:rPr lang="en-US" sz="1400" b="0" i="0" smtClean="0">
                              <a:latin typeface="Cambria Math" panose="02040503050406030204" pitchFamily="18" charset="0"/>
                            </a:rPr>
                          </m:ctrlPr>
                        </m:sSubPr>
                        <m:e>
                          <m:r>
                            <m:rPr>
                              <m:sty m:val="p"/>
                            </m:rPr>
                            <a:rPr lang="en-US" sz="1400" b="0" i="0" smtClean="0">
                              <a:latin typeface="Cambria Math" panose="02040503050406030204" pitchFamily="18" charset="0"/>
                            </a:rPr>
                            <m:t>P</m:t>
                          </m:r>
                          <m:r>
                            <a:rPr lang="en-US" sz="1400" b="0" i="0" smtClean="0">
                              <a:latin typeface="Cambria Math" panose="02040503050406030204" pitchFamily="18" charset="0"/>
                            </a:rPr>
                            <m:t>&amp;</m:t>
                          </m:r>
                          <m:r>
                            <m:rPr>
                              <m:sty m:val="p"/>
                            </m:rPr>
                            <a:rPr lang="en-US" sz="1400" b="0" i="0" smtClean="0">
                              <a:latin typeface="Cambria Math" panose="02040503050406030204" pitchFamily="18" charset="0"/>
                            </a:rPr>
                            <m:t>C</m:t>
                          </m:r>
                          <m:r>
                            <a:rPr lang="en-US" sz="1400" b="0" i="0" smtClean="0">
                              <a:latin typeface="Cambria Math" panose="02040503050406030204" pitchFamily="18" charset="0"/>
                            </a:rPr>
                            <m:t>= </m:t>
                          </m:r>
                          <m:r>
                            <m:rPr>
                              <m:sty m:val="p"/>
                            </m:rPr>
                            <a:rPr lang="en-US" sz="1400" b="0" i="0" smtClean="0">
                              <a:latin typeface="Cambria Math" panose="02040503050406030204" pitchFamily="18" charset="0"/>
                            </a:rPr>
                            <m:t>s</m:t>
                          </m:r>
                        </m:e>
                        <m:sub>
                          <m:r>
                            <m:rPr>
                              <m:sty m:val="p"/>
                            </m:rPr>
                            <a:rPr lang="en-US" sz="1400" b="0" i="0" smtClean="0">
                              <a:latin typeface="Cambria Math" panose="02040503050406030204" pitchFamily="18" charset="0"/>
                            </a:rPr>
                            <m:t>j</m:t>
                          </m:r>
                        </m:sub>
                      </m:sSub>
                      <m:r>
                        <a:rPr lang="en-US" sz="1400" b="0" i="0" smtClean="0">
                          <a:latin typeface="Cambria Math" panose="02040503050406030204" pitchFamily="18" charset="0"/>
                        </a:rPr>
                        <m:t>=</m:t>
                      </m:r>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sSub>
                                <m:sSubPr>
                                  <m:ctrlPr>
                                    <a:rPr lang="en-US" sz="1400">
                                      <a:latin typeface="Cambria Math" panose="02040503050406030204" pitchFamily="18" charset="0"/>
                                    </a:rPr>
                                  </m:ctrlPr>
                                </m:sSubPr>
                                <m:e>
                                  <m:r>
                                    <m:rPr>
                                      <m:sty m:val="p"/>
                                    </m:rPr>
                                    <a:rPr lang="en-US" sz="1400">
                                      <a:latin typeface="Cambria Math" panose="02040503050406030204" pitchFamily="18" charset="0"/>
                                    </a:rPr>
                                    <m:t>n</m:t>
                                  </m:r>
                                </m:e>
                                <m:sub>
                                  <m:r>
                                    <m:rPr>
                                      <m:sty m:val="p"/>
                                    </m:rPr>
                                    <a:rPr lang="en-US" sz="1400">
                                      <a:latin typeface="Cambria Math" panose="02040503050406030204" pitchFamily="18" charset="0"/>
                                    </a:rPr>
                                    <m:t>j</m:t>
                                  </m:r>
                                </m:sub>
                              </m:sSub>
                              <m:r>
                                <a:rPr lang="en-US" sz="1400" b="0" i="1" smtClean="0">
                                  <a:latin typeface="Cambria Math" panose="02040503050406030204" pitchFamily="18" charset="0"/>
                                </a:rPr>
                                <m:t>−</m:t>
                              </m:r>
                              <m:r>
                                <m:rPr>
                                  <m:sty m:val="p"/>
                                </m:rPr>
                                <a:rPr lang="en-US" sz="1400" b="0" i="0" smtClean="0">
                                  <a:latin typeface="Cambria Math" panose="02040503050406030204" pitchFamily="18" charset="0"/>
                                </a:rPr>
                                <m:t>n</m:t>
                              </m:r>
                            </m:e>
                            <m:sub>
                              <m:r>
                                <m:rPr>
                                  <m:sty m:val="p"/>
                                </m:rPr>
                                <a:rPr lang="en-US" sz="1400" i="0">
                                  <a:latin typeface="Cambria Math" panose="02040503050406030204" pitchFamily="18" charset="0"/>
                                </a:rPr>
                                <m:t>j</m:t>
                              </m:r>
                              <m:r>
                                <a:rPr lang="en-US" sz="1400" b="0" i="0" smtClean="0">
                                  <a:latin typeface="Cambria Math" panose="02040503050406030204" pitchFamily="18" charset="0"/>
                                </a:rPr>
                                <m:t>+1</m:t>
                              </m:r>
                            </m:sub>
                          </m:sSub>
                        </m:num>
                        <m:den>
                          <m:sSub>
                            <m:sSubPr>
                              <m:ctrlPr>
                                <a:rPr lang="en-US" sz="1400" i="0">
                                  <a:latin typeface="Cambria Math" panose="02040503050406030204" pitchFamily="18" charset="0"/>
                                </a:rPr>
                              </m:ctrlPr>
                            </m:sSubPr>
                            <m:e>
                              <m:r>
                                <m:rPr>
                                  <m:sty m:val="p"/>
                                </m:rPr>
                                <a:rPr lang="en-US" sz="1400" i="0">
                                  <a:latin typeface="Cambria Math" panose="02040503050406030204" pitchFamily="18" charset="0"/>
                                </a:rPr>
                                <m:t>n</m:t>
                              </m:r>
                            </m:e>
                            <m:sub>
                              <m:r>
                                <a:rPr lang="en-US" sz="1400" b="0" i="0" smtClean="0">
                                  <a:latin typeface="Cambria Math" panose="02040503050406030204" pitchFamily="18" charset="0"/>
                                </a:rPr>
                                <m:t>0</m:t>
                              </m:r>
                            </m:sub>
                          </m:sSub>
                        </m:den>
                      </m:f>
                    </m:oMath>
                  </m:oMathPara>
                </a14:m>
                <a:endParaRPr lang="en-US" sz="1400" dirty="0"/>
              </a:p>
            </p:txBody>
          </p:sp>
        </mc:Choice>
        <mc:Fallback xmlns="">
          <p:sp>
            <p:nvSpPr>
              <p:cNvPr id="32" name="TextBox 31">
                <a:extLst>
                  <a:ext uri="{FF2B5EF4-FFF2-40B4-BE49-F238E27FC236}">
                    <a16:creationId xmlns:a16="http://schemas.microsoft.com/office/drawing/2014/main" id="{009E4AA9-C613-67AD-DCEF-44763A1D39AC}"/>
                  </a:ext>
                </a:extLst>
              </p:cNvPr>
              <p:cNvSpPr txBox="1">
                <a:spLocks noRot="1" noChangeAspect="1" noMove="1" noResize="1" noEditPoints="1" noAdjustHandles="1" noChangeArrowheads="1" noChangeShapeType="1" noTextEdit="1"/>
              </p:cNvSpPr>
              <p:nvPr/>
            </p:nvSpPr>
            <p:spPr>
              <a:xfrm>
                <a:off x="11849419" y="1922515"/>
                <a:ext cx="1686616" cy="414216"/>
              </a:xfrm>
              <a:prstGeom prst="rect">
                <a:avLst/>
              </a:prstGeom>
              <a:blipFill>
                <a:blip r:embed="rId4"/>
                <a:stretch>
                  <a:fillRect l="-1812" r="-725" b="-8824"/>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AA4D16FA-4CEE-EF3E-362A-2F205C649487}"/>
              </a:ext>
            </a:extLst>
          </p:cNvPr>
          <p:cNvSpPr txBox="1"/>
          <p:nvPr/>
        </p:nvSpPr>
        <p:spPr>
          <a:xfrm>
            <a:off x="883283" y="2967190"/>
            <a:ext cx="6102350" cy="307777"/>
          </a:xfrm>
          <a:prstGeom prst="rect">
            <a:avLst/>
          </a:prstGeom>
          <a:noFill/>
        </p:spPr>
        <p:txBody>
          <a:bodyPr wrap="square">
            <a:spAutoFit/>
          </a:bodyPr>
          <a:lstStyle/>
          <a:p>
            <a:r>
              <a:rPr lang="en-US" sz="1400" b="1" u="sng" dirty="0">
                <a:solidFill>
                  <a:srgbClr val="086B94"/>
                </a:solidFill>
                <a:latin typeface="Arial" panose="020B0604020202020204" pitchFamily="34" charset="0"/>
                <a:cs typeface="Arial" panose="020B0604020202020204" pitchFamily="34" charset="0"/>
              </a:rPr>
              <a:t>Contrived Example using easy to understand integers</a:t>
            </a:r>
            <a:endParaRPr lang="en-US" sz="1400" b="1" u="sng" dirty="0">
              <a:solidFill>
                <a:srgbClr val="086B94"/>
              </a:solidFill>
            </a:endParaRPr>
          </a:p>
        </p:txBody>
      </p:sp>
      <p:sp>
        <p:nvSpPr>
          <p:cNvPr id="42" name="TextBox 41">
            <a:extLst>
              <a:ext uri="{FF2B5EF4-FFF2-40B4-BE49-F238E27FC236}">
                <a16:creationId xmlns:a16="http://schemas.microsoft.com/office/drawing/2014/main" id="{00D72230-C2E1-E8EF-09D9-D8BB320935B7}"/>
              </a:ext>
            </a:extLst>
          </p:cNvPr>
          <p:cNvSpPr txBox="1"/>
          <p:nvPr/>
        </p:nvSpPr>
        <p:spPr>
          <a:xfrm>
            <a:off x="664789" y="3570242"/>
            <a:ext cx="6137274" cy="307777"/>
          </a:xfrm>
          <a:prstGeom prst="rect">
            <a:avLst/>
          </a:prstGeom>
          <a:noFill/>
        </p:spPr>
        <p:txBody>
          <a:bodyPr wrap="square">
            <a:spAutoFit/>
          </a:bodyPr>
          <a:lstStyle/>
          <a:p>
            <a:r>
              <a:rPr lang="en-US" sz="1400" dirty="0">
                <a:solidFill>
                  <a:srgbClr val="12395B"/>
                </a:solidFill>
                <a:latin typeface="Arial" panose="020B0604020202020204" pitchFamily="34" charset="0"/>
                <a:cs typeface="Arial" panose="020B0604020202020204" pitchFamily="34" charset="0"/>
              </a:rPr>
              <a:t>N</a:t>
            </a:r>
            <a:r>
              <a:rPr lang="en-US" sz="1400" baseline="-25000" dirty="0">
                <a:solidFill>
                  <a:srgbClr val="12395B"/>
                </a:solidFill>
                <a:latin typeface="Arial" panose="020B0604020202020204" pitchFamily="34" charset="0"/>
                <a:cs typeface="Arial" panose="020B0604020202020204" pitchFamily="34" charset="0"/>
              </a:rPr>
              <a:t>1</a:t>
            </a:r>
            <a:r>
              <a:rPr lang="en-US" sz="1400" dirty="0">
                <a:solidFill>
                  <a:srgbClr val="12395B"/>
                </a:solidFill>
                <a:latin typeface="Arial" panose="020B0604020202020204" pitchFamily="34" charset="0"/>
                <a:cs typeface="Arial" panose="020B0604020202020204" pitchFamily="34" charset="0"/>
              </a:rPr>
              <a:t>= 10,000</a:t>
            </a:r>
            <a:endParaRPr lang="en-US" dirty="0"/>
          </a:p>
        </p:txBody>
      </p:sp>
      <p:sp>
        <p:nvSpPr>
          <p:cNvPr id="44" name="TextBox 43">
            <a:extLst>
              <a:ext uri="{FF2B5EF4-FFF2-40B4-BE49-F238E27FC236}">
                <a16:creationId xmlns:a16="http://schemas.microsoft.com/office/drawing/2014/main" id="{BCA21A60-1E22-1461-8561-BFEC50AEDEAA}"/>
              </a:ext>
            </a:extLst>
          </p:cNvPr>
          <p:cNvSpPr txBox="1"/>
          <p:nvPr/>
        </p:nvSpPr>
        <p:spPr>
          <a:xfrm>
            <a:off x="738821" y="4151159"/>
            <a:ext cx="6137274" cy="307777"/>
          </a:xfrm>
          <a:prstGeom prst="rect">
            <a:avLst/>
          </a:prstGeom>
          <a:noFill/>
        </p:spPr>
        <p:txBody>
          <a:bodyPr wrap="square">
            <a:spAutoFit/>
          </a:bodyPr>
          <a:lstStyle/>
          <a:p>
            <a:r>
              <a:rPr lang="en-US" sz="1400" dirty="0">
                <a:solidFill>
                  <a:srgbClr val="12395B"/>
                </a:solidFill>
                <a:latin typeface="Arial" panose="020B0604020202020204" pitchFamily="34" charset="0"/>
                <a:cs typeface="Arial" panose="020B0604020202020204" pitchFamily="34" charset="0"/>
              </a:rPr>
              <a:t>N</a:t>
            </a:r>
            <a:r>
              <a:rPr lang="en-US" sz="1400" baseline="-25000" dirty="0">
                <a:solidFill>
                  <a:srgbClr val="12395B"/>
                </a:solidFill>
                <a:latin typeface="Arial" panose="020B0604020202020204" pitchFamily="34" charset="0"/>
                <a:cs typeface="Arial" panose="020B0604020202020204" pitchFamily="34" charset="0"/>
              </a:rPr>
              <a:t>2</a:t>
            </a:r>
            <a:r>
              <a:rPr lang="en-US" sz="1400" dirty="0">
                <a:solidFill>
                  <a:srgbClr val="12395B"/>
                </a:solidFill>
                <a:latin typeface="Arial" panose="020B0604020202020204" pitchFamily="34" charset="0"/>
                <a:cs typeface="Arial" panose="020B0604020202020204" pitchFamily="34" charset="0"/>
              </a:rPr>
              <a:t>= 9,000</a:t>
            </a:r>
            <a:endParaRPr lang="en-US" dirty="0"/>
          </a:p>
        </p:txBody>
      </p:sp>
      <p:sp>
        <p:nvSpPr>
          <p:cNvPr id="46" name="TextBox 45">
            <a:extLst>
              <a:ext uri="{FF2B5EF4-FFF2-40B4-BE49-F238E27FC236}">
                <a16:creationId xmlns:a16="http://schemas.microsoft.com/office/drawing/2014/main" id="{710018B6-294E-0B43-94F8-0B70E26586ED}"/>
              </a:ext>
            </a:extLst>
          </p:cNvPr>
          <p:cNvSpPr txBox="1"/>
          <p:nvPr/>
        </p:nvSpPr>
        <p:spPr>
          <a:xfrm>
            <a:off x="738821" y="4616891"/>
            <a:ext cx="6137274" cy="307777"/>
          </a:xfrm>
          <a:prstGeom prst="rect">
            <a:avLst/>
          </a:prstGeom>
          <a:noFill/>
        </p:spPr>
        <p:txBody>
          <a:bodyPr wrap="square">
            <a:spAutoFit/>
          </a:bodyPr>
          <a:lstStyle/>
          <a:p>
            <a:r>
              <a:rPr lang="en-US" sz="1400" dirty="0">
                <a:solidFill>
                  <a:srgbClr val="12395B"/>
                </a:solidFill>
                <a:latin typeface="Arial" panose="020B0604020202020204" pitchFamily="34" charset="0"/>
                <a:cs typeface="Arial" panose="020B0604020202020204" pitchFamily="34" charset="0"/>
              </a:rPr>
              <a:t>N</a:t>
            </a:r>
            <a:r>
              <a:rPr lang="en-US" sz="1400" baseline="-25000" dirty="0">
                <a:solidFill>
                  <a:srgbClr val="12395B"/>
                </a:solidFill>
                <a:latin typeface="Arial" panose="020B0604020202020204" pitchFamily="34" charset="0"/>
                <a:cs typeface="Arial" panose="020B0604020202020204" pitchFamily="34" charset="0"/>
              </a:rPr>
              <a:t>3</a:t>
            </a:r>
            <a:r>
              <a:rPr lang="en-US" sz="1400" dirty="0">
                <a:solidFill>
                  <a:srgbClr val="12395B"/>
                </a:solidFill>
                <a:latin typeface="Arial" panose="020B0604020202020204" pitchFamily="34" charset="0"/>
                <a:cs typeface="Arial" panose="020B0604020202020204" pitchFamily="34" charset="0"/>
              </a:rPr>
              <a:t> = 5,000</a:t>
            </a:r>
            <a:endParaRPr lang="en-US" dirty="0"/>
          </a:p>
        </p:txBody>
      </p:sp>
      <p:sp>
        <p:nvSpPr>
          <p:cNvPr id="48" name="TextBox 47">
            <a:extLst>
              <a:ext uri="{FF2B5EF4-FFF2-40B4-BE49-F238E27FC236}">
                <a16:creationId xmlns:a16="http://schemas.microsoft.com/office/drawing/2014/main" id="{D552EAE4-5C6F-45CD-33D5-3FC3A09FD441}"/>
              </a:ext>
            </a:extLst>
          </p:cNvPr>
          <p:cNvSpPr txBox="1"/>
          <p:nvPr/>
        </p:nvSpPr>
        <p:spPr>
          <a:xfrm>
            <a:off x="738821" y="5218157"/>
            <a:ext cx="6137274" cy="307777"/>
          </a:xfrm>
          <a:prstGeom prst="rect">
            <a:avLst/>
          </a:prstGeom>
          <a:noFill/>
        </p:spPr>
        <p:txBody>
          <a:bodyPr wrap="square">
            <a:spAutoFit/>
          </a:bodyPr>
          <a:lstStyle/>
          <a:p>
            <a:r>
              <a:rPr lang="en-US" sz="1400" dirty="0">
                <a:solidFill>
                  <a:srgbClr val="12395B"/>
                </a:solidFill>
                <a:latin typeface="Arial" panose="020B0604020202020204" pitchFamily="34" charset="0"/>
                <a:cs typeface="Arial" panose="020B0604020202020204" pitchFamily="34" charset="0"/>
              </a:rPr>
              <a:t>N</a:t>
            </a:r>
            <a:r>
              <a:rPr lang="en-US" sz="1400" baseline="-25000" dirty="0">
                <a:solidFill>
                  <a:srgbClr val="12395B"/>
                </a:solidFill>
                <a:latin typeface="Arial" panose="020B0604020202020204" pitchFamily="34" charset="0"/>
                <a:cs typeface="Arial" panose="020B0604020202020204" pitchFamily="34" charset="0"/>
              </a:rPr>
              <a:t>4</a:t>
            </a:r>
            <a:r>
              <a:rPr lang="en-US" sz="1400" dirty="0">
                <a:solidFill>
                  <a:srgbClr val="12395B"/>
                </a:solidFill>
                <a:latin typeface="Arial" panose="020B0604020202020204" pitchFamily="34" charset="0"/>
                <a:cs typeface="Arial" panose="020B0604020202020204" pitchFamily="34" charset="0"/>
              </a:rPr>
              <a:t>=4,000</a:t>
            </a:r>
            <a:endParaRPr lang="en-US" dirty="0"/>
          </a:p>
        </p:txBody>
      </p:sp>
      <p:sp>
        <p:nvSpPr>
          <p:cNvPr id="50" name="TextBox 49">
            <a:extLst>
              <a:ext uri="{FF2B5EF4-FFF2-40B4-BE49-F238E27FC236}">
                <a16:creationId xmlns:a16="http://schemas.microsoft.com/office/drawing/2014/main" id="{5A926B11-6755-5DB0-A9DE-F9AA62184845}"/>
              </a:ext>
            </a:extLst>
          </p:cNvPr>
          <p:cNvSpPr txBox="1"/>
          <p:nvPr/>
        </p:nvSpPr>
        <p:spPr>
          <a:xfrm>
            <a:off x="738821" y="5773782"/>
            <a:ext cx="6137274" cy="307777"/>
          </a:xfrm>
          <a:prstGeom prst="rect">
            <a:avLst/>
          </a:prstGeom>
          <a:noFill/>
        </p:spPr>
        <p:txBody>
          <a:bodyPr wrap="square">
            <a:spAutoFit/>
          </a:bodyPr>
          <a:lstStyle/>
          <a:p>
            <a:r>
              <a:rPr lang="en-US" sz="1400" dirty="0">
                <a:solidFill>
                  <a:srgbClr val="12395B"/>
                </a:solidFill>
                <a:latin typeface="Arial" panose="020B0604020202020204" pitchFamily="34" charset="0"/>
                <a:cs typeface="Arial" panose="020B0604020202020204" pitchFamily="34" charset="0"/>
              </a:rPr>
              <a:t>N</a:t>
            </a:r>
            <a:r>
              <a:rPr lang="en-US" sz="1400" baseline="-25000" dirty="0">
                <a:solidFill>
                  <a:srgbClr val="12395B"/>
                </a:solidFill>
                <a:latin typeface="Arial" panose="020B0604020202020204" pitchFamily="34" charset="0"/>
                <a:cs typeface="Arial" panose="020B0604020202020204" pitchFamily="34" charset="0"/>
              </a:rPr>
              <a:t>5</a:t>
            </a:r>
            <a:r>
              <a:rPr lang="en-US" sz="1400" dirty="0">
                <a:solidFill>
                  <a:srgbClr val="12395B"/>
                </a:solidFill>
                <a:latin typeface="Arial" panose="020B0604020202020204" pitchFamily="34" charset="0"/>
                <a:cs typeface="Arial" panose="020B0604020202020204" pitchFamily="34" charset="0"/>
              </a:rPr>
              <a:t>=3,000</a:t>
            </a:r>
            <a:endParaRPr lang="en-US" dirty="0"/>
          </a:p>
        </p:txBody>
      </p:sp>
      <p:sp>
        <p:nvSpPr>
          <p:cNvPr id="52" name="TextBox 51">
            <a:extLst>
              <a:ext uri="{FF2B5EF4-FFF2-40B4-BE49-F238E27FC236}">
                <a16:creationId xmlns:a16="http://schemas.microsoft.com/office/drawing/2014/main" id="{F15F1F96-CE79-0BF9-2B2A-640D842EA6F2}"/>
              </a:ext>
            </a:extLst>
          </p:cNvPr>
          <p:cNvSpPr txBox="1"/>
          <p:nvPr/>
        </p:nvSpPr>
        <p:spPr>
          <a:xfrm>
            <a:off x="738821" y="6341953"/>
            <a:ext cx="6137274" cy="307777"/>
          </a:xfrm>
          <a:prstGeom prst="rect">
            <a:avLst/>
          </a:prstGeom>
          <a:noFill/>
        </p:spPr>
        <p:txBody>
          <a:bodyPr wrap="square">
            <a:spAutoFit/>
          </a:bodyPr>
          <a:lstStyle/>
          <a:p>
            <a:r>
              <a:rPr lang="en-US" sz="1400" dirty="0">
                <a:solidFill>
                  <a:srgbClr val="12395B"/>
                </a:solidFill>
                <a:latin typeface="Arial" panose="020B0604020202020204" pitchFamily="34" charset="0"/>
                <a:cs typeface="Arial" panose="020B0604020202020204" pitchFamily="34" charset="0"/>
              </a:rPr>
              <a:t>N</a:t>
            </a:r>
            <a:r>
              <a:rPr lang="en-US" sz="1400" baseline="-25000" dirty="0">
                <a:solidFill>
                  <a:srgbClr val="12395B"/>
                </a:solidFill>
                <a:latin typeface="Arial" panose="020B0604020202020204" pitchFamily="34" charset="0"/>
                <a:cs typeface="Arial" panose="020B0604020202020204" pitchFamily="34" charset="0"/>
              </a:rPr>
              <a:t>6</a:t>
            </a:r>
            <a:r>
              <a:rPr lang="en-US" sz="1400" dirty="0">
                <a:solidFill>
                  <a:srgbClr val="12395B"/>
                </a:solidFill>
                <a:latin typeface="Arial" panose="020B0604020202020204" pitchFamily="34" charset="0"/>
                <a:cs typeface="Arial" panose="020B0604020202020204" pitchFamily="34" charset="0"/>
              </a:rPr>
              <a:t>=2,000</a:t>
            </a:r>
            <a:endParaRPr lang="en-US" dirty="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BEBA6CD-F002-2806-84AC-AB38AD7E6CF3}"/>
                  </a:ext>
                </a:extLst>
              </p:cNvPr>
              <p:cNvSpPr txBox="1"/>
              <p:nvPr/>
            </p:nvSpPr>
            <p:spPr>
              <a:xfrm>
                <a:off x="4472236" y="4095822"/>
                <a:ext cx="1826397" cy="276358"/>
              </a:xfrm>
              <a:prstGeom prst="rect">
                <a:avLst/>
              </a:prstGeom>
              <a:noFill/>
            </p:spPr>
            <p:txBody>
              <a:bodyPr wrap="none" lIns="0" tIns="0" rIns="0" bIns="0" rtlCol="0">
                <a:spAutoFit/>
              </a:bodyPr>
              <a:lstStyle/>
              <a:p>
                <a:r>
                  <a:rPr lang="en-US" sz="1200" dirty="0"/>
                  <a:t>IT = </a:t>
                </a:r>
                <a14:m>
                  <m:oMath xmlns:m="http://schemas.openxmlformats.org/officeDocument/2006/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9,000 </m:t>
                        </m:r>
                      </m:num>
                      <m:den>
                        <m:r>
                          <a:rPr lang="en-US" sz="1200" b="0" i="1" smtClean="0">
                            <a:latin typeface="Cambria Math" panose="02040503050406030204" pitchFamily="18" charset="0"/>
                          </a:rPr>
                          <m:t>10,000</m:t>
                        </m:r>
                      </m:den>
                    </m:f>
                    <m:r>
                      <a:rPr lang="en-US" sz="1200" b="0" i="1" smtClean="0">
                        <a:latin typeface="Cambria Math" panose="02040503050406030204" pitchFamily="18" charset="0"/>
                      </a:rPr>
                      <m:t>=90% </m:t>
                    </m:r>
                  </m:oMath>
                </a14:m>
                <a:r>
                  <a:rPr lang="en-US" sz="1200" dirty="0"/>
                  <a:t>Transistion</a:t>
                </a:r>
              </a:p>
            </p:txBody>
          </p:sp>
        </mc:Choice>
        <mc:Fallback xmlns="">
          <p:sp>
            <p:nvSpPr>
              <p:cNvPr id="54" name="TextBox 53">
                <a:extLst>
                  <a:ext uri="{FF2B5EF4-FFF2-40B4-BE49-F238E27FC236}">
                    <a16:creationId xmlns:a16="http://schemas.microsoft.com/office/drawing/2014/main" id="{4BEBA6CD-F002-2806-84AC-AB38AD7E6CF3}"/>
                  </a:ext>
                </a:extLst>
              </p:cNvPr>
              <p:cNvSpPr txBox="1">
                <a:spLocks noRot="1" noChangeAspect="1" noMove="1" noResize="1" noEditPoints="1" noAdjustHandles="1" noChangeArrowheads="1" noChangeShapeType="1" noTextEdit="1"/>
              </p:cNvSpPr>
              <p:nvPr/>
            </p:nvSpPr>
            <p:spPr>
              <a:xfrm>
                <a:off x="4472236" y="4095822"/>
                <a:ext cx="1826397" cy="276358"/>
              </a:xfrm>
              <a:prstGeom prst="rect">
                <a:avLst/>
              </a:prstGeom>
              <a:blipFill>
                <a:blip r:embed="rId5"/>
                <a:stretch>
                  <a:fillRect l="-5351" t="-2222" r="-4013"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BF9FCCE-A641-2A70-8322-38600B360564}"/>
                  </a:ext>
                </a:extLst>
              </p:cNvPr>
              <p:cNvSpPr txBox="1"/>
              <p:nvPr/>
            </p:nvSpPr>
            <p:spPr>
              <a:xfrm>
                <a:off x="7209835" y="4082869"/>
                <a:ext cx="1825821" cy="276358"/>
              </a:xfrm>
              <a:prstGeom prst="rect">
                <a:avLst/>
              </a:prstGeom>
              <a:noFill/>
            </p:spPr>
            <p:txBody>
              <a:bodyPr wrap="none" lIns="0" tIns="0" rIns="0" bIns="0" rtlCol="0">
                <a:spAutoFit/>
              </a:bodyPr>
              <a:lstStyle/>
              <a:p>
                <a:r>
                  <a:rPr lang="en-US" sz="1200" b="0" dirty="0"/>
                  <a:t>P&amp;C = </a:t>
                </a:r>
                <a14:m>
                  <m:oMath xmlns:m="http://schemas.openxmlformats.org/officeDocument/2006/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10000 −9000</m:t>
                        </m:r>
                      </m:num>
                      <m:den>
                        <m:r>
                          <a:rPr lang="en-US" sz="1200" i="1" smtClean="0">
                            <a:latin typeface="Cambria Math" panose="02040503050406030204" pitchFamily="18" charset="0"/>
                          </a:rPr>
                          <m:t>1</m:t>
                        </m:r>
                        <m:r>
                          <a:rPr lang="en-US" sz="1200" b="0" i="1" smtClean="0">
                            <a:latin typeface="Cambria Math" panose="02040503050406030204" pitchFamily="18" charset="0"/>
                          </a:rPr>
                          <m:t>0,000</m:t>
                        </m:r>
                      </m:den>
                    </m:f>
                  </m:oMath>
                </a14:m>
                <a:r>
                  <a:rPr lang="en-US" sz="1200" dirty="0"/>
                  <a:t> = 10% Loss</a:t>
                </a:r>
              </a:p>
            </p:txBody>
          </p:sp>
        </mc:Choice>
        <mc:Fallback xmlns="">
          <p:sp>
            <p:nvSpPr>
              <p:cNvPr id="56" name="TextBox 55">
                <a:extLst>
                  <a:ext uri="{FF2B5EF4-FFF2-40B4-BE49-F238E27FC236}">
                    <a16:creationId xmlns:a16="http://schemas.microsoft.com/office/drawing/2014/main" id="{FBF9FCCE-A641-2A70-8322-38600B360564}"/>
                  </a:ext>
                </a:extLst>
              </p:cNvPr>
              <p:cNvSpPr txBox="1">
                <a:spLocks noRot="1" noChangeAspect="1" noMove="1" noResize="1" noEditPoints="1" noAdjustHandles="1" noChangeArrowheads="1" noChangeShapeType="1" noTextEdit="1"/>
              </p:cNvSpPr>
              <p:nvPr/>
            </p:nvSpPr>
            <p:spPr>
              <a:xfrm>
                <a:off x="7209835" y="4082869"/>
                <a:ext cx="1825821" cy="276358"/>
              </a:xfrm>
              <a:prstGeom prst="rect">
                <a:avLst/>
              </a:prstGeom>
              <a:blipFill>
                <a:blip r:embed="rId6"/>
                <a:stretch>
                  <a:fillRect l="-5351" t="-2222" r="-4348"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D24B1213-596B-3C89-9491-5E0F08AB4314}"/>
                  </a:ext>
                </a:extLst>
              </p:cNvPr>
              <p:cNvSpPr txBox="1"/>
              <p:nvPr/>
            </p:nvSpPr>
            <p:spPr>
              <a:xfrm>
                <a:off x="4472236" y="4655696"/>
                <a:ext cx="1784719" cy="278987"/>
              </a:xfrm>
              <a:prstGeom prst="rect">
                <a:avLst/>
              </a:prstGeom>
              <a:noFill/>
            </p:spPr>
            <p:txBody>
              <a:bodyPr wrap="none" lIns="0" tIns="0" rIns="0" bIns="0" rtlCol="0">
                <a:spAutoFit/>
              </a:bodyPr>
              <a:lstStyle/>
              <a:p>
                <a:r>
                  <a:rPr lang="en-US" sz="1200" dirty="0">
                    <a:solidFill>
                      <a:srgbClr val="720C27"/>
                    </a:solidFill>
                  </a:rPr>
                  <a:t>IT = </a:t>
                </a:r>
                <a14:m>
                  <m:oMath xmlns:m="http://schemas.openxmlformats.org/officeDocument/2006/math">
                    <m:f>
                      <m:fPr>
                        <m:ctrlPr>
                          <a:rPr lang="en-US" sz="1200" b="0" i="1" smtClean="0">
                            <a:solidFill>
                              <a:srgbClr val="720C27"/>
                            </a:solidFill>
                            <a:latin typeface="Cambria Math" panose="02040503050406030204" pitchFamily="18" charset="0"/>
                          </a:rPr>
                        </m:ctrlPr>
                      </m:fPr>
                      <m:num>
                        <m:r>
                          <a:rPr lang="en-US" sz="1200" b="0" i="1" smtClean="0">
                            <a:solidFill>
                              <a:srgbClr val="720C27"/>
                            </a:solidFill>
                            <a:latin typeface="Cambria Math" panose="02040503050406030204" pitchFamily="18" charset="0"/>
                          </a:rPr>
                          <m:t>5,000 </m:t>
                        </m:r>
                      </m:num>
                      <m:den>
                        <m:r>
                          <a:rPr lang="en-US" sz="1200" b="0" i="1" smtClean="0">
                            <a:solidFill>
                              <a:srgbClr val="720C27"/>
                            </a:solidFill>
                            <a:latin typeface="Cambria Math" panose="02040503050406030204" pitchFamily="18" charset="0"/>
                          </a:rPr>
                          <m:t>9,000</m:t>
                        </m:r>
                      </m:den>
                    </m:f>
                    <m:r>
                      <a:rPr lang="en-US" sz="1200" b="0" i="1" smtClean="0">
                        <a:solidFill>
                          <a:srgbClr val="720C27"/>
                        </a:solidFill>
                        <a:latin typeface="Cambria Math" panose="02040503050406030204" pitchFamily="18" charset="0"/>
                      </a:rPr>
                      <m:t>=56% </m:t>
                    </m:r>
                  </m:oMath>
                </a14:m>
                <a:r>
                  <a:rPr lang="en-US" sz="1200" dirty="0">
                    <a:solidFill>
                      <a:srgbClr val="720C27"/>
                    </a:solidFill>
                  </a:rPr>
                  <a:t>Transistion</a:t>
                </a:r>
              </a:p>
            </p:txBody>
          </p:sp>
        </mc:Choice>
        <mc:Fallback xmlns="">
          <p:sp>
            <p:nvSpPr>
              <p:cNvPr id="58" name="TextBox 57">
                <a:extLst>
                  <a:ext uri="{FF2B5EF4-FFF2-40B4-BE49-F238E27FC236}">
                    <a16:creationId xmlns:a16="http://schemas.microsoft.com/office/drawing/2014/main" id="{D24B1213-596B-3C89-9491-5E0F08AB4314}"/>
                  </a:ext>
                </a:extLst>
              </p:cNvPr>
              <p:cNvSpPr txBox="1">
                <a:spLocks noRot="1" noChangeAspect="1" noMove="1" noResize="1" noEditPoints="1" noAdjustHandles="1" noChangeArrowheads="1" noChangeShapeType="1" noTextEdit="1"/>
              </p:cNvSpPr>
              <p:nvPr/>
            </p:nvSpPr>
            <p:spPr>
              <a:xfrm>
                <a:off x="4472236" y="4655696"/>
                <a:ext cx="1784719" cy="278987"/>
              </a:xfrm>
              <a:prstGeom prst="rect">
                <a:avLst/>
              </a:prstGeom>
              <a:blipFill>
                <a:blip r:embed="rId7"/>
                <a:stretch>
                  <a:fillRect l="-5479" t="-2222" r="-4110"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B04B03AE-1997-3A7F-7F9F-A361950616F8}"/>
                  </a:ext>
                </a:extLst>
              </p:cNvPr>
              <p:cNvSpPr txBox="1"/>
              <p:nvPr/>
            </p:nvSpPr>
            <p:spPr>
              <a:xfrm>
                <a:off x="7232275" y="4625063"/>
                <a:ext cx="1760097" cy="278987"/>
              </a:xfrm>
              <a:prstGeom prst="rect">
                <a:avLst/>
              </a:prstGeom>
              <a:noFill/>
            </p:spPr>
            <p:txBody>
              <a:bodyPr wrap="none" lIns="0" tIns="0" rIns="0" bIns="0" rtlCol="0">
                <a:spAutoFit/>
              </a:bodyPr>
              <a:lstStyle/>
              <a:p>
                <a:r>
                  <a:rPr lang="en-US" sz="1200" b="0" dirty="0">
                    <a:solidFill>
                      <a:srgbClr val="720C27"/>
                    </a:solidFill>
                  </a:rPr>
                  <a:t>P&amp;C = </a:t>
                </a:r>
                <a14:m>
                  <m:oMath xmlns:m="http://schemas.openxmlformats.org/officeDocument/2006/math">
                    <m:f>
                      <m:fPr>
                        <m:ctrlPr>
                          <a:rPr lang="en-US" sz="1200" b="0" i="1" smtClean="0">
                            <a:solidFill>
                              <a:srgbClr val="720C27"/>
                            </a:solidFill>
                            <a:latin typeface="Cambria Math" panose="02040503050406030204" pitchFamily="18" charset="0"/>
                          </a:rPr>
                        </m:ctrlPr>
                      </m:fPr>
                      <m:num>
                        <m:r>
                          <a:rPr lang="en-US" sz="1200" b="0" i="1" smtClean="0">
                            <a:solidFill>
                              <a:srgbClr val="720C27"/>
                            </a:solidFill>
                            <a:latin typeface="Cambria Math" panose="02040503050406030204" pitchFamily="18" charset="0"/>
                          </a:rPr>
                          <m:t>9000 −5000</m:t>
                        </m:r>
                      </m:num>
                      <m:den>
                        <m:r>
                          <a:rPr lang="en-US" sz="1200" i="1" smtClean="0">
                            <a:solidFill>
                              <a:srgbClr val="720C27"/>
                            </a:solidFill>
                            <a:latin typeface="Cambria Math" panose="02040503050406030204" pitchFamily="18" charset="0"/>
                          </a:rPr>
                          <m:t>1</m:t>
                        </m:r>
                        <m:r>
                          <a:rPr lang="en-US" sz="1200" b="0" i="1" smtClean="0">
                            <a:solidFill>
                              <a:srgbClr val="720C27"/>
                            </a:solidFill>
                            <a:latin typeface="Cambria Math" panose="02040503050406030204" pitchFamily="18" charset="0"/>
                          </a:rPr>
                          <m:t>0,000</m:t>
                        </m:r>
                      </m:den>
                    </m:f>
                  </m:oMath>
                </a14:m>
                <a:r>
                  <a:rPr lang="en-US" sz="1200" dirty="0">
                    <a:solidFill>
                      <a:srgbClr val="720C27"/>
                    </a:solidFill>
                  </a:rPr>
                  <a:t> = 40% Loss</a:t>
                </a:r>
              </a:p>
            </p:txBody>
          </p:sp>
        </mc:Choice>
        <mc:Fallback xmlns="">
          <p:sp>
            <p:nvSpPr>
              <p:cNvPr id="60" name="TextBox 59">
                <a:extLst>
                  <a:ext uri="{FF2B5EF4-FFF2-40B4-BE49-F238E27FC236}">
                    <a16:creationId xmlns:a16="http://schemas.microsoft.com/office/drawing/2014/main" id="{B04B03AE-1997-3A7F-7F9F-A361950616F8}"/>
                  </a:ext>
                </a:extLst>
              </p:cNvPr>
              <p:cNvSpPr txBox="1">
                <a:spLocks noRot="1" noChangeAspect="1" noMove="1" noResize="1" noEditPoints="1" noAdjustHandles="1" noChangeArrowheads="1" noChangeShapeType="1" noTextEdit="1"/>
              </p:cNvSpPr>
              <p:nvPr/>
            </p:nvSpPr>
            <p:spPr>
              <a:xfrm>
                <a:off x="7232275" y="4625063"/>
                <a:ext cx="1760097" cy="278987"/>
              </a:xfrm>
              <a:prstGeom prst="rect">
                <a:avLst/>
              </a:prstGeom>
              <a:blipFill>
                <a:blip r:embed="rId8"/>
                <a:stretch>
                  <a:fillRect l="-5190" t="-2222" r="-4498"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D95E3B38-D0A1-E8E8-CE77-80FB02AF5A7F}"/>
                  </a:ext>
                </a:extLst>
              </p:cNvPr>
              <p:cNvSpPr txBox="1"/>
              <p:nvPr/>
            </p:nvSpPr>
            <p:spPr>
              <a:xfrm>
                <a:off x="4476449" y="5172516"/>
                <a:ext cx="1784719" cy="276358"/>
              </a:xfrm>
              <a:prstGeom prst="rect">
                <a:avLst/>
              </a:prstGeom>
              <a:noFill/>
            </p:spPr>
            <p:txBody>
              <a:bodyPr wrap="none" lIns="0" tIns="0" rIns="0" bIns="0" rtlCol="0">
                <a:spAutoFit/>
              </a:bodyPr>
              <a:lstStyle/>
              <a:p>
                <a:r>
                  <a:rPr lang="en-US" sz="1200" dirty="0"/>
                  <a:t>IT = </a:t>
                </a:r>
                <a14:m>
                  <m:oMath xmlns:m="http://schemas.openxmlformats.org/officeDocument/2006/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4,000 </m:t>
                        </m:r>
                      </m:num>
                      <m:den>
                        <m:r>
                          <a:rPr lang="en-US" sz="1200" b="0" i="1" smtClean="0">
                            <a:latin typeface="Cambria Math" panose="02040503050406030204" pitchFamily="18" charset="0"/>
                          </a:rPr>
                          <m:t>5,000</m:t>
                        </m:r>
                      </m:den>
                    </m:f>
                    <m:r>
                      <a:rPr lang="en-US" sz="1200" b="0" i="1" smtClean="0">
                        <a:latin typeface="Cambria Math" panose="02040503050406030204" pitchFamily="18" charset="0"/>
                      </a:rPr>
                      <m:t>=80% </m:t>
                    </m:r>
                  </m:oMath>
                </a14:m>
                <a:r>
                  <a:rPr lang="en-US" sz="1200" dirty="0"/>
                  <a:t>Transistion</a:t>
                </a:r>
              </a:p>
            </p:txBody>
          </p:sp>
        </mc:Choice>
        <mc:Fallback xmlns="">
          <p:sp>
            <p:nvSpPr>
              <p:cNvPr id="62" name="TextBox 61">
                <a:extLst>
                  <a:ext uri="{FF2B5EF4-FFF2-40B4-BE49-F238E27FC236}">
                    <a16:creationId xmlns:a16="http://schemas.microsoft.com/office/drawing/2014/main" id="{D95E3B38-D0A1-E8E8-CE77-80FB02AF5A7F}"/>
                  </a:ext>
                </a:extLst>
              </p:cNvPr>
              <p:cNvSpPr txBox="1">
                <a:spLocks noRot="1" noChangeAspect="1" noMove="1" noResize="1" noEditPoints="1" noAdjustHandles="1" noChangeArrowheads="1" noChangeShapeType="1" noTextEdit="1"/>
              </p:cNvSpPr>
              <p:nvPr/>
            </p:nvSpPr>
            <p:spPr>
              <a:xfrm>
                <a:off x="4476449" y="5172516"/>
                <a:ext cx="1784719" cy="276358"/>
              </a:xfrm>
              <a:prstGeom prst="rect">
                <a:avLst/>
              </a:prstGeom>
              <a:blipFill>
                <a:blip r:embed="rId9"/>
                <a:stretch>
                  <a:fillRect l="-5119" t="-2222" r="-4096"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D4C3842-CB06-A16C-DB27-E773A70179DA}"/>
                  </a:ext>
                </a:extLst>
              </p:cNvPr>
              <p:cNvSpPr txBox="1"/>
              <p:nvPr/>
            </p:nvSpPr>
            <p:spPr>
              <a:xfrm>
                <a:off x="7242695" y="5169887"/>
                <a:ext cx="1739259" cy="278987"/>
              </a:xfrm>
              <a:prstGeom prst="rect">
                <a:avLst/>
              </a:prstGeom>
              <a:noFill/>
            </p:spPr>
            <p:txBody>
              <a:bodyPr wrap="none" lIns="0" tIns="0" rIns="0" bIns="0" rtlCol="0">
                <a:spAutoFit/>
              </a:bodyPr>
              <a:lstStyle/>
              <a:p>
                <a:r>
                  <a:rPr lang="en-US" sz="1200" b="0" dirty="0"/>
                  <a:t>P&amp;C = </a:t>
                </a:r>
                <a14:m>
                  <m:oMath xmlns:m="http://schemas.openxmlformats.org/officeDocument/2006/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5000−4000</m:t>
                        </m:r>
                      </m:num>
                      <m:den>
                        <m:r>
                          <a:rPr lang="en-US" sz="1200" i="1" smtClean="0">
                            <a:latin typeface="Cambria Math" panose="02040503050406030204" pitchFamily="18" charset="0"/>
                          </a:rPr>
                          <m:t>1</m:t>
                        </m:r>
                        <m:r>
                          <a:rPr lang="en-US" sz="1200" b="0" i="1" smtClean="0">
                            <a:latin typeface="Cambria Math" panose="02040503050406030204" pitchFamily="18" charset="0"/>
                          </a:rPr>
                          <m:t>0,000</m:t>
                        </m:r>
                      </m:den>
                    </m:f>
                  </m:oMath>
                </a14:m>
                <a:r>
                  <a:rPr lang="en-US" sz="1200" dirty="0"/>
                  <a:t> = 10% Loss</a:t>
                </a:r>
              </a:p>
            </p:txBody>
          </p:sp>
        </mc:Choice>
        <mc:Fallback xmlns="">
          <p:sp>
            <p:nvSpPr>
              <p:cNvPr id="64" name="TextBox 63">
                <a:extLst>
                  <a:ext uri="{FF2B5EF4-FFF2-40B4-BE49-F238E27FC236}">
                    <a16:creationId xmlns:a16="http://schemas.microsoft.com/office/drawing/2014/main" id="{AD4C3842-CB06-A16C-DB27-E773A70179DA}"/>
                  </a:ext>
                </a:extLst>
              </p:cNvPr>
              <p:cNvSpPr txBox="1">
                <a:spLocks noRot="1" noChangeAspect="1" noMove="1" noResize="1" noEditPoints="1" noAdjustHandles="1" noChangeArrowheads="1" noChangeShapeType="1" noTextEdit="1"/>
              </p:cNvSpPr>
              <p:nvPr/>
            </p:nvSpPr>
            <p:spPr>
              <a:xfrm>
                <a:off x="7242695" y="5169887"/>
                <a:ext cx="1739259" cy="278987"/>
              </a:xfrm>
              <a:prstGeom prst="rect">
                <a:avLst/>
              </a:prstGeom>
              <a:blipFill>
                <a:blip r:embed="rId10"/>
                <a:stretch>
                  <a:fillRect l="-5263" t="-2174" r="-4912"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8767D3B8-B85B-2C78-696F-04E9BFB43573}"/>
                  </a:ext>
                </a:extLst>
              </p:cNvPr>
              <p:cNvSpPr txBox="1"/>
              <p:nvPr/>
            </p:nvSpPr>
            <p:spPr>
              <a:xfrm>
                <a:off x="4472236" y="5740714"/>
                <a:ext cx="1784719" cy="276358"/>
              </a:xfrm>
              <a:prstGeom prst="rect">
                <a:avLst/>
              </a:prstGeom>
              <a:noFill/>
            </p:spPr>
            <p:txBody>
              <a:bodyPr wrap="none" lIns="0" tIns="0" rIns="0" bIns="0" rtlCol="0">
                <a:spAutoFit/>
              </a:bodyPr>
              <a:lstStyle/>
              <a:p>
                <a:r>
                  <a:rPr lang="en-US" sz="1200" dirty="0"/>
                  <a:t>IT = </a:t>
                </a:r>
                <a14:m>
                  <m:oMath xmlns:m="http://schemas.openxmlformats.org/officeDocument/2006/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3,000 </m:t>
                        </m:r>
                      </m:num>
                      <m:den>
                        <m:r>
                          <a:rPr lang="en-US" sz="1200" b="0" i="1" smtClean="0">
                            <a:latin typeface="Cambria Math" panose="02040503050406030204" pitchFamily="18" charset="0"/>
                          </a:rPr>
                          <m:t>4,000</m:t>
                        </m:r>
                      </m:den>
                    </m:f>
                    <m:r>
                      <a:rPr lang="en-US" sz="1200" b="0" i="1" smtClean="0">
                        <a:latin typeface="Cambria Math" panose="02040503050406030204" pitchFamily="18" charset="0"/>
                      </a:rPr>
                      <m:t>=75% </m:t>
                    </m:r>
                  </m:oMath>
                </a14:m>
                <a:r>
                  <a:rPr lang="en-US" sz="1200" dirty="0"/>
                  <a:t>Transistion</a:t>
                </a:r>
              </a:p>
            </p:txBody>
          </p:sp>
        </mc:Choice>
        <mc:Fallback xmlns="">
          <p:sp>
            <p:nvSpPr>
              <p:cNvPr id="66" name="TextBox 65">
                <a:extLst>
                  <a:ext uri="{FF2B5EF4-FFF2-40B4-BE49-F238E27FC236}">
                    <a16:creationId xmlns:a16="http://schemas.microsoft.com/office/drawing/2014/main" id="{8767D3B8-B85B-2C78-696F-04E9BFB43573}"/>
                  </a:ext>
                </a:extLst>
              </p:cNvPr>
              <p:cNvSpPr txBox="1">
                <a:spLocks noRot="1" noChangeAspect="1" noMove="1" noResize="1" noEditPoints="1" noAdjustHandles="1" noChangeArrowheads="1" noChangeShapeType="1" noTextEdit="1"/>
              </p:cNvSpPr>
              <p:nvPr/>
            </p:nvSpPr>
            <p:spPr>
              <a:xfrm>
                <a:off x="4472236" y="5740714"/>
                <a:ext cx="1784719" cy="276358"/>
              </a:xfrm>
              <a:prstGeom prst="rect">
                <a:avLst/>
              </a:prstGeom>
              <a:blipFill>
                <a:blip r:embed="rId11"/>
                <a:stretch>
                  <a:fillRect l="-5479" t="-2222" r="-4110"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96D9167D-4B20-C48D-F656-AAC8AD49C27D}"/>
                  </a:ext>
                </a:extLst>
              </p:cNvPr>
              <p:cNvSpPr txBox="1"/>
              <p:nvPr/>
            </p:nvSpPr>
            <p:spPr>
              <a:xfrm>
                <a:off x="7242695" y="5695999"/>
                <a:ext cx="1739259" cy="276358"/>
              </a:xfrm>
              <a:prstGeom prst="rect">
                <a:avLst/>
              </a:prstGeom>
              <a:noFill/>
            </p:spPr>
            <p:txBody>
              <a:bodyPr wrap="none" lIns="0" tIns="0" rIns="0" bIns="0" rtlCol="0">
                <a:spAutoFit/>
              </a:bodyPr>
              <a:lstStyle/>
              <a:p>
                <a:r>
                  <a:rPr lang="en-US" sz="1200" b="0" dirty="0"/>
                  <a:t>P&amp;C = </a:t>
                </a:r>
                <a14:m>
                  <m:oMath xmlns:m="http://schemas.openxmlformats.org/officeDocument/2006/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4000−3000</m:t>
                        </m:r>
                      </m:num>
                      <m:den>
                        <m:r>
                          <a:rPr lang="en-US" sz="1200" i="1" smtClean="0">
                            <a:latin typeface="Cambria Math" panose="02040503050406030204" pitchFamily="18" charset="0"/>
                          </a:rPr>
                          <m:t>1</m:t>
                        </m:r>
                        <m:r>
                          <a:rPr lang="en-US" sz="1200" b="0" i="1" smtClean="0">
                            <a:latin typeface="Cambria Math" panose="02040503050406030204" pitchFamily="18" charset="0"/>
                          </a:rPr>
                          <m:t>0,000</m:t>
                        </m:r>
                      </m:den>
                    </m:f>
                  </m:oMath>
                </a14:m>
                <a:r>
                  <a:rPr lang="en-US" sz="1200" dirty="0"/>
                  <a:t> = 10% Loss</a:t>
                </a:r>
              </a:p>
            </p:txBody>
          </p:sp>
        </mc:Choice>
        <mc:Fallback xmlns="">
          <p:sp>
            <p:nvSpPr>
              <p:cNvPr id="68" name="TextBox 67">
                <a:extLst>
                  <a:ext uri="{FF2B5EF4-FFF2-40B4-BE49-F238E27FC236}">
                    <a16:creationId xmlns:a16="http://schemas.microsoft.com/office/drawing/2014/main" id="{96D9167D-4B20-C48D-F656-AAC8AD49C27D}"/>
                  </a:ext>
                </a:extLst>
              </p:cNvPr>
              <p:cNvSpPr txBox="1">
                <a:spLocks noRot="1" noChangeAspect="1" noMove="1" noResize="1" noEditPoints="1" noAdjustHandles="1" noChangeArrowheads="1" noChangeShapeType="1" noTextEdit="1"/>
              </p:cNvSpPr>
              <p:nvPr/>
            </p:nvSpPr>
            <p:spPr>
              <a:xfrm>
                <a:off x="7242695" y="5695999"/>
                <a:ext cx="1739259" cy="276358"/>
              </a:xfrm>
              <a:prstGeom prst="rect">
                <a:avLst/>
              </a:prstGeom>
              <a:blipFill>
                <a:blip r:embed="rId12"/>
                <a:stretch>
                  <a:fillRect l="-5263" t="-2174" r="-4912"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55A1542F-E76C-C861-EA3C-1055D133DF51}"/>
                  </a:ext>
                </a:extLst>
              </p:cNvPr>
              <p:cNvSpPr txBox="1"/>
              <p:nvPr/>
            </p:nvSpPr>
            <p:spPr>
              <a:xfrm>
                <a:off x="4449416" y="6258566"/>
                <a:ext cx="1784719" cy="276358"/>
              </a:xfrm>
              <a:prstGeom prst="rect">
                <a:avLst/>
              </a:prstGeom>
              <a:noFill/>
            </p:spPr>
            <p:txBody>
              <a:bodyPr wrap="none" lIns="0" tIns="0" rIns="0" bIns="0" rtlCol="0">
                <a:spAutoFit/>
              </a:bodyPr>
              <a:lstStyle/>
              <a:p>
                <a:r>
                  <a:rPr lang="en-US" sz="1200" dirty="0"/>
                  <a:t>IT = </a:t>
                </a:r>
                <a14:m>
                  <m:oMath xmlns:m="http://schemas.openxmlformats.org/officeDocument/2006/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2,000 </m:t>
                        </m:r>
                      </m:num>
                      <m:den>
                        <m:r>
                          <a:rPr lang="en-US" sz="1200" b="0" i="1" smtClean="0">
                            <a:latin typeface="Cambria Math" panose="02040503050406030204" pitchFamily="18" charset="0"/>
                          </a:rPr>
                          <m:t>3,000</m:t>
                        </m:r>
                      </m:den>
                    </m:f>
                    <m:r>
                      <a:rPr lang="en-US" sz="1200" b="0" i="1" smtClean="0">
                        <a:latin typeface="Cambria Math" panose="02040503050406030204" pitchFamily="18" charset="0"/>
                      </a:rPr>
                      <m:t>=67% </m:t>
                    </m:r>
                  </m:oMath>
                </a14:m>
                <a:r>
                  <a:rPr lang="en-US" sz="1200" dirty="0"/>
                  <a:t>Transistion</a:t>
                </a:r>
              </a:p>
            </p:txBody>
          </p:sp>
        </mc:Choice>
        <mc:Fallback xmlns="">
          <p:sp>
            <p:nvSpPr>
              <p:cNvPr id="70" name="TextBox 69">
                <a:extLst>
                  <a:ext uri="{FF2B5EF4-FFF2-40B4-BE49-F238E27FC236}">
                    <a16:creationId xmlns:a16="http://schemas.microsoft.com/office/drawing/2014/main" id="{55A1542F-E76C-C861-EA3C-1055D133DF51}"/>
                  </a:ext>
                </a:extLst>
              </p:cNvPr>
              <p:cNvSpPr txBox="1">
                <a:spLocks noRot="1" noChangeAspect="1" noMove="1" noResize="1" noEditPoints="1" noAdjustHandles="1" noChangeArrowheads="1" noChangeShapeType="1" noTextEdit="1"/>
              </p:cNvSpPr>
              <p:nvPr/>
            </p:nvSpPr>
            <p:spPr>
              <a:xfrm>
                <a:off x="4449416" y="6258566"/>
                <a:ext cx="1784719" cy="276358"/>
              </a:xfrm>
              <a:prstGeom prst="rect">
                <a:avLst/>
              </a:prstGeom>
              <a:blipFill>
                <a:blip r:embed="rId13"/>
                <a:stretch>
                  <a:fillRect l="-5461" t="-2222" r="-3754"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5B34A0F-CBBE-D6A7-812C-AC74ED306D87}"/>
                  </a:ext>
                </a:extLst>
              </p:cNvPr>
              <p:cNvSpPr txBox="1"/>
              <p:nvPr/>
            </p:nvSpPr>
            <p:spPr>
              <a:xfrm>
                <a:off x="7296397" y="6219483"/>
                <a:ext cx="1739259" cy="276358"/>
              </a:xfrm>
              <a:prstGeom prst="rect">
                <a:avLst/>
              </a:prstGeom>
              <a:noFill/>
            </p:spPr>
            <p:txBody>
              <a:bodyPr wrap="none" lIns="0" tIns="0" rIns="0" bIns="0" rtlCol="0">
                <a:spAutoFit/>
              </a:bodyPr>
              <a:lstStyle/>
              <a:p>
                <a:r>
                  <a:rPr lang="en-US" sz="1200" b="0" dirty="0"/>
                  <a:t>P&amp;C = </a:t>
                </a:r>
                <a14:m>
                  <m:oMath xmlns:m="http://schemas.openxmlformats.org/officeDocument/2006/math">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3000−2000</m:t>
                        </m:r>
                      </m:num>
                      <m:den>
                        <m:r>
                          <a:rPr lang="en-US" sz="1200" i="1" smtClean="0">
                            <a:latin typeface="Cambria Math" panose="02040503050406030204" pitchFamily="18" charset="0"/>
                          </a:rPr>
                          <m:t>1</m:t>
                        </m:r>
                        <m:r>
                          <a:rPr lang="en-US" sz="1200" b="0" i="1" smtClean="0">
                            <a:latin typeface="Cambria Math" panose="02040503050406030204" pitchFamily="18" charset="0"/>
                          </a:rPr>
                          <m:t>0,000</m:t>
                        </m:r>
                      </m:den>
                    </m:f>
                  </m:oMath>
                </a14:m>
                <a:r>
                  <a:rPr lang="en-US" sz="1200" dirty="0"/>
                  <a:t> = 10% Loss</a:t>
                </a:r>
              </a:p>
            </p:txBody>
          </p:sp>
        </mc:Choice>
        <mc:Fallback xmlns="">
          <p:sp>
            <p:nvSpPr>
              <p:cNvPr id="72" name="TextBox 71">
                <a:extLst>
                  <a:ext uri="{FF2B5EF4-FFF2-40B4-BE49-F238E27FC236}">
                    <a16:creationId xmlns:a16="http://schemas.microsoft.com/office/drawing/2014/main" id="{65B34A0F-CBBE-D6A7-812C-AC74ED306D87}"/>
                  </a:ext>
                </a:extLst>
              </p:cNvPr>
              <p:cNvSpPr txBox="1">
                <a:spLocks noRot="1" noChangeAspect="1" noMove="1" noResize="1" noEditPoints="1" noAdjustHandles="1" noChangeArrowheads="1" noChangeShapeType="1" noTextEdit="1"/>
              </p:cNvSpPr>
              <p:nvPr/>
            </p:nvSpPr>
            <p:spPr>
              <a:xfrm>
                <a:off x="7296397" y="6219483"/>
                <a:ext cx="1739259" cy="276358"/>
              </a:xfrm>
              <a:prstGeom prst="rect">
                <a:avLst/>
              </a:prstGeom>
              <a:blipFill>
                <a:blip r:embed="rId14"/>
                <a:stretch>
                  <a:fillRect l="-5614" t="-2174" r="-4561" b="-15217"/>
                </a:stretch>
              </a:blipFill>
            </p:spPr>
            <p:txBody>
              <a:bodyPr/>
              <a:lstStyle/>
              <a:p>
                <a:r>
                  <a:rPr lang="en-US">
                    <a:noFill/>
                  </a:rPr>
                  <a:t> </a:t>
                </a:r>
              </a:p>
            </p:txBody>
          </p:sp>
        </mc:Fallback>
      </mc:AlternateContent>
      <p:sp>
        <p:nvSpPr>
          <p:cNvPr id="74" name="TextBox 73">
            <a:extLst>
              <a:ext uri="{FF2B5EF4-FFF2-40B4-BE49-F238E27FC236}">
                <a16:creationId xmlns:a16="http://schemas.microsoft.com/office/drawing/2014/main" id="{798FE985-A19B-2214-6C81-EA316BCE12E8}"/>
              </a:ext>
            </a:extLst>
          </p:cNvPr>
          <p:cNvSpPr txBox="1"/>
          <p:nvPr/>
        </p:nvSpPr>
        <p:spPr>
          <a:xfrm>
            <a:off x="9123363" y="4597060"/>
            <a:ext cx="6137274" cy="307777"/>
          </a:xfrm>
          <a:prstGeom prst="rect">
            <a:avLst/>
          </a:prstGeom>
          <a:noFill/>
        </p:spPr>
        <p:txBody>
          <a:bodyPr wrap="square">
            <a:spAutoFit/>
          </a:bodyPr>
          <a:lstStyle/>
          <a:p>
            <a:r>
              <a:rPr lang="en-US" sz="1400" b="1" dirty="0">
                <a:solidFill>
                  <a:srgbClr val="720C27"/>
                </a:solidFill>
                <a:latin typeface="Arial" panose="020B0604020202020204" pitchFamily="34" charset="0"/>
                <a:cs typeface="Arial" panose="020B0604020202020204" pitchFamily="34" charset="0"/>
              </a:rPr>
              <a:t>Lowest Transition, Highest Loss</a:t>
            </a:r>
            <a:endParaRPr lang="en-US" b="1" dirty="0">
              <a:solidFill>
                <a:srgbClr val="720C27"/>
              </a:solidFill>
            </a:endParaRPr>
          </a:p>
        </p:txBody>
      </p:sp>
      <p:sp>
        <p:nvSpPr>
          <p:cNvPr id="4" name="TextBox 3">
            <a:extLst>
              <a:ext uri="{FF2B5EF4-FFF2-40B4-BE49-F238E27FC236}">
                <a16:creationId xmlns:a16="http://schemas.microsoft.com/office/drawing/2014/main" id="{2274E6B7-1FBE-06E2-DE98-8F3157DF2286}"/>
              </a:ext>
            </a:extLst>
          </p:cNvPr>
          <p:cNvSpPr txBox="1"/>
          <p:nvPr/>
        </p:nvSpPr>
        <p:spPr>
          <a:xfrm>
            <a:off x="4360863" y="6579228"/>
            <a:ext cx="7092316" cy="276999"/>
          </a:xfrm>
          <a:prstGeom prst="rect">
            <a:avLst/>
          </a:prstGeom>
          <a:noFill/>
        </p:spPr>
        <p:txBody>
          <a:bodyPr wrap="square">
            <a:spAutoFit/>
          </a:bodyPr>
          <a:lstStyle/>
          <a:p>
            <a:r>
              <a:rPr lang="en-US" sz="1200" dirty="0">
                <a:solidFill>
                  <a:srgbClr val="720C27"/>
                </a:solidFill>
                <a:latin typeface="Arial" panose="020B0604020202020204" pitchFamily="34" charset="0"/>
                <a:cs typeface="Arial" panose="020B0604020202020204" pitchFamily="34" charset="0"/>
              </a:rPr>
              <a:t>100% - 67% = 33% </a:t>
            </a:r>
            <a:r>
              <a:rPr lang="en-US" sz="1200" b="1" u="sng" dirty="0">
                <a:solidFill>
                  <a:srgbClr val="720C27"/>
                </a:solidFill>
              </a:rPr>
              <a:t>1 in 3 who completed an application never got a policy. Neither measure flags it.</a:t>
            </a:r>
          </a:p>
        </p:txBody>
      </p:sp>
    </p:spTree>
    <p:extLst>
      <p:ext uri="{BB962C8B-B14F-4D97-AF65-F5344CB8AC3E}">
        <p14:creationId xmlns:p14="http://schemas.microsoft.com/office/powerpoint/2010/main" val="3287235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41389-B859-4F38-BB2F-53DEA7BB22A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2946CB1-C247-D45D-39D7-8BD76B7C2718}"/>
              </a:ext>
            </a:extLst>
          </p:cNvPr>
          <p:cNvSpPr txBox="1"/>
          <p:nvPr/>
        </p:nvSpPr>
        <p:spPr>
          <a:xfrm>
            <a:off x="275270" y="1709437"/>
            <a:ext cx="10855325" cy="457200"/>
          </a:xfrm>
          <a:prstGeom prst="rect">
            <a:avLst/>
          </a:prstGeom>
          <a:noFill/>
          <a:ln/>
        </p:spPr>
        <p:txBody>
          <a:bodyPr wrap="square" lIns="0" tIns="0" rIns="0" bIns="0" rtlCol="0" anchor="ctr"/>
          <a:lstStyle/>
          <a:p>
            <a:pPr marL="0" indent="0">
              <a:buNone/>
            </a:pPr>
            <a:endParaRPr lang="en-US" sz="1400" b="1" dirty="0">
              <a:solidFill>
                <a:srgbClr val="1F3864"/>
              </a:solidFill>
              <a:latin typeface="Cambria" pitchFamily="34" charset="0"/>
              <a:ea typeface="Cambria" pitchFamily="34" charset="-122"/>
              <a:cs typeface="Cambria" pitchFamily="34" charset="-120"/>
            </a:endParaRPr>
          </a:p>
          <a:p>
            <a:endParaRPr lang="en-US" sz="1400" dirty="0">
              <a:solidFill>
                <a:srgbClr val="12395B"/>
              </a:solidFill>
              <a:latin typeface="Arial" panose="020B0604020202020204" pitchFamily="34" charset="0"/>
              <a:cs typeface="Arial" panose="020B0604020202020204" pitchFamily="34" charset="0"/>
            </a:endParaRPr>
          </a:p>
          <a:p>
            <a:r>
              <a:rPr lang="en-US" sz="1600" b="1" dirty="0">
                <a:solidFill>
                  <a:srgbClr val="086B94"/>
                </a:solidFill>
                <a:latin typeface="Arial" panose="020B0604020202020204" pitchFamily="34" charset="0"/>
                <a:cs typeface="Arial" panose="020B0604020202020204" pitchFamily="34" charset="0"/>
              </a:rPr>
              <a:t>What we see:</a:t>
            </a:r>
            <a:r>
              <a:rPr lang="en-US" sz="1600" dirty="0">
                <a:solidFill>
                  <a:srgbClr val="086B94"/>
                </a:solidFill>
                <a:latin typeface="Arial" panose="020B0604020202020204" pitchFamily="34" charset="0"/>
                <a:cs typeface="Arial" panose="020B0604020202020204" pitchFamily="34" charset="0"/>
              </a:rPr>
              <a:t> The biggest drop is after the quote. Both IT and P&amp;C flag it, and the usual explanation is price shopping. </a:t>
            </a:r>
          </a:p>
          <a:p>
            <a:endParaRPr lang="en-US" sz="1600" dirty="0">
              <a:solidFill>
                <a:srgbClr val="086B94"/>
              </a:solidFill>
              <a:latin typeface="Arial" panose="020B0604020202020204" pitchFamily="34" charset="0"/>
              <a:cs typeface="Arial" panose="020B0604020202020204" pitchFamily="34" charset="0"/>
            </a:endParaRPr>
          </a:p>
          <a:p>
            <a:r>
              <a:rPr lang="en-US" sz="1600" b="1" dirty="0">
                <a:solidFill>
                  <a:srgbClr val="086B94"/>
                </a:solidFill>
                <a:latin typeface="Arial" panose="020B0604020202020204" pitchFamily="34" charset="0"/>
                <a:cs typeface="Arial" panose="020B0604020202020204" pitchFamily="34" charset="0"/>
              </a:rPr>
              <a:t>What we don't see:</a:t>
            </a:r>
            <a:r>
              <a:rPr lang="en-US" sz="1600" dirty="0">
                <a:solidFill>
                  <a:srgbClr val="086B94"/>
                </a:solidFill>
                <a:latin typeface="Arial" panose="020B0604020202020204" pitchFamily="34" charset="0"/>
                <a:cs typeface="Arial" panose="020B0604020202020204" pitchFamily="34" charset="0"/>
              </a:rPr>
              <a:t> 791 customers completed an application and never received a policy. By every current measure it's the smallest loss on the chart, so no one has asked why.</a:t>
            </a:r>
          </a:p>
          <a:p>
            <a:endParaRPr lang="en-US" sz="1600" dirty="0">
              <a:solidFill>
                <a:srgbClr val="086B94"/>
              </a:solidFill>
              <a:latin typeface="Arial" panose="020B0604020202020204" pitchFamily="34" charset="0"/>
              <a:cs typeface="Arial" panose="020B0604020202020204" pitchFamily="34" charset="0"/>
            </a:endParaRPr>
          </a:p>
          <a:p>
            <a:r>
              <a:rPr lang="en-US" sz="1600" b="1" dirty="0">
                <a:solidFill>
                  <a:srgbClr val="086B94"/>
                </a:solidFill>
                <a:latin typeface="Arial" panose="020B0604020202020204" pitchFamily="34" charset="0"/>
                <a:cs typeface="Arial" panose="020B0604020202020204" pitchFamily="34" charset="0"/>
              </a:rPr>
              <a:t>What we don't know:</a:t>
            </a:r>
            <a:r>
              <a:rPr lang="en-US" sz="1600" dirty="0">
                <a:solidFill>
                  <a:srgbClr val="086B94"/>
                </a:solidFill>
                <a:latin typeface="Arial" panose="020B0604020202020204" pitchFamily="34" charset="0"/>
                <a:cs typeface="Arial" panose="020B0604020202020204" pitchFamily="34" charset="0"/>
              </a:rPr>
              <a:t> Which of these losses are normal and which aren't. Our reports count how many people leave at each step. They don't tell us whether leaving at that step should be expected.</a:t>
            </a:r>
          </a:p>
          <a:p>
            <a:endParaRPr lang="en-US" sz="1600" dirty="0">
              <a:solidFill>
                <a:srgbClr val="086B94"/>
              </a:solidFill>
              <a:latin typeface="Arial" panose="020B0604020202020204" pitchFamily="34" charset="0"/>
              <a:cs typeface="Arial" panose="020B0604020202020204" pitchFamily="34" charset="0"/>
            </a:endParaRPr>
          </a:p>
          <a:p>
            <a:r>
              <a:rPr lang="en-US" sz="1600" b="1" dirty="0">
                <a:solidFill>
                  <a:srgbClr val="086B94"/>
                </a:solidFill>
                <a:latin typeface="Arial" panose="020B0604020202020204" pitchFamily="34" charset="0"/>
                <a:cs typeface="Arial" panose="020B0604020202020204" pitchFamily="34" charset="0"/>
              </a:rPr>
              <a:t>So what:</a:t>
            </a:r>
            <a:r>
              <a:rPr lang="en-US" sz="1600" dirty="0">
                <a:solidFill>
                  <a:srgbClr val="086B94"/>
                </a:solidFill>
                <a:latin typeface="Arial" panose="020B0604020202020204" pitchFamily="34" charset="0"/>
                <a:cs typeface="Arial" panose="020B0604020202020204" pitchFamily="34" charset="0"/>
              </a:rPr>
              <a:t> Every customer who completes an application represents cost already spent: marketing, quoting, underwriting. Without knowing which losses are avoidable, we can't tell whether the answer is more shoppers or a better process.</a:t>
            </a:r>
          </a:p>
        </p:txBody>
      </p:sp>
      <p:sp>
        <p:nvSpPr>
          <p:cNvPr id="10" name="Rectangle: Rounded Corners 9">
            <a:extLst>
              <a:ext uri="{FF2B5EF4-FFF2-40B4-BE49-F238E27FC236}">
                <a16:creationId xmlns:a16="http://schemas.microsoft.com/office/drawing/2014/main" id="{A729A319-B09D-7245-FAE3-06D34A854F2D}"/>
              </a:ext>
            </a:extLst>
          </p:cNvPr>
          <p:cNvSpPr/>
          <p:nvPr/>
        </p:nvSpPr>
        <p:spPr>
          <a:xfrm>
            <a:off x="2578733" y="3718413"/>
            <a:ext cx="36576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12395B"/>
                </a:solidFill>
              </a:rPr>
              <a:t>9,793 (100%) </a:t>
            </a:r>
          </a:p>
        </p:txBody>
      </p:sp>
      <p:sp>
        <p:nvSpPr>
          <p:cNvPr id="12" name="Rectangle: Rounded Corners 11">
            <a:extLst>
              <a:ext uri="{FF2B5EF4-FFF2-40B4-BE49-F238E27FC236}">
                <a16:creationId xmlns:a16="http://schemas.microsoft.com/office/drawing/2014/main" id="{3AB912CB-D1D1-A520-7758-D0AAB42DE6E5}"/>
              </a:ext>
            </a:extLst>
          </p:cNvPr>
          <p:cNvSpPr/>
          <p:nvPr/>
        </p:nvSpPr>
        <p:spPr>
          <a:xfrm>
            <a:off x="2578733" y="4132843"/>
            <a:ext cx="32004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b="1" dirty="0">
              <a:solidFill>
                <a:srgbClr val="12395B"/>
              </a:solidFill>
            </a:endParaRPr>
          </a:p>
          <a:p>
            <a:r>
              <a:rPr lang="en-US" sz="1000" b="1" dirty="0">
                <a:solidFill>
                  <a:srgbClr val="12395B"/>
                </a:solidFill>
              </a:rPr>
              <a:t>8,560 (87%) </a:t>
            </a:r>
          </a:p>
          <a:p>
            <a:pPr algn="ctr"/>
            <a:endParaRPr lang="en-US" sz="1000" b="1" dirty="0">
              <a:solidFill>
                <a:srgbClr val="12395B"/>
              </a:solidFill>
            </a:endParaRPr>
          </a:p>
        </p:txBody>
      </p:sp>
      <p:sp>
        <p:nvSpPr>
          <p:cNvPr id="14" name="Rectangle: Rounded Corners 13">
            <a:extLst>
              <a:ext uri="{FF2B5EF4-FFF2-40B4-BE49-F238E27FC236}">
                <a16:creationId xmlns:a16="http://schemas.microsoft.com/office/drawing/2014/main" id="{CA31B496-3362-84CE-A62A-B5D9F76B05E4}"/>
              </a:ext>
            </a:extLst>
          </p:cNvPr>
          <p:cNvSpPr/>
          <p:nvPr/>
        </p:nvSpPr>
        <p:spPr>
          <a:xfrm>
            <a:off x="2578734" y="4547700"/>
            <a:ext cx="2743200" cy="292100"/>
          </a:xfrm>
          <a:prstGeom prst="roundRect">
            <a:avLst/>
          </a:prstGeom>
          <a:solidFill>
            <a:srgbClr val="534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12395B"/>
                </a:solidFill>
              </a:rPr>
              <a:t>7,287 (74%)</a:t>
            </a:r>
          </a:p>
        </p:txBody>
      </p:sp>
      <p:sp>
        <p:nvSpPr>
          <p:cNvPr id="16" name="Rectangle: Rounded Corners 15">
            <a:extLst>
              <a:ext uri="{FF2B5EF4-FFF2-40B4-BE49-F238E27FC236}">
                <a16:creationId xmlns:a16="http://schemas.microsoft.com/office/drawing/2014/main" id="{D19544E5-C2A6-8085-1068-563A37C815BC}"/>
              </a:ext>
            </a:extLst>
          </p:cNvPr>
          <p:cNvSpPr/>
          <p:nvPr/>
        </p:nvSpPr>
        <p:spPr>
          <a:xfrm>
            <a:off x="2578733" y="4992731"/>
            <a:ext cx="219456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12395B"/>
                </a:solidFill>
              </a:rPr>
              <a:t>5,883 (60%)</a:t>
            </a:r>
          </a:p>
        </p:txBody>
      </p:sp>
      <p:sp>
        <p:nvSpPr>
          <p:cNvPr id="18" name="Rectangle: Rounded Corners 17">
            <a:extLst>
              <a:ext uri="{FF2B5EF4-FFF2-40B4-BE49-F238E27FC236}">
                <a16:creationId xmlns:a16="http://schemas.microsoft.com/office/drawing/2014/main" id="{82C3198F-CA3B-E348-2973-BE2ABFA31974}"/>
              </a:ext>
            </a:extLst>
          </p:cNvPr>
          <p:cNvSpPr/>
          <p:nvPr/>
        </p:nvSpPr>
        <p:spPr>
          <a:xfrm>
            <a:off x="2578734" y="5417162"/>
            <a:ext cx="1828800" cy="292100"/>
          </a:xfrm>
          <a:prstGeom prst="roundRect">
            <a:avLst/>
          </a:prstGeom>
          <a:solidFill>
            <a:srgbClr val="A1B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12395B"/>
                </a:solidFill>
              </a:rPr>
              <a:t>4,907 (50%)</a:t>
            </a:r>
          </a:p>
        </p:txBody>
      </p:sp>
      <p:sp>
        <p:nvSpPr>
          <p:cNvPr id="20" name="Rectangle: Rounded Corners 19">
            <a:extLst>
              <a:ext uri="{FF2B5EF4-FFF2-40B4-BE49-F238E27FC236}">
                <a16:creationId xmlns:a16="http://schemas.microsoft.com/office/drawing/2014/main" id="{4AD171AA-77C5-363F-5BD9-38374E30E604}"/>
              </a:ext>
            </a:extLst>
          </p:cNvPr>
          <p:cNvSpPr/>
          <p:nvPr/>
        </p:nvSpPr>
        <p:spPr>
          <a:xfrm>
            <a:off x="2578734" y="5870167"/>
            <a:ext cx="1554480" cy="292100"/>
          </a:xfrm>
          <a:prstGeom prst="roundRect">
            <a:avLst/>
          </a:prstGeom>
          <a:solidFill>
            <a:srgbClr val="720C27"/>
          </a:solidFill>
          <a:ln>
            <a:solidFill>
              <a:srgbClr val="72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12395B"/>
                </a:solidFill>
              </a:rPr>
              <a:t>4,116 (42%)</a:t>
            </a:r>
          </a:p>
        </p:txBody>
      </p:sp>
      <p:sp>
        <p:nvSpPr>
          <p:cNvPr id="74" name="TextBox 73">
            <a:extLst>
              <a:ext uri="{FF2B5EF4-FFF2-40B4-BE49-F238E27FC236}">
                <a16:creationId xmlns:a16="http://schemas.microsoft.com/office/drawing/2014/main" id="{2C706C85-66AC-5A4A-DC36-AF08A30BEB88}"/>
              </a:ext>
            </a:extLst>
          </p:cNvPr>
          <p:cNvSpPr txBox="1"/>
          <p:nvPr/>
        </p:nvSpPr>
        <p:spPr>
          <a:xfrm>
            <a:off x="5526882" y="4554948"/>
            <a:ext cx="6137274" cy="307777"/>
          </a:xfrm>
          <a:prstGeom prst="rect">
            <a:avLst/>
          </a:prstGeom>
          <a:noFill/>
        </p:spPr>
        <p:txBody>
          <a:bodyPr wrap="square">
            <a:spAutoFit/>
          </a:bodyPr>
          <a:lstStyle/>
          <a:p>
            <a:r>
              <a:rPr lang="en-US" sz="1400" b="1" dirty="0">
                <a:solidFill>
                  <a:srgbClr val="534AB7"/>
                </a:solidFill>
                <a:latin typeface="Arial" panose="020B0604020202020204" pitchFamily="34" charset="0"/>
                <a:cs typeface="Arial" panose="020B0604020202020204" pitchFamily="34" charset="0"/>
              </a:rPr>
              <a:t>Biggest drop: after the quote. IT: lowest pass rate. P&amp;C: largest loss.</a:t>
            </a:r>
          </a:p>
        </p:txBody>
      </p:sp>
      <p:sp>
        <p:nvSpPr>
          <p:cNvPr id="76" name="TextBox 75">
            <a:extLst>
              <a:ext uri="{FF2B5EF4-FFF2-40B4-BE49-F238E27FC236}">
                <a16:creationId xmlns:a16="http://schemas.microsoft.com/office/drawing/2014/main" id="{CE4E9C50-A6B8-C7FF-9627-13C838EB3C53}"/>
              </a:ext>
            </a:extLst>
          </p:cNvPr>
          <p:cNvSpPr txBox="1"/>
          <p:nvPr/>
        </p:nvSpPr>
        <p:spPr>
          <a:xfrm>
            <a:off x="5526882" y="5854490"/>
            <a:ext cx="6137274" cy="307777"/>
          </a:xfrm>
          <a:prstGeom prst="rect">
            <a:avLst/>
          </a:prstGeom>
          <a:noFill/>
        </p:spPr>
        <p:txBody>
          <a:bodyPr wrap="square">
            <a:spAutoFit/>
          </a:bodyPr>
          <a:lstStyle/>
          <a:p>
            <a:r>
              <a:rPr lang="en-US" sz="1400" b="1" dirty="0">
                <a:solidFill>
                  <a:srgbClr val="720C27"/>
                </a:solidFill>
                <a:latin typeface="Arial" panose="020B0604020202020204" pitchFamily="34" charset="0"/>
                <a:cs typeface="Arial" panose="020B0604020202020204" pitchFamily="34" charset="0"/>
              </a:rPr>
              <a:t>1 in 6 lost after applying. No one flags it.</a:t>
            </a:r>
            <a:endParaRPr lang="en-US" sz="1400" b="1" u="sng" dirty="0">
              <a:solidFill>
                <a:srgbClr val="720C27"/>
              </a:solidFill>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9CBD65D2-F44C-515D-EE75-E813D4CF92FE}"/>
              </a:ext>
            </a:extLst>
          </p:cNvPr>
          <p:cNvSpPr txBox="1"/>
          <p:nvPr/>
        </p:nvSpPr>
        <p:spPr>
          <a:xfrm>
            <a:off x="169864" y="96642"/>
            <a:ext cx="10714035" cy="707886"/>
          </a:xfrm>
          <a:prstGeom prst="rect">
            <a:avLst/>
          </a:prstGeom>
          <a:noFill/>
        </p:spPr>
        <p:txBody>
          <a:bodyPr wrap="square">
            <a:spAutoFit/>
          </a:bodyPr>
          <a:lstStyle/>
          <a:p>
            <a:pPr algn="ctr"/>
            <a:r>
              <a:rPr lang="en-US" sz="2000" b="1" dirty="0">
                <a:solidFill>
                  <a:srgbClr val="12395B"/>
                </a:solidFill>
                <a:latin typeface="Arial" panose="020B0604020202020204" pitchFamily="34" charset="0"/>
                <a:cs typeface="Arial" panose="020B0604020202020204" pitchFamily="34" charset="0"/>
              </a:rPr>
              <a:t>We know where customers leave the sales funnel. We don't know which losses matter.</a:t>
            </a:r>
          </a:p>
          <a:p>
            <a:r>
              <a:rPr lang="en-US" sz="2000" b="1" dirty="0">
                <a:solidFill>
                  <a:srgbClr val="5F5E5A"/>
                </a:solidFill>
              </a:rPr>
              <a:t>Goal:</a:t>
            </a:r>
            <a:r>
              <a:rPr lang="en-US" sz="2000" dirty="0">
                <a:solidFill>
                  <a:srgbClr val="5F5E5A"/>
                </a:solidFill>
              </a:rPr>
              <a:t> Grow the number of policies we issue from the customers we already attract.</a:t>
            </a:r>
            <a:endParaRPr lang="en-US" sz="2000" b="1" dirty="0">
              <a:solidFill>
                <a:srgbClr val="5F5E5A"/>
              </a:solidFill>
              <a:latin typeface="Arial" panose="020B0604020202020204" pitchFamily="34" charset="0"/>
              <a:cs typeface="Arial" panose="020B0604020202020204" pitchFamily="34" charset="0"/>
            </a:endParaRPr>
          </a:p>
        </p:txBody>
      </p:sp>
      <p:sp>
        <p:nvSpPr>
          <p:cNvPr id="83" name="TextBox 82">
            <a:extLst>
              <a:ext uri="{FF2B5EF4-FFF2-40B4-BE49-F238E27FC236}">
                <a16:creationId xmlns:a16="http://schemas.microsoft.com/office/drawing/2014/main" id="{DC036BC5-B458-CA06-2D11-B4EC3F0237FE}"/>
              </a:ext>
            </a:extLst>
          </p:cNvPr>
          <p:cNvSpPr txBox="1"/>
          <p:nvPr/>
        </p:nvSpPr>
        <p:spPr>
          <a:xfrm>
            <a:off x="695324" y="3724763"/>
            <a:ext cx="1883409" cy="3754874"/>
          </a:xfrm>
          <a:prstGeom prst="rect">
            <a:avLst/>
          </a:prstGeom>
          <a:noFill/>
        </p:spPr>
        <p:txBody>
          <a:bodyPr wrap="square">
            <a:spAutoFit/>
          </a:bodyPr>
          <a:lstStyle/>
          <a:p>
            <a:r>
              <a:rPr lang="en-US" sz="1400" b="1" dirty="0">
                <a:solidFill>
                  <a:schemeClr val="tx1"/>
                </a:solidFill>
              </a:rPr>
              <a:t>Digital Store Front</a:t>
            </a:r>
          </a:p>
          <a:p>
            <a:endParaRPr lang="en-US" sz="1400" b="1" dirty="0"/>
          </a:p>
          <a:p>
            <a:r>
              <a:rPr lang="en-US" sz="1400" b="1" dirty="0"/>
              <a:t>Quote Start</a:t>
            </a:r>
          </a:p>
          <a:p>
            <a:endParaRPr lang="en-US" sz="1400" b="1" dirty="0"/>
          </a:p>
          <a:p>
            <a:r>
              <a:rPr lang="en-US" sz="1400" b="1" dirty="0"/>
              <a:t>Quote Complete</a:t>
            </a:r>
          </a:p>
          <a:p>
            <a:endParaRPr lang="en-US" sz="1400" b="1" dirty="0"/>
          </a:p>
          <a:p>
            <a:r>
              <a:rPr lang="en-US" sz="1400" b="1" dirty="0"/>
              <a:t>Application Start</a:t>
            </a:r>
          </a:p>
          <a:p>
            <a:endParaRPr lang="en-US" sz="1400" b="1" dirty="0"/>
          </a:p>
          <a:p>
            <a:r>
              <a:rPr lang="en-US" sz="1400" b="1" dirty="0"/>
              <a:t>Application Complete</a:t>
            </a:r>
          </a:p>
          <a:p>
            <a:endParaRPr lang="en-US" sz="1400" b="1" dirty="0"/>
          </a:p>
          <a:p>
            <a:r>
              <a:rPr lang="en-US" sz="1400" b="1" dirty="0"/>
              <a:t>Issuance</a:t>
            </a:r>
          </a:p>
          <a:p>
            <a:endParaRPr lang="en-US" sz="1400" b="1" dirty="0"/>
          </a:p>
          <a:p>
            <a:pPr algn="ctr"/>
            <a:endParaRPr lang="en-US" sz="1400" b="1" dirty="0"/>
          </a:p>
          <a:p>
            <a:pPr algn="ctr"/>
            <a:endParaRPr lang="en-US" sz="1400" b="1" dirty="0"/>
          </a:p>
          <a:p>
            <a:pPr algn="ctr"/>
            <a:endParaRPr lang="en-US" sz="1400" b="1" dirty="0"/>
          </a:p>
          <a:p>
            <a:pPr algn="ctr"/>
            <a:endParaRPr lang="en-US" sz="1400" b="1" dirty="0"/>
          </a:p>
          <a:p>
            <a:pPr algn="ctr"/>
            <a:endParaRPr lang="en-US" sz="1400" b="1" dirty="0">
              <a:solidFill>
                <a:schemeClr val="tx1"/>
              </a:solidFill>
            </a:endParaRPr>
          </a:p>
        </p:txBody>
      </p:sp>
    </p:spTree>
    <p:extLst>
      <p:ext uri="{BB962C8B-B14F-4D97-AF65-F5344CB8AC3E}">
        <p14:creationId xmlns:p14="http://schemas.microsoft.com/office/powerpoint/2010/main" val="2793405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209550" y="668757"/>
            <a:ext cx="11247120" cy="457200"/>
          </a:xfrm>
          <a:prstGeom prst="rect">
            <a:avLst/>
          </a:prstGeom>
          <a:noFill/>
          <a:ln/>
        </p:spPr>
        <p:txBody>
          <a:bodyPr wrap="square" lIns="0" tIns="0" rIns="0" bIns="0" rtlCol="0" anchor="ctr"/>
          <a:lstStyle/>
          <a:p>
            <a:r>
              <a:rPr lang="en-US" sz="3200" b="1" dirty="0">
                <a:solidFill>
                  <a:srgbClr val="12395B"/>
                </a:solidFill>
                <a:latin typeface="Arial" panose="020B0604020202020204" pitchFamily="34" charset="0"/>
                <a:cs typeface="Arial" panose="020B0604020202020204" pitchFamily="34" charset="0"/>
              </a:rPr>
              <a:t>The pizza that never came</a:t>
            </a:r>
            <a:endParaRPr lang="en-US" sz="1400" b="1" dirty="0">
              <a:solidFill>
                <a:srgbClr val="12395B"/>
              </a:solidFill>
              <a:latin typeface="Arial" panose="020B0604020202020204" pitchFamily="34" charset="0"/>
              <a:ea typeface="Cambria" pitchFamily="34" charset="-122"/>
              <a:cs typeface="Arial" panose="020B0604020202020204" pitchFamily="34" charset="0"/>
            </a:endParaRPr>
          </a:p>
          <a:p>
            <a:pPr marL="0" indent="0">
              <a:buNone/>
            </a:pPr>
            <a:endParaRPr lang="en-US" sz="1400" b="1" dirty="0">
              <a:solidFill>
                <a:srgbClr val="12395B"/>
              </a:solidFill>
              <a:latin typeface="Arial" panose="020B0604020202020204" pitchFamily="34" charset="0"/>
              <a:ea typeface="Cambria" pitchFamily="34" charset="-122"/>
              <a:cs typeface="Arial" panose="020B0604020202020204" pitchFamily="34" charset="0"/>
            </a:endParaRPr>
          </a:p>
          <a:p>
            <a:r>
              <a:rPr lang="en-US" sz="1600" b="1" dirty="0">
                <a:solidFill>
                  <a:srgbClr val="5F5E5A"/>
                </a:solidFill>
                <a:latin typeface="Arial" panose="020B0604020202020204" pitchFamily="34" charset="0"/>
                <a:ea typeface="Cambria" pitchFamily="34" charset="-122"/>
                <a:cs typeface="Arial" panose="020B0604020202020204" pitchFamily="34" charset="0"/>
              </a:rPr>
              <a:t>Assumption: </a:t>
            </a:r>
            <a:r>
              <a:rPr lang="en-US" sz="1600" dirty="0">
                <a:solidFill>
                  <a:srgbClr val="5F5E5A"/>
                </a:solidFill>
                <a:latin typeface="Arial" panose="020B0604020202020204" pitchFamily="34" charset="0"/>
                <a:cs typeface="Arial" panose="020B0604020202020204" pitchFamily="34" charset="0"/>
              </a:rPr>
              <a:t>We're counting orders that work the first time.</a:t>
            </a:r>
          </a:p>
          <a:p>
            <a:endParaRPr lang="en-US" sz="1600" dirty="0">
              <a:solidFill>
                <a:srgbClr val="5F5E5A"/>
              </a:solidFill>
              <a:latin typeface="Arial" panose="020B0604020202020204" pitchFamily="34" charset="0"/>
              <a:cs typeface="Arial" panose="020B0604020202020204" pitchFamily="34" charset="0"/>
            </a:endParaRPr>
          </a:p>
          <a:p>
            <a:r>
              <a:rPr lang="en-US" sz="1600" b="1" dirty="0">
                <a:solidFill>
                  <a:srgbClr val="12395B"/>
                </a:solidFill>
                <a:latin typeface="Arial" panose="020B0604020202020204" pitchFamily="34" charset="0"/>
                <a:cs typeface="Arial" panose="020B0604020202020204" pitchFamily="34" charset="0"/>
              </a:rPr>
              <a:t>Problem: </a:t>
            </a:r>
            <a:r>
              <a:rPr lang="en-US" sz="1600" dirty="0">
                <a:solidFill>
                  <a:srgbClr val="12395B"/>
                </a:solidFill>
                <a:latin typeface="Arial" panose="020B0604020202020204" pitchFamily="34" charset="0"/>
                <a:cs typeface="Arial" panose="020B0604020202020204" pitchFamily="34" charset="0"/>
              </a:rPr>
              <a:t>You order a pizza online. The site confirms it. The pizza never comes, and you order somewhere else.</a:t>
            </a:r>
            <a:endParaRPr lang="en-US" sz="1600" b="1" dirty="0">
              <a:solidFill>
                <a:srgbClr val="12395B"/>
              </a:solidFill>
              <a:latin typeface="Arial" panose="020B0604020202020204" pitchFamily="34" charset="0"/>
              <a:cs typeface="Arial" panose="020B0604020202020204" pitchFamily="34" charset="0"/>
            </a:endParaRPr>
          </a:p>
          <a:p>
            <a:endParaRPr lang="en-US" sz="1600" dirty="0">
              <a:solidFill>
                <a:srgbClr val="5F5E5A"/>
              </a:solidFill>
              <a:latin typeface="Arial" panose="020B0604020202020204" pitchFamily="34" charset="0"/>
              <a:cs typeface="Arial" panose="020B0604020202020204" pitchFamily="34" charset="0"/>
            </a:endParaRPr>
          </a:p>
        </p:txBody>
      </p:sp>
      <p:sp>
        <p:nvSpPr>
          <p:cNvPr id="5" name="Text 3"/>
          <p:cNvSpPr txBox="1"/>
          <p:nvPr/>
        </p:nvSpPr>
        <p:spPr>
          <a:xfrm>
            <a:off x="320040" y="3355792"/>
            <a:ext cx="10665460" cy="640080"/>
          </a:xfrm>
          <a:prstGeom prst="rect">
            <a:avLst/>
          </a:prstGeom>
          <a:noFill/>
          <a:ln/>
        </p:spPr>
        <p:txBody>
          <a:bodyPr wrap="square" lIns="0" tIns="0" rIns="0" bIns="0" rtlCol="0" anchor="ctr"/>
          <a:lstStyle/>
          <a:p>
            <a:pPr marL="0" indent="0">
              <a:lnSpc>
                <a:spcPct val="110000"/>
              </a:lnSpc>
              <a:buNone/>
            </a:pPr>
            <a:r>
              <a:rPr lang="en-US" sz="1600" b="1" dirty="0">
                <a:solidFill>
                  <a:srgbClr val="496A7A"/>
                </a:solidFill>
                <a:latin typeface="Arial" panose="020B0604020202020204" pitchFamily="34" charset="0"/>
                <a:ea typeface="Calibri" pitchFamily="34" charset="-122"/>
                <a:cs typeface="Arial" panose="020B0604020202020204" pitchFamily="34" charset="0"/>
              </a:rPr>
              <a:t>The pizza place sees a slightly slow night. No complaint, no refund, no missing payment. Just fewer pizzas than they expected, and no idea why.</a:t>
            </a:r>
            <a:endParaRPr lang="en-US" sz="1600" b="1" dirty="0">
              <a:solidFill>
                <a:srgbClr val="496A7A"/>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C2D6ACAE-5488-6430-E1C3-5C8FB8FDB4B7}"/>
              </a:ext>
            </a:extLst>
          </p:cNvPr>
          <p:cNvSpPr/>
          <p:nvPr/>
        </p:nvSpPr>
        <p:spPr>
          <a:xfrm>
            <a:off x="1245233" y="2129091"/>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cs typeface="Arial" panose="020B0604020202020204" pitchFamily="34" charset="0"/>
              </a:rPr>
              <a:t>Fill out order (Digital Device)</a:t>
            </a:r>
          </a:p>
        </p:txBody>
      </p:sp>
      <p:sp>
        <p:nvSpPr>
          <p:cNvPr id="13" name="Rectangle: Rounded Corners 12">
            <a:extLst>
              <a:ext uri="{FF2B5EF4-FFF2-40B4-BE49-F238E27FC236}">
                <a16:creationId xmlns:a16="http://schemas.microsoft.com/office/drawing/2014/main" id="{8AB47320-1052-84FB-DB2D-9AA621E0CB70}"/>
              </a:ext>
            </a:extLst>
          </p:cNvPr>
          <p:cNvSpPr/>
          <p:nvPr/>
        </p:nvSpPr>
        <p:spPr>
          <a:xfrm>
            <a:off x="2883533" y="2126662"/>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Place order</a:t>
            </a:r>
          </a:p>
        </p:txBody>
      </p:sp>
      <p:sp>
        <p:nvSpPr>
          <p:cNvPr id="15" name="Rectangle: Rounded Corners 14">
            <a:extLst>
              <a:ext uri="{FF2B5EF4-FFF2-40B4-BE49-F238E27FC236}">
                <a16:creationId xmlns:a16="http://schemas.microsoft.com/office/drawing/2014/main" id="{9C5A8F7C-FF90-2C32-D99A-7EC703A4DF72}"/>
              </a:ext>
            </a:extLst>
          </p:cNvPr>
          <p:cNvSpPr/>
          <p:nvPr/>
        </p:nvSpPr>
        <p:spPr>
          <a:xfrm>
            <a:off x="4515482" y="2118465"/>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Get order confirmation</a:t>
            </a:r>
          </a:p>
        </p:txBody>
      </p:sp>
      <p:sp>
        <p:nvSpPr>
          <p:cNvPr id="17" name="Rectangle: Rounded Corners 16">
            <a:extLst>
              <a:ext uri="{FF2B5EF4-FFF2-40B4-BE49-F238E27FC236}">
                <a16:creationId xmlns:a16="http://schemas.microsoft.com/office/drawing/2014/main" id="{C5770338-5A77-FC33-4FF9-F066417E1273}"/>
              </a:ext>
            </a:extLst>
          </p:cNvPr>
          <p:cNvSpPr/>
          <p:nvPr/>
        </p:nvSpPr>
        <p:spPr>
          <a:xfrm>
            <a:off x="6191884" y="2122563"/>
            <a:ext cx="1237617" cy="292100"/>
          </a:xfrm>
          <a:prstGeom prst="roundRect">
            <a:avLst/>
          </a:prstGeom>
          <a:solidFill>
            <a:srgbClr val="06D6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Get Pizza</a:t>
            </a:r>
          </a:p>
        </p:txBody>
      </p:sp>
      <p:sp>
        <p:nvSpPr>
          <p:cNvPr id="19" name="Rectangle: Rounded Corners 18">
            <a:extLst>
              <a:ext uri="{FF2B5EF4-FFF2-40B4-BE49-F238E27FC236}">
                <a16:creationId xmlns:a16="http://schemas.microsoft.com/office/drawing/2014/main" id="{962FEE6C-F398-42CD-CA0F-41797DD23CEF}"/>
              </a:ext>
            </a:extLst>
          </p:cNvPr>
          <p:cNvSpPr/>
          <p:nvPr/>
        </p:nvSpPr>
        <p:spPr>
          <a:xfrm>
            <a:off x="1238883" y="2692042"/>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cs typeface="Arial" panose="020B0604020202020204" pitchFamily="34" charset="0"/>
              </a:rPr>
              <a:t>Fill out order (Digital Device)</a:t>
            </a:r>
          </a:p>
        </p:txBody>
      </p:sp>
      <p:sp>
        <p:nvSpPr>
          <p:cNvPr id="21" name="Rectangle: Rounded Corners 20">
            <a:extLst>
              <a:ext uri="{FF2B5EF4-FFF2-40B4-BE49-F238E27FC236}">
                <a16:creationId xmlns:a16="http://schemas.microsoft.com/office/drawing/2014/main" id="{8AC9530E-E518-BB61-F2B3-DEF8BE2A334A}"/>
              </a:ext>
            </a:extLst>
          </p:cNvPr>
          <p:cNvSpPr/>
          <p:nvPr/>
        </p:nvSpPr>
        <p:spPr>
          <a:xfrm>
            <a:off x="2883533" y="2689613"/>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Place order</a:t>
            </a:r>
          </a:p>
        </p:txBody>
      </p:sp>
      <p:sp>
        <p:nvSpPr>
          <p:cNvPr id="23" name="Rectangle: Rounded Corners 22">
            <a:extLst>
              <a:ext uri="{FF2B5EF4-FFF2-40B4-BE49-F238E27FC236}">
                <a16:creationId xmlns:a16="http://schemas.microsoft.com/office/drawing/2014/main" id="{EB18EBCD-910B-63AC-76E2-0A1523EE3C7E}"/>
              </a:ext>
            </a:extLst>
          </p:cNvPr>
          <p:cNvSpPr/>
          <p:nvPr/>
        </p:nvSpPr>
        <p:spPr>
          <a:xfrm>
            <a:off x="4528183" y="2689613"/>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Get order confirmation</a:t>
            </a:r>
          </a:p>
        </p:txBody>
      </p:sp>
      <p:cxnSp>
        <p:nvCxnSpPr>
          <p:cNvPr id="27" name="Straight Arrow Connector 26">
            <a:extLst>
              <a:ext uri="{FF2B5EF4-FFF2-40B4-BE49-F238E27FC236}">
                <a16:creationId xmlns:a16="http://schemas.microsoft.com/office/drawing/2014/main" id="{F3306C36-B876-54D0-C985-36AC8B53FEA7}"/>
              </a:ext>
            </a:extLst>
          </p:cNvPr>
          <p:cNvCxnSpPr>
            <a:stCxn id="11" idx="3"/>
            <a:endCxn id="13" idx="1"/>
          </p:cNvCxnSpPr>
          <p:nvPr/>
        </p:nvCxnSpPr>
        <p:spPr>
          <a:xfrm flipV="1">
            <a:off x="2482850" y="2272712"/>
            <a:ext cx="400683" cy="2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57C6E38-D685-92BB-A282-CFB08F49A820}"/>
              </a:ext>
            </a:extLst>
          </p:cNvPr>
          <p:cNvCxnSpPr>
            <a:cxnSpLocks/>
            <a:stCxn id="13" idx="3"/>
            <a:endCxn id="15" idx="1"/>
          </p:cNvCxnSpPr>
          <p:nvPr/>
        </p:nvCxnSpPr>
        <p:spPr>
          <a:xfrm flipV="1">
            <a:off x="4121150" y="2264515"/>
            <a:ext cx="394332" cy="81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83727CA-78C6-1BAD-4376-52F4FE3CAA97}"/>
              </a:ext>
            </a:extLst>
          </p:cNvPr>
          <p:cNvCxnSpPr>
            <a:cxnSpLocks/>
            <a:stCxn id="15" idx="3"/>
            <a:endCxn id="17" idx="1"/>
          </p:cNvCxnSpPr>
          <p:nvPr/>
        </p:nvCxnSpPr>
        <p:spPr>
          <a:xfrm>
            <a:off x="5753099" y="2264515"/>
            <a:ext cx="438785" cy="40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4AFEC08-69C8-851B-16C5-1961EF0EA1AD}"/>
              </a:ext>
            </a:extLst>
          </p:cNvPr>
          <p:cNvCxnSpPr>
            <a:cxnSpLocks/>
            <a:stCxn id="19" idx="3"/>
            <a:endCxn id="21" idx="1"/>
          </p:cNvCxnSpPr>
          <p:nvPr/>
        </p:nvCxnSpPr>
        <p:spPr>
          <a:xfrm flipV="1">
            <a:off x="2476500" y="2835663"/>
            <a:ext cx="407033" cy="2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C9D9129-D370-364D-A882-CE38D57E8DD9}"/>
              </a:ext>
            </a:extLst>
          </p:cNvPr>
          <p:cNvCxnSpPr>
            <a:cxnSpLocks/>
            <a:stCxn id="21" idx="3"/>
            <a:endCxn id="23" idx="1"/>
          </p:cNvCxnSpPr>
          <p:nvPr/>
        </p:nvCxnSpPr>
        <p:spPr>
          <a:xfrm>
            <a:off x="4121150" y="2835663"/>
            <a:ext cx="4070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814D6AD-C5B0-8FA0-93C5-99B971F3E75E}"/>
              </a:ext>
            </a:extLst>
          </p:cNvPr>
          <p:cNvCxnSpPr>
            <a:cxnSpLocks/>
            <a:stCxn id="23" idx="3"/>
            <a:endCxn id="40" idx="1"/>
          </p:cNvCxnSpPr>
          <p:nvPr/>
        </p:nvCxnSpPr>
        <p:spPr>
          <a:xfrm>
            <a:off x="5765800" y="2835663"/>
            <a:ext cx="4133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6FEC5943-AB4F-7F30-1F82-89B276C4C8EE}"/>
              </a:ext>
            </a:extLst>
          </p:cNvPr>
          <p:cNvSpPr/>
          <p:nvPr/>
        </p:nvSpPr>
        <p:spPr>
          <a:xfrm>
            <a:off x="6179183" y="2689613"/>
            <a:ext cx="1237617" cy="292100"/>
          </a:xfrm>
          <a:prstGeom prst="roundRect">
            <a:avLst/>
          </a:prstGeom>
          <a:solidFill>
            <a:srgbClr val="720C27"/>
          </a:solidFill>
          <a:ln>
            <a:solidFill>
              <a:srgbClr val="72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rPr>
              <a:t>No  Pizza</a:t>
            </a:r>
          </a:p>
        </p:txBody>
      </p:sp>
      <p:cxnSp>
        <p:nvCxnSpPr>
          <p:cNvPr id="41" name="Straight Arrow Connector 40">
            <a:extLst>
              <a:ext uri="{FF2B5EF4-FFF2-40B4-BE49-F238E27FC236}">
                <a16:creationId xmlns:a16="http://schemas.microsoft.com/office/drawing/2014/main" id="{495EE196-87E7-C918-5D78-B1608EB6DBD0}"/>
              </a:ext>
            </a:extLst>
          </p:cNvPr>
          <p:cNvCxnSpPr>
            <a:cxnSpLocks/>
            <a:stCxn id="40" idx="3"/>
            <a:endCxn id="43" idx="1"/>
          </p:cNvCxnSpPr>
          <p:nvPr/>
        </p:nvCxnSpPr>
        <p:spPr>
          <a:xfrm>
            <a:off x="7416800" y="2835663"/>
            <a:ext cx="397191" cy="2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57C31DCD-9C8E-2618-1C0F-D025F732DFBB}"/>
              </a:ext>
            </a:extLst>
          </p:cNvPr>
          <p:cNvSpPr/>
          <p:nvPr/>
        </p:nvSpPr>
        <p:spPr>
          <a:xfrm>
            <a:off x="7813991" y="2692042"/>
            <a:ext cx="1237617" cy="292100"/>
          </a:xfrm>
          <a:prstGeom prst="roundRect">
            <a:avLst/>
          </a:prstGeom>
          <a:solidFill>
            <a:srgbClr val="720C27"/>
          </a:solidFill>
          <a:ln>
            <a:solidFill>
              <a:srgbClr val="72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Order Somewhere else</a:t>
            </a:r>
          </a:p>
        </p:txBody>
      </p:sp>
      <p:sp>
        <p:nvSpPr>
          <p:cNvPr id="46" name="TextBox 45">
            <a:extLst>
              <a:ext uri="{FF2B5EF4-FFF2-40B4-BE49-F238E27FC236}">
                <a16:creationId xmlns:a16="http://schemas.microsoft.com/office/drawing/2014/main" id="{5080C6DF-811A-E6E3-CB8F-35FCBF436DE6}"/>
              </a:ext>
            </a:extLst>
          </p:cNvPr>
          <p:cNvSpPr txBox="1"/>
          <p:nvPr/>
        </p:nvSpPr>
        <p:spPr>
          <a:xfrm>
            <a:off x="320040" y="1778938"/>
            <a:ext cx="6096000" cy="307777"/>
          </a:xfrm>
          <a:prstGeom prst="rect">
            <a:avLst/>
          </a:prstGeom>
          <a:noFill/>
        </p:spPr>
        <p:txBody>
          <a:bodyPr wrap="square">
            <a:spAutoFit/>
          </a:bodyPr>
          <a:lstStyle/>
          <a:p>
            <a:r>
              <a:rPr lang="en-US" sz="1400" b="1" dirty="0">
                <a:solidFill>
                  <a:srgbClr val="086B94"/>
                </a:solidFill>
                <a:latin typeface="Arial" panose="020B0604020202020204" pitchFamily="34" charset="0"/>
                <a:ea typeface="Calibri" pitchFamily="34" charset="-122"/>
                <a:cs typeface="Arial" panose="020B0604020202020204" pitchFamily="34" charset="0"/>
              </a:rPr>
              <a:t>The Business Sees: </a:t>
            </a:r>
            <a:endParaRPr lang="en-US" dirty="0">
              <a:solidFill>
                <a:srgbClr val="086B94"/>
              </a:solidFill>
            </a:endParaRPr>
          </a:p>
        </p:txBody>
      </p:sp>
      <p:sp>
        <p:nvSpPr>
          <p:cNvPr id="48" name="TextBox 47">
            <a:extLst>
              <a:ext uri="{FF2B5EF4-FFF2-40B4-BE49-F238E27FC236}">
                <a16:creationId xmlns:a16="http://schemas.microsoft.com/office/drawing/2014/main" id="{965EB7F2-42AB-0AA1-8DFC-348692BA8185}"/>
              </a:ext>
            </a:extLst>
          </p:cNvPr>
          <p:cNvSpPr txBox="1"/>
          <p:nvPr/>
        </p:nvSpPr>
        <p:spPr>
          <a:xfrm>
            <a:off x="364490" y="2134069"/>
            <a:ext cx="1076960" cy="276999"/>
          </a:xfrm>
          <a:prstGeom prst="rect">
            <a:avLst/>
          </a:prstGeom>
          <a:noFill/>
        </p:spPr>
        <p:txBody>
          <a:bodyPr wrap="square">
            <a:spAutoFit/>
          </a:bodyPr>
          <a:lstStyle/>
          <a:p>
            <a:r>
              <a:rPr lang="en-US" sz="1200" b="1" dirty="0">
                <a:solidFill>
                  <a:schemeClr val="tx1">
                    <a:lumMod val="95000"/>
                    <a:lumOff val="5000"/>
                  </a:schemeClr>
                </a:solidFill>
                <a:latin typeface="Arial" panose="020B0604020202020204" pitchFamily="34" charset="0"/>
                <a:ea typeface="Calibri" pitchFamily="34" charset="-122"/>
                <a:cs typeface="Arial" panose="020B0604020202020204" pitchFamily="34" charset="0"/>
              </a:rPr>
              <a:t>Group 1:</a:t>
            </a:r>
            <a:endParaRPr lang="en-US" sz="1200" dirty="0"/>
          </a:p>
        </p:txBody>
      </p:sp>
      <p:sp>
        <p:nvSpPr>
          <p:cNvPr id="50" name="TextBox 49">
            <a:extLst>
              <a:ext uri="{FF2B5EF4-FFF2-40B4-BE49-F238E27FC236}">
                <a16:creationId xmlns:a16="http://schemas.microsoft.com/office/drawing/2014/main" id="{00C167E8-0E6B-AD63-50D2-3433A5C487D9}"/>
              </a:ext>
            </a:extLst>
          </p:cNvPr>
          <p:cNvSpPr txBox="1"/>
          <p:nvPr/>
        </p:nvSpPr>
        <p:spPr>
          <a:xfrm>
            <a:off x="320040" y="2662893"/>
            <a:ext cx="1001392" cy="276999"/>
          </a:xfrm>
          <a:prstGeom prst="rect">
            <a:avLst/>
          </a:prstGeom>
          <a:noFill/>
        </p:spPr>
        <p:txBody>
          <a:bodyPr wrap="square">
            <a:spAutoFit/>
          </a:bodyPr>
          <a:lstStyle/>
          <a:p>
            <a:r>
              <a:rPr lang="en-US" sz="1200" b="1" dirty="0">
                <a:solidFill>
                  <a:schemeClr val="tx1">
                    <a:lumMod val="95000"/>
                    <a:lumOff val="5000"/>
                  </a:schemeClr>
                </a:solidFill>
                <a:latin typeface="Arial" panose="020B0604020202020204" pitchFamily="34" charset="0"/>
                <a:ea typeface="Calibri" pitchFamily="34" charset="-122"/>
                <a:cs typeface="Arial" panose="020B0604020202020204" pitchFamily="34" charset="0"/>
              </a:rPr>
              <a:t>Group 2:</a:t>
            </a:r>
            <a:endParaRPr lang="en-US" sz="1200" dirty="0"/>
          </a:p>
        </p:txBody>
      </p:sp>
      <p:sp>
        <p:nvSpPr>
          <p:cNvPr id="54" name="TextBox 53">
            <a:extLst>
              <a:ext uri="{FF2B5EF4-FFF2-40B4-BE49-F238E27FC236}">
                <a16:creationId xmlns:a16="http://schemas.microsoft.com/office/drawing/2014/main" id="{891294B5-DCFC-5E68-13DB-6E6BB7EEEA05}"/>
              </a:ext>
            </a:extLst>
          </p:cNvPr>
          <p:cNvSpPr txBox="1"/>
          <p:nvPr/>
        </p:nvSpPr>
        <p:spPr>
          <a:xfrm>
            <a:off x="6172200" y="1821314"/>
            <a:ext cx="6096000" cy="307777"/>
          </a:xfrm>
          <a:prstGeom prst="rect">
            <a:avLst/>
          </a:prstGeom>
          <a:noFill/>
        </p:spPr>
        <p:txBody>
          <a:bodyPr wrap="square">
            <a:spAutoFit/>
          </a:bodyPr>
          <a:lstStyle/>
          <a:p>
            <a:r>
              <a:rPr lang="en-US" sz="1400" b="1" dirty="0">
                <a:solidFill>
                  <a:srgbClr val="086B94"/>
                </a:solidFill>
                <a:latin typeface="Arial" panose="020B0604020202020204" pitchFamily="34" charset="0"/>
                <a:ea typeface="Calibri" pitchFamily="34" charset="-122"/>
                <a:cs typeface="Arial" panose="020B0604020202020204" pitchFamily="34" charset="0"/>
              </a:rPr>
              <a:t>The Customer Experience:</a:t>
            </a:r>
            <a:endParaRPr lang="en-US" dirty="0">
              <a:solidFill>
                <a:srgbClr val="086B94"/>
              </a:solidFill>
            </a:endParaRPr>
          </a:p>
        </p:txBody>
      </p:sp>
      <p:cxnSp>
        <p:nvCxnSpPr>
          <p:cNvPr id="56" name="Straight Connector 55">
            <a:extLst>
              <a:ext uri="{FF2B5EF4-FFF2-40B4-BE49-F238E27FC236}">
                <a16:creationId xmlns:a16="http://schemas.microsoft.com/office/drawing/2014/main" id="{B5DF4348-D2C5-3268-B44E-1F3D551F0CDE}"/>
              </a:ext>
            </a:extLst>
          </p:cNvPr>
          <p:cNvCxnSpPr>
            <a:cxnSpLocks/>
          </p:cNvCxnSpPr>
          <p:nvPr/>
        </p:nvCxnSpPr>
        <p:spPr>
          <a:xfrm>
            <a:off x="5940741" y="1821314"/>
            <a:ext cx="0" cy="1251796"/>
          </a:xfrm>
          <a:prstGeom prst="line">
            <a:avLst/>
          </a:prstGeom>
          <a:ln w="9525">
            <a:solidFill>
              <a:srgbClr val="720C27"/>
            </a:solidFill>
            <a:prstDash val="dash"/>
          </a:ln>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8FB0FEFE-6108-8BE6-3D1A-42BF76E0C96C}"/>
              </a:ext>
            </a:extLst>
          </p:cNvPr>
          <p:cNvSpPr/>
          <p:nvPr/>
        </p:nvSpPr>
        <p:spPr>
          <a:xfrm>
            <a:off x="209550" y="1780706"/>
            <a:ext cx="10414000" cy="150859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C62919A4-FA6C-4185-EFB9-BB10E44097C7}"/>
              </a:ext>
            </a:extLst>
          </p:cNvPr>
          <p:cNvSpPr txBox="1"/>
          <p:nvPr/>
        </p:nvSpPr>
        <p:spPr>
          <a:xfrm>
            <a:off x="4959350" y="3010672"/>
            <a:ext cx="6134100" cy="276999"/>
          </a:xfrm>
          <a:prstGeom prst="rect">
            <a:avLst/>
          </a:prstGeom>
          <a:noFill/>
        </p:spPr>
        <p:txBody>
          <a:bodyPr wrap="square">
            <a:spAutoFit/>
          </a:bodyPr>
          <a:lstStyle/>
          <a:p>
            <a:r>
              <a:rPr lang="en-US" sz="1200" dirty="0">
                <a:solidFill>
                  <a:srgbClr val="720C27"/>
                </a:solidFill>
                <a:latin typeface="Arial" panose="020B0604020202020204" pitchFamily="34" charset="0"/>
                <a:cs typeface="Arial" panose="020B0604020202020204" pitchFamily="34" charset="0"/>
              </a:rPr>
              <a:t>The business's view ends here.</a:t>
            </a:r>
          </a:p>
        </p:txBody>
      </p:sp>
      <p:sp>
        <p:nvSpPr>
          <p:cNvPr id="74" name="TextBox 73">
            <a:extLst>
              <a:ext uri="{FF2B5EF4-FFF2-40B4-BE49-F238E27FC236}">
                <a16:creationId xmlns:a16="http://schemas.microsoft.com/office/drawing/2014/main" id="{63441485-D699-3D04-0BE7-46A394D326AD}"/>
              </a:ext>
            </a:extLst>
          </p:cNvPr>
          <p:cNvSpPr txBox="1"/>
          <p:nvPr/>
        </p:nvSpPr>
        <p:spPr>
          <a:xfrm>
            <a:off x="158750" y="6220706"/>
            <a:ext cx="10665460" cy="369332"/>
          </a:xfrm>
          <a:prstGeom prst="rect">
            <a:avLst/>
          </a:prstGeom>
          <a:noFill/>
        </p:spPr>
        <p:txBody>
          <a:bodyPr wrap="square">
            <a:spAutoFit/>
          </a:bodyPr>
          <a:lstStyle/>
          <a:p>
            <a:r>
              <a:rPr lang="en-US" b="1" dirty="0">
                <a:solidFill>
                  <a:srgbClr val="12395B"/>
                </a:solidFill>
              </a:rPr>
              <a:t>Takeaway:</a:t>
            </a:r>
            <a:r>
              <a:rPr lang="en-US" dirty="0">
                <a:solidFill>
                  <a:srgbClr val="12395B"/>
                </a:solidFill>
              </a:rPr>
              <a:t> No charge, no complaint, no record. A loss nobody can see is a loss nobody fixes.</a:t>
            </a:r>
          </a:p>
        </p:txBody>
      </p:sp>
      <p:sp>
        <p:nvSpPr>
          <p:cNvPr id="81" name="TextBox 80">
            <a:extLst>
              <a:ext uri="{FF2B5EF4-FFF2-40B4-BE49-F238E27FC236}">
                <a16:creationId xmlns:a16="http://schemas.microsoft.com/office/drawing/2014/main" id="{89A3547B-DFFD-83D9-7C7C-7135225E77DF}"/>
              </a:ext>
            </a:extLst>
          </p:cNvPr>
          <p:cNvSpPr txBox="1"/>
          <p:nvPr/>
        </p:nvSpPr>
        <p:spPr>
          <a:xfrm>
            <a:off x="278130" y="4260278"/>
            <a:ext cx="10580370" cy="1600438"/>
          </a:xfrm>
          <a:prstGeom prst="rect">
            <a:avLst/>
          </a:prstGeom>
          <a:noFill/>
        </p:spPr>
        <p:txBody>
          <a:bodyPr wrap="square">
            <a:spAutoFit/>
          </a:bodyPr>
          <a:lstStyle/>
          <a:p>
            <a:pPr rtl="0">
              <a:buNone/>
            </a:pPr>
            <a:r>
              <a:rPr lang="en-US" sz="1600" b="1" dirty="0">
                <a:solidFill>
                  <a:srgbClr val="086B94"/>
                </a:solidFill>
              </a:rPr>
              <a:t>How each team explains the slow night</a:t>
            </a:r>
            <a:endParaRPr lang="en-US" sz="1600" dirty="0">
              <a:solidFill>
                <a:srgbClr val="086B94"/>
              </a:solidFill>
            </a:endParaRPr>
          </a:p>
          <a:p>
            <a:pPr marL="285750" indent="-285750" rtl="0">
              <a:buFont typeface="Arial" panose="020B0604020202020204" pitchFamily="34" charset="0"/>
              <a:buChar char="•"/>
            </a:pPr>
            <a:r>
              <a:rPr lang="en-US" sz="1600" b="1" dirty="0">
                <a:solidFill>
                  <a:srgbClr val="086B94"/>
                </a:solidFill>
              </a:rPr>
              <a:t>The owner (P&amp;C):</a:t>
            </a:r>
            <a:r>
              <a:rPr lang="en-US" sz="1600" dirty="0">
                <a:solidFill>
                  <a:srgbClr val="086B94"/>
                </a:solidFill>
              </a:rPr>
              <a:t> "Sales are down. Fewer pizzas than we expected.“</a:t>
            </a:r>
          </a:p>
          <a:p>
            <a:pPr marL="285750" indent="-285750" rtl="0">
              <a:buFont typeface="Arial" panose="020B0604020202020204" pitchFamily="34" charset="0"/>
              <a:buChar char="•"/>
            </a:pPr>
            <a:r>
              <a:rPr lang="en-US" sz="1600" b="1" dirty="0">
                <a:solidFill>
                  <a:srgbClr val="086B94"/>
                </a:solidFill>
              </a:rPr>
              <a:t>The website team (IT):</a:t>
            </a:r>
            <a:r>
              <a:rPr lang="en-US" sz="1600" dirty="0">
                <a:solidFill>
                  <a:srgbClr val="086B94"/>
                </a:solidFill>
              </a:rPr>
              <a:t> "Every order went through. Our system shows success.“</a:t>
            </a:r>
          </a:p>
          <a:p>
            <a:pPr marL="285750" indent="-285750" rtl="0">
              <a:buFont typeface="Arial" panose="020B0604020202020204" pitchFamily="34" charset="0"/>
              <a:buChar char="•"/>
            </a:pPr>
            <a:r>
              <a:rPr lang="en-US" sz="1600" b="1" dirty="0">
                <a:solidFill>
                  <a:srgbClr val="086B94"/>
                </a:solidFill>
              </a:rPr>
              <a:t>Marketing:</a:t>
            </a:r>
            <a:r>
              <a:rPr lang="en-US" sz="1600" dirty="0">
                <a:solidFill>
                  <a:srgbClr val="086B94"/>
                </a:solidFill>
              </a:rPr>
              <a:t> "We need more people to see our ads.“</a:t>
            </a:r>
          </a:p>
          <a:p>
            <a:pPr rtl="0"/>
            <a:endParaRPr lang="en-US" sz="1600" dirty="0">
              <a:solidFill>
                <a:srgbClr val="086B94"/>
              </a:solidFill>
            </a:endParaRPr>
          </a:p>
          <a:p>
            <a:r>
              <a:rPr lang="en-US" b="1" dirty="0">
                <a:solidFill>
                  <a:srgbClr val="12395B"/>
                </a:solidFill>
              </a:rPr>
              <a:t>Everyone is right about their own numbers. No one on the business side knows the pizza never came.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E60B-A9B2-92BF-153B-67EAEBE79C0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7B145A-7D34-A176-EDBB-F36374F58D44}"/>
              </a:ext>
            </a:extLst>
          </p:cNvPr>
          <p:cNvSpPr txBox="1"/>
          <p:nvPr/>
        </p:nvSpPr>
        <p:spPr>
          <a:xfrm>
            <a:off x="209550" y="668757"/>
            <a:ext cx="11247120" cy="457200"/>
          </a:xfrm>
          <a:prstGeom prst="rect">
            <a:avLst/>
          </a:prstGeom>
          <a:noFill/>
          <a:ln/>
        </p:spPr>
        <p:txBody>
          <a:bodyPr wrap="square" lIns="0" tIns="0" rIns="0" bIns="0" rtlCol="0" anchor="ctr"/>
          <a:lstStyle/>
          <a:p>
            <a:r>
              <a:rPr lang="en-US" sz="3200" b="1" dirty="0">
                <a:solidFill>
                  <a:srgbClr val="12395B"/>
                </a:solidFill>
                <a:latin typeface="Arial" panose="020B0604020202020204" pitchFamily="34" charset="0"/>
                <a:cs typeface="Arial" panose="020B0604020202020204" pitchFamily="34" charset="0"/>
              </a:rPr>
              <a:t>The pizza that never came</a:t>
            </a:r>
            <a:endParaRPr lang="en-US" sz="1400" b="1" dirty="0">
              <a:solidFill>
                <a:srgbClr val="12395B"/>
              </a:solidFill>
              <a:latin typeface="Arial" panose="020B0604020202020204" pitchFamily="34" charset="0"/>
              <a:ea typeface="Cambria" pitchFamily="34" charset="-122"/>
              <a:cs typeface="Arial" panose="020B0604020202020204" pitchFamily="34" charset="0"/>
            </a:endParaRPr>
          </a:p>
          <a:p>
            <a:pPr marL="0" indent="0">
              <a:buNone/>
            </a:pPr>
            <a:endParaRPr lang="en-US" sz="1400" b="1" dirty="0">
              <a:solidFill>
                <a:srgbClr val="12395B"/>
              </a:solidFill>
              <a:latin typeface="Arial" panose="020B0604020202020204" pitchFamily="34" charset="0"/>
              <a:ea typeface="Cambria" pitchFamily="34" charset="-122"/>
              <a:cs typeface="Arial" panose="020B0604020202020204" pitchFamily="34" charset="0"/>
            </a:endParaRPr>
          </a:p>
          <a:p>
            <a:r>
              <a:rPr lang="en-US" sz="1600" b="1" dirty="0">
                <a:solidFill>
                  <a:srgbClr val="5F5E5A"/>
                </a:solidFill>
                <a:latin typeface="Arial" panose="020B0604020202020204" pitchFamily="34" charset="0"/>
                <a:ea typeface="Cambria" pitchFamily="34" charset="-122"/>
                <a:cs typeface="Arial" panose="020B0604020202020204" pitchFamily="34" charset="0"/>
              </a:rPr>
              <a:t>Assumption: </a:t>
            </a:r>
            <a:r>
              <a:rPr lang="en-US" sz="1600" dirty="0">
                <a:solidFill>
                  <a:srgbClr val="5F5E5A"/>
                </a:solidFill>
                <a:latin typeface="Arial" panose="020B0604020202020204" pitchFamily="34" charset="0"/>
                <a:cs typeface="Arial" panose="020B0604020202020204" pitchFamily="34" charset="0"/>
              </a:rPr>
              <a:t>We're counting orders that work the first time.</a:t>
            </a:r>
          </a:p>
          <a:p>
            <a:endParaRPr lang="en-US" sz="1600" dirty="0">
              <a:solidFill>
                <a:srgbClr val="5F5E5A"/>
              </a:solidFill>
              <a:latin typeface="Arial" panose="020B0604020202020204" pitchFamily="34" charset="0"/>
              <a:cs typeface="Arial" panose="020B0604020202020204" pitchFamily="34" charset="0"/>
            </a:endParaRPr>
          </a:p>
          <a:p>
            <a:r>
              <a:rPr lang="en-US" sz="1600" b="1" dirty="0">
                <a:solidFill>
                  <a:srgbClr val="12395B"/>
                </a:solidFill>
                <a:latin typeface="Arial" panose="020B0604020202020204" pitchFamily="34" charset="0"/>
                <a:cs typeface="Arial" panose="020B0604020202020204" pitchFamily="34" charset="0"/>
              </a:rPr>
              <a:t>Problem: </a:t>
            </a:r>
            <a:r>
              <a:rPr lang="en-US" sz="1600" dirty="0">
                <a:solidFill>
                  <a:srgbClr val="12395B"/>
                </a:solidFill>
                <a:latin typeface="Arial" panose="020B0604020202020204" pitchFamily="34" charset="0"/>
                <a:cs typeface="Arial" panose="020B0604020202020204" pitchFamily="34" charset="0"/>
              </a:rPr>
              <a:t>You order a pizza online. The site confirms it. The pizza never comes, and you order somewhere else.</a:t>
            </a:r>
            <a:endParaRPr lang="en-US" sz="1600" b="1" dirty="0">
              <a:solidFill>
                <a:srgbClr val="12395B"/>
              </a:solidFill>
              <a:latin typeface="Arial" panose="020B0604020202020204" pitchFamily="34" charset="0"/>
              <a:cs typeface="Arial" panose="020B0604020202020204" pitchFamily="34" charset="0"/>
            </a:endParaRPr>
          </a:p>
          <a:p>
            <a:endParaRPr lang="en-US" sz="1600" dirty="0">
              <a:solidFill>
                <a:srgbClr val="5F5E5A"/>
              </a:solidFill>
              <a:latin typeface="Arial" panose="020B0604020202020204" pitchFamily="34" charset="0"/>
              <a:cs typeface="Arial" panose="020B0604020202020204" pitchFamily="34" charset="0"/>
            </a:endParaRPr>
          </a:p>
        </p:txBody>
      </p:sp>
      <p:sp>
        <p:nvSpPr>
          <p:cNvPr id="5" name="Text 3">
            <a:extLst>
              <a:ext uri="{FF2B5EF4-FFF2-40B4-BE49-F238E27FC236}">
                <a16:creationId xmlns:a16="http://schemas.microsoft.com/office/drawing/2014/main" id="{6BEE481F-D779-584F-2621-F9CFA3EC7530}"/>
              </a:ext>
            </a:extLst>
          </p:cNvPr>
          <p:cNvSpPr txBox="1"/>
          <p:nvPr/>
        </p:nvSpPr>
        <p:spPr>
          <a:xfrm>
            <a:off x="320040" y="3355792"/>
            <a:ext cx="10665460" cy="640080"/>
          </a:xfrm>
          <a:prstGeom prst="rect">
            <a:avLst/>
          </a:prstGeom>
          <a:noFill/>
          <a:ln/>
        </p:spPr>
        <p:txBody>
          <a:bodyPr wrap="square" lIns="0" tIns="0" rIns="0" bIns="0" rtlCol="0" anchor="ctr"/>
          <a:lstStyle/>
          <a:p>
            <a:pPr marL="0" indent="0">
              <a:lnSpc>
                <a:spcPct val="110000"/>
              </a:lnSpc>
              <a:buNone/>
            </a:pPr>
            <a:r>
              <a:rPr lang="en-US" sz="1600" b="1" dirty="0">
                <a:solidFill>
                  <a:srgbClr val="496A7A"/>
                </a:solidFill>
                <a:latin typeface="Arial" panose="020B0604020202020204" pitchFamily="34" charset="0"/>
                <a:ea typeface="Calibri" pitchFamily="34" charset="-122"/>
                <a:cs typeface="Arial" panose="020B0604020202020204" pitchFamily="34" charset="0"/>
              </a:rPr>
              <a:t>The pizza place sees a slightly slow night. No complaint, no refund, no missing payment. Just fewer pizzas than they expected, and no idea why.</a:t>
            </a:r>
            <a:endParaRPr lang="en-US" sz="1600" b="1" dirty="0">
              <a:solidFill>
                <a:srgbClr val="496A7A"/>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470032CA-B4C8-EC60-596C-CB46B8BDA0E6}"/>
              </a:ext>
            </a:extLst>
          </p:cNvPr>
          <p:cNvSpPr/>
          <p:nvPr/>
        </p:nvSpPr>
        <p:spPr>
          <a:xfrm>
            <a:off x="1245233" y="2129091"/>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cs typeface="Arial" panose="020B0604020202020204" pitchFamily="34" charset="0"/>
              </a:rPr>
              <a:t>Fill out order (Digital Device)</a:t>
            </a:r>
          </a:p>
        </p:txBody>
      </p:sp>
      <p:sp>
        <p:nvSpPr>
          <p:cNvPr id="13" name="Rectangle: Rounded Corners 12">
            <a:extLst>
              <a:ext uri="{FF2B5EF4-FFF2-40B4-BE49-F238E27FC236}">
                <a16:creationId xmlns:a16="http://schemas.microsoft.com/office/drawing/2014/main" id="{41AB0A80-60BA-A3E3-DA7B-48EDE58BC873}"/>
              </a:ext>
            </a:extLst>
          </p:cNvPr>
          <p:cNvSpPr/>
          <p:nvPr/>
        </p:nvSpPr>
        <p:spPr>
          <a:xfrm>
            <a:off x="2883533" y="2126662"/>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Place order</a:t>
            </a:r>
          </a:p>
        </p:txBody>
      </p:sp>
      <p:sp>
        <p:nvSpPr>
          <p:cNvPr id="15" name="Rectangle: Rounded Corners 14">
            <a:extLst>
              <a:ext uri="{FF2B5EF4-FFF2-40B4-BE49-F238E27FC236}">
                <a16:creationId xmlns:a16="http://schemas.microsoft.com/office/drawing/2014/main" id="{52C8E119-25A3-7664-7DBE-9F1311A017D9}"/>
              </a:ext>
            </a:extLst>
          </p:cNvPr>
          <p:cNvSpPr/>
          <p:nvPr/>
        </p:nvSpPr>
        <p:spPr>
          <a:xfrm>
            <a:off x="4515482" y="2118465"/>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Get order confirmation</a:t>
            </a:r>
          </a:p>
        </p:txBody>
      </p:sp>
      <p:sp>
        <p:nvSpPr>
          <p:cNvPr id="17" name="Rectangle: Rounded Corners 16">
            <a:extLst>
              <a:ext uri="{FF2B5EF4-FFF2-40B4-BE49-F238E27FC236}">
                <a16:creationId xmlns:a16="http://schemas.microsoft.com/office/drawing/2014/main" id="{A1DE2F23-AB73-57F8-BA0E-DCE085BEA5B2}"/>
              </a:ext>
            </a:extLst>
          </p:cNvPr>
          <p:cNvSpPr/>
          <p:nvPr/>
        </p:nvSpPr>
        <p:spPr>
          <a:xfrm>
            <a:off x="6191884" y="2122563"/>
            <a:ext cx="1237617" cy="292100"/>
          </a:xfrm>
          <a:prstGeom prst="roundRect">
            <a:avLst/>
          </a:prstGeom>
          <a:solidFill>
            <a:srgbClr val="06D6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Get Pizza</a:t>
            </a:r>
          </a:p>
        </p:txBody>
      </p:sp>
      <p:sp>
        <p:nvSpPr>
          <p:cNvPr id="19" name="Rectangle: Rounded Corners 18">
            <a:extLst>
              <a:ext uri="{FF2B5EF4-FFF2-40B4-BE49-F238E27FC236}">
                <a16:creationId xmlns:a16="http://schemas.microsoft.com/office/drawing/2014/main" id="{F2178603-70DD-E63A-FD96-E5D516242ECC}"/>
              </a:ext>
            </a:extLst>
          </p:cNvPr>
          <p:cNvSpPr/>
          <p:nvPr/>
        </p:nvSpPr>
        <p:spPr>
          <a:xfrm>
            <a:off x="1238883" y="2692042"/>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cs typeface="Arial" panose="020B0604020202020204" pitchFamily="34" charset="0"/>
              </a:rPr>
              <a:t>Fill out order (Digital Device)</a:t>
            </a:r>
          </a:p>
        </p:txBody>
      </p:sp>
      <p:sp>
        <p:nvSpPr>
          <p:cNvPr id="21" name="Rectangle: Rounded Corners 20">
            <a:extLst>
              <a:ext uri="{FF2B5EF4-FFF2-40B4-BE49-F238E27FC236}">
                <a16:creationId xmlns:a16="http://schemas.microsoft.com/office/drawing/2014/main" id="{4A4D7C2D-7C12-6B3C-9590-763D5892CD3D}"/>
              </a:ext>
            </a:extLst>
          </p:cNvPr>
          <p:cNvSpPr/>
          <p:nvPr/>
        </p:nvSpPr>
        <p:spPr>
          <a:xfrm>
            <a:off x="2883533" y="2689613"/>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Place order</a:t>
            </a:r>
          </a:p>
        </p:txBody>
      </p:sp>
      <p:sp>
        <p:nvSpPr>
          <p:cNvPr id="23" name="Rectangle: Rounded Corners 22">
            <a:extLst>
              <a:ext uri="{FF2B5EF4-FFF2-40B4-BE49-F238E27FC236}">
                <a16:creationId xmlns:a16="http://schemas.microsoft.com/office/drawing/2014/main" id="{FECBB339-114A-CE52-6A7E-1A77DA4B6A8C}"/>
              </a:ext>
            </a:extLst>
          </p:cNvPr>
          <p:cNvSpPr/>
          <p:nvPr/>
        </p:nvSpPr>
        <p:spPr>
          <a:xfrm>
            <a:off x="4528183" y="2689613"/>
            <a:ext cx="1237617" cy="292100"/>
          </a:xfrm>
          <a:prstGeom prst="roundRect">
            <a:avLst/>
          </a:prstGeom>
          <a:solidFill>
            <a:srgbClr val="123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Get order confirmation</a:t>
            </a:r>
          </a:p>
        </p:txBody>
      </p:sp>
      <p:cxnSp>
        <p:nvCxnSpPr>
          <p:cNvPr id="27" name="Straight Arrow Connector 26">
            <a:extLst>
              <a:ext uri="{FF2B5EF4-FFF2-40B4-BE49-F238E27FC236}">
                <a16:creationId xmlns:a16="http://schemas.microsoft.com/office/drawing/2014/main" id="{8E996F32-2F6B-6520-7DBF-A944F304FAD1}"/>
              </a:ext>
            </a:extLst>
          </p:cNvPr>
          <p:cNvCxnSpPr>
            <a:stCxn id="11" idx="3"/>
            <a:endCxn id="13" idx="1"/>
          </p:cNvCxnSpPr>
          <p:nvPr/>
        </p:nvCxnSpPr>
        <p:spPr>
          <a:xfrm flipV="1">
            <a:off x="2482850" y="2272712"/>
            <a:ext cx="400683" cy="2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AB8124F-21B6-10DA-EEE9-3C82D5E3A44D}"/>
              </a:ext>
            </a:extLst>
          </p:cNvPr>
          <p:cNvCxnSpPr>
            <a:cxnSpLocks/>
            <a:stCxn id="13" idx="3"/>
            <a:endCxn id="15" idx="1"/>
          </p:cNvCxnSpPr>
          <p:nvPr/>
        </p:nvCxnSpPr>
        <p:spPr>
          <a:xfrm flipV="1">
            <a:off x="4121150" y="2264515"/>
            <a:ext cx="394332" cy="81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3C39FDB-ABED-8343-226F-1F9D3A1CC572}"/>
              </a:ext>
            </a:extLst>
          </p:cNvPr>
          <p:cNvCxnSpPr>
            <a:cxnSpLocks/>
            <a:stCxn id="15" idx="3"/>
            <a:endCxn id="17" idx="1"/>
          </p:cNvCxnSpPr>
          <p:nvPr/>
        </p:nvCxnSpPr>
        <p:spPr>
          <a:xfrm>
            <a:off x="5753099" y="2264515"/>
            <a:ext cx="438785" cy="40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2946AA2-3D29-E6DD-D522-A93A943AB113}"/>
              </a:ext>
            </a:extLst>
          </p:cNvPr>
          <p:cNvCxnSpPr>
            <a:cxnSpLocks/>
            <a:stCxn id="19" idx="3"/>
            <a:endCxn id="21" idx="1"/>
          </p:cNvCxnSpPr>
          <p:nvPr/>
        </p:nvCxnSpPr>
        <p:spPr>
          <a:xfrm flipV="1">
            <a:off x="2476500" y="2835663"/>
            <a:ext cx="407033" cy="2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503B245-EEFE-3258-4EE8-6CBEC37DBCF5}"/>
              </a:ext>
            </a:extLst>
          </p:cNvPr>
          <p:cNvCxnSpPr>
            <a:cxnSpLocks/>
            <a:stCxn id="21" idx="3"/>
            <a:endCxn id="23" idx="1"/>
          </p:cNvCxnSpPr>
          <p:nvPr/>
        </p:nvCxnSpPr>
        <p:spPr>
          <a:xfrm>
            <a:off x="4121150" y="2835663"/>
            <a:ext cx="4070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58BB83DD-0028-CEC3-792B-DA297B5C35E2}"/>
              </a:ext>
            </a:extLst>
          </p:cNvPr>
          <p:cNvCxnSpPr>
            <a:cxnSpLocks/>
            <a:stCxn id="23" idx="3"/>
            <a:endCxn id="40" idx="1"/>
          </p:cNvCxnSpPr>
          <p:nvPr/>
        </p:nvCxnSpPr>
        <p:spPr>
          <a:xfrm>
            <a:off x="5765800" y="2835663"/>
            <a:ext cx="4133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EC25DFB4-A15B-28E9-461B-CCB9E87A89C0}"/>
              </a:ext>
            </a:extLst>
          </p:cNvPr>
          <p:cNvSpPr/>
          <p:nvPr/>
        </p:nvSpPr>
        <p:spPr>
          <a:xfrm>
            <a:off x="6179183" y="2689613"/>
            <a:ext cx="1237617" cy="292100"/>
          </a:xfrm>
          <a:prstGeom prst="roundRect">
            <a:avLst/>
          </a:prstGeom>
          <a:solidFill>
            <a:srgbClr val="720C27"/>
          </a:solidFill>
          <a:ln>
            <a:solidFill>
              <a:srgbClr val="72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rPr>
              <a:t>No  Pizza</a:t>
            </a:r>
          </a:p>
        </p:txBody>
      </p:sp>
      <p:cxnSp>
        <p:nvCxnSpPr>
          <p:cNvPr id="41" name="Straight Arrow Connector 40">
            <a:extLst>
              <a:ext uri="{FF2B5EF4-FFF2-40B4-BE49-F238E27FC236}">
                <a16:creationId xmlns:a16="http://schemas.microsoft.com/office/drawing/2014/main" id="{3255E0D5-F6FB-6C0C-1AFA-17BF11EE4175}"/>
              </a:ext>
            </a:extLst>
          </p:cNvPr>
          <p:cNvCxnSpPr>
            <a:cxnSpLocks/>
            <a:stCxn id="40" idx="3"/>
            <a:endCxn id="43" idx="1"/>
          </p:cNvCxnSpPr>
          <p:nvPr/>
        </p:nvCxnSpPr>
        <p:spPr>
          <a:xfrm>
            <a:off x="7416800" y="2835663"/>
            <a:ext cx="397191" cy="2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5B5A1A63-376A-68B4-CDDC-0D7483520F16}"/>
              </a:ext>
            </a:extLst>
          </p:cNvPr>
          <p:cNvSpPr/>
          <p:nvPr/>
        </p:nvSpPr>
        <p:spPr>
          <a:xfrm>
            <a:off x="7813991" y="2692042"/>
            <a:ext cx="1237617" cy="292100"/>
          </a:xfrm>
          <a:prstGeom prst="roundRect">
            <a:avLst/>
          </a:prstGeom>
          <a:solidFill>
            <a:srgbClr val="720C27"/>
          </a:solidFill>
          <a:ln>
            <a:solidFill>
              <a:srgbClr val="72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Order Somewhere else</a:t>
            </a:r>
          </a:p>
        </p:txBody>
      </p:sp>
      <p:sp>
        <p:nvSpPr>
          <p:cNvPr id="46" name="TextBox 45">
            <a:extLst>
              <a:ext uri="{FF2B5EF4-FFF2-40B4-BE49-F238E27FC236}">
                <a16:creationId xmlns:a16="http://schemas.microsoft.com/office/drawing/2014/main" id="{AEA2F3AD-4CF4-8B6D-F5F4-C460329E9750}"/>
              </a:ext>
            </a:extLst>
          </p:cNvPr>
          <p:cNvSpPr txBox="1"/>
          <p:nvPr/>
        </p:nvSpPr>
        <p:spPr>
          <a:xfrm>
            <a:off x="320040" y="1778938"/>
            <a:ext cx="6096000" cy="307777"/>
          </a:xfrm>
          <a:prstGeom prst="rect">
            <a:avLst/>
          </a:prstGeom>
          <a:noFill/>
        </p:spPr>
        <p:txBody>
          <a:bodyPr wrap="square">
            <a:spAutoFit/>
          </a:bodyPr>
          <a:lstStyle/>
          <a:p>
            <a:r>
              <a:rPr lang="en-US" sz="1400" b="1" dirty="0">
                <a:solidFill>
                  <a:srgbClr val="086B94"/>
                </a:solidFill>
                <a:latin typeface="Arial" panose="020B0604020202020204" pitchFamily="34" charset="0"/>
                <a:ea typeface="Calibri" pitchFamily="34" charset="-122"/>
                <a:cs typeface="Arial" panose="020B0604020202020204" pitchFamily="34" charset="0"/>
              </a:rPr>
              <a:t>The Business Sees: </a:t>
            </a:r>
            <a:endParaRPr lang="en-US" dirty="0">
              <a:solidFill>
                <a:srgbClr val="086B94"/>
              </a:solidFill>
            </a:endParaRPr>
          </a:p>
        </p:txBody>
      </p:sp>
      <p:sp>
        <p:nvSpPr>
          <p:cNvPr id="48" name="TextBox 47">
            <a:extLst>
              <a:ext uri="{FF2B5EF4-FFF2-40B4-BE49-F238E27FC236}">
                <a16:creationId xmlns:a16="http://schemas.microsoft.com/office/drawing/2014/main" id="{252CE19B-21EE-5F70-4A59-B3BEE4A6C6FD}"/>
              </a:ext>
            </a:extLst>
          </p:cNvPr>
          <p:cNvSpPr txBox="1"/>
          <p:nvPr/>
        </p:nvSpPr>
        <p:spPr>
          <a:xfrm>
            <a:off x="364490" y="2134069"/>
            <a:ext cx="1076960" cy="276999"/>
          </a:xfrm>
          <a:prstGeom prst="rect">
            <a:avLst/>
          </a:prstGeom>
          <a:noFill/>
        </p:spPr>
        <p:txBody>
          <a:bodyPr wrap="square">
            <a:spAutoFit/>
          </a:bodyPr>
          <a:lstStyle/>
          <a:p>
            <a:r>
              <a:rPr lang="en-US" sz="1200" b="1" dirty="0">
                <a:solidFill>
                  <a:schemeClr val="tx1">
                    <a:lumMod val="95000"/>
                    <a:lumOff val="5000"/>
                  </a:schemeClr>
                </a:solidFill>
                <a:latin typeface="Arial" panose="020B0604020202020204" pitchFamily="34" charset="0"/>
                <a:ea typeface="Calibri" pitchFamily="34" charset="-122"/>
                <a:cs typeface="Arial" panose="020B0604020202020204" pitchFamily="34" charset="0"/>
              </a:rPr>
              <a:t>Group 1:</a:t>
            </a:r>
            <a:endParaRPr lang="en-US" sz="1200" dirty="0"/>
          </a:p>
        </p:txBody>
      </p:sp>
      <p:sp>
        <p:nvSpPr>
          <p:cNvPr id="50" name="TextBox 49">
            <a:extLst>
              <a:ext uri="{FF2B5EF4-FFF2-40B4-BE49-F238E27FC236}">
                <a16:creationId xmlns:a16="http://schemas.microsoft.com/office/drawing/2014/main" id="{2313176E-4C06-6CE4-1223-B5809F9E11E9}"/>
              </a:ext>
            </a:extLst>
          </p:cNvPr>
          <p:cNvSpPr txBox="1"/>
          <p:nvPr/>
        </p:nvSpPr>
        <p:spPr>
          <a:xfrm>
            <a:off x="320040" y="2662893"/>
            <a:ext cx="1001392" cy="276999"/>
          </a:xfrm>
          <a:prstGeom prst="rect">
            <a:avLst/>
          </a:prstGeom>
          <a:noFill/>
        </p:spPr>
        <p:txBody>
          <a:bodyPr wrap="square">
            <a:spAutoFit/>
          </a:bodyPr>
          <a:lstStyle/>
          <a:p>
            <a:r>
              <a:rPr lang="en-US" sz="1200" b="1" dirty="0">
                <a:solidFill>
                  <a:schemeClr val="tx1">
                    <a:lumMod val="95000"/>
                    <a:lumOff val="5000"/>
                  </a:schemeClr>
                </a:solidFill>
                <a:latin typeface="Arial" panose="020B0604020202020204" pitchFamily="34" charset="0"/>
                <a:ea typeface="Calibri" pitchFamily="34" charset="-122"/>
                <a:cs typeface="Arial" panose="020B0604020202020204" pitchFamily="34" charset="0"/>
              </a:rPr>
              <a:t>Group 2:</a:t>
            </a:r>
            <a:endParaRPr lang="en-US" sz="1200" dirty="0"/>
          </a:p>
        </p:txBody>
      </p:sp>
      <p:sp>
        <p:nvSpPr>
          <p:cNvPr id="54" name="TextBox 53">
            <a:extLst>
              <a:ext uri="{FF2B5EF4-FFF2-40B4-BE49-F238E27FC236}">
                <a16:creationId xmlns:a16="http://schemas.microsoft.com/office/drawing/2014/main" id="{5B6788B9-CD55-FC56-58DC-CD177BFC3AEF}"/>
              </a:ext>
            </a:extLst>
          </p:cNvPr>
          <p:cNvSpPr txBox="1"/>
          <p:nvPr/>
        </p:nvSpPr>
        <p:spPr>
          <a:xfrm>
            <a:off x="6172200" y="1821314"/>
            <a:ext cx="6096000" cy="307777"/>
          </a:xfrm>
          <a:prstGeom prst="rect">
            <a:avLst/>
          </a:prstGeom>
          <a:noFill/>
        </p:spPr>
        <p:txBody>
          <a:bodyPr wrap="square">
            <a:spAutoFit/>
          </a:bodyPr>
          <a:lstStyle/>
          <a:p>
            <a:r>
              <a:rPr lang="en-US" sz="1400" b="1" dirty="0">
                <a:solidFill>
                  <a:srgbClr val="086B94"/>
                </a:solidFill>
                <a:latin typeface="Arial" panose="020B0604020202020204" pitchFamily="34" charset="0"/>
                <a:ea typeface="Calibri" pitchFamily="34" charset="-122"/>
                <a:cs typeface="Arial" panose="020B0604020202020204" pitchFamily="34" charset="0"/>
              </a:rPr>
              <a:t>The Customer Experience:</a:t>
            </a:r>
            <a:endParaRPr lang="en-US" dirty="0">
              <a:solidFill>
                <a:srgbClr val="086B94"/>
              </a:solidFill>
            </a:endParaRPr>
          </a:p>
        </p:txBody>
      </p:sp>
      <p:cxnSp>
        <p:nvCxnSpPr>
          <p:cNvPr id="56" name="Straight Connector 55">
            <a:extLst>
              <a:ext uri="{FF2B5EF4-FFF2-40B4-BE49-F238E27FC236}">
                <a16:creationId xmlns:a16="http://schemas.microsoft.com/office/drawing/2014/main" id="{CC847030-8EFB-CA0F-C1E2-EA3EA828BAB0}"/>
              </a:ext>
            </a:extLst>
          </p:cNvPr>
          <p:cNvCxnSpPr>
            <a:cxnSpLocks/>
          </p:cNvCxnSpPr>
          <p:nvPr/>
        </p:nvCxnSpPr>
        <p:spPr>
          <a:xfrm>
            <a:off x="5940741" y="1821314"/>
            <a:ext cx="0" cy="1251796"/>
          </a:xfrm>
          <a:prstGeom prst="line">
            <a:avLst/>
          </a:prstGeom>
          <a:ln w="9525">
            <a:solidFill>
              <a:srgbClr val="720C27"/>
            </a:solidFill>
            <a:prstDash val="dash"/>
          </a:ln>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28E6536F-E715-A7CB-748C-6DBE18D0B9AE}"/>
              </a:ext>
            </a:extLst>
          </p:cNvPr>
          <p:cNvSpPr/>
          <p:nvPr/>
        </p:nvSpPr>
        <p:spPr>
          <a:xfrm>
            <a:off x="209550" y="1780706"/>
            <a:ext cx="10414000" cy="150859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F6984106-C25F-01F4-C152-ECEAD11DDE24}"/>
              </a:ext>
            </a:extLst>
          </p:cNvPr>
          <p:cNvSpPr txBox="1"/>
          <p:nvPr/>
        </p:nvSpPr>
        <p:spPr>
          <a:xfrm>
            <a:off x="4959350" y="3010672"/>
            <a:ext cx="6134100" cy="276999"/>
          </a:xfrm>
          <a:prstGeom prst="rect">
            <a:avLst/>
          </a:prstGeom>
          <a:noFill/>
        </p:spPr>
        <p:txBody>
          <a:bodyPr wrap="square">
            <a:spAutoFit/>
          </a:bodyPr>
          <a:lstStyle/>
          <a:p>
            <a:r>
              <a:rPr lang="en-US" sz="1200" dirty="0">
                <a:solidFill>
                  <a:srgbClr val="720C27"/>
                </a:solidFill>
                <a:latin typeface="Arial" panose="020B0604020202020204" pitchFamily="34" charset="0"/>
                <a:cs typeface="Arial" panose="020B0604020202020204" pitchFamily="34" charset="0"/>
              </a:rPr>
              <a:t>The business's view ends here.</a:t>
            </a:r>
          </a:p>
        </p:txBody>
      </p:sp>
      <p:sp>
        <p:nvSpPr>
          <p:cNvPr id="74" name="TextBox 73">
            <a:extLst>
              <a:ext uri="{FF2B5EF4-FFF2-40B4-BE49-F238E27FC236}">
                <a16:creationId xmlns:a16="http://schemas.microsoft.com/office/drawing/2014/main" id="{2166C740-C348-7F22-81C7-EDE40B6E1181}"/>
              </a:ext>
            </a:extLst>
          </p:cNvPr>
          <p:cNvSpPr txBox="1"/>
          <p:nvPr/>
        </p:nvSpPr>
        <p:spPr>
          <a:xfrm>
            <a:off x="158750" y="6220706"/>
            <a:ext cx="10665460" cy="369332"/>
          </a:xfrm>
          <a:prstGeom prst="rect">
            <a:avLst/>
          </a:prstGeom>
          <a:noFill/>
        </p:spPr>
        <p:txBody>
          <a:bodyPr wrap="square">
            <a:spAutoFit/>
          </a:bodyPr>
          <a:lstStyle/>
          <a:p>
            <a:r>
              <a:rPr lang="en-US" b="1" dirty="0">
                <a:solidFill>
                  <a:srgbClr val="12395B"/>
                </a:solidFill>
              </a:rPr>
              <a:t>Takeaway:</a:t>
            </a:r>
            <a:r>
              <a:rPr lang="en-US" dirty="0">
                <a:solidFill>
                  <a:srgbClr val="12395B"/>
                </a:solidFill>
              </a:rPr>
              <a:t> No charge, no complaint, no record. A loss nobody can see is a loss nobody fixes.</a:t>
            </a:r>
          </a:p>
        </p:txBody>
      </p:sp>
      <p:sp>
        <p:nvSpPr>
          <p:cNvPr id="81" name="TextBox 80">
            <a:extLst>
              <a:ext uri="{FF2B5EF4-FFF2-40B4-BE49-F238E27FC236}">
                <a16:creationId xmlns:a16="http://schemas.microsoft.com/office/drawing/2014/main" id="{562F8784-747B-85E3-D1CB-8E832940D1EE}"/>
              </a:ext>
            </a:extLst>
          </p:cNvPr>
          <p:cNvSpPr txBox="1"/>
          <p:nvPr/>
        </p:nvSpPr>
        <p:spPr>
          <a:xfrm>
            <a:off x="278130" y="4260278"/>
            <a:ext cx="10580370" cy="1600438"/>
          </a:xfrm>
          <a:prstGeom prst="rect">
            <a:avLst/>
          </a:prstGeom>
          <a:noFill/>
        </p:spPr>
        <p:txBody>
          <a:bodyPr wrap="square">
            <a:spAutoFit/>
          </a:bodyPr>
          <a:lstStyle/>
          <a:p>
            <a:pPr rtl="0">
              <a:buNone/>
            </a:pPr>
            <a:r>
              <a:rPr lang="en-US" sz="1600" b="1" dirty="0">
                <a:solidFill>
                  <a:srgbClr val="086B94"/>
                </a:solidFill>
              </a:rPr>
              <a:t>How each team explains the slow night</a:t>
            </a:r>
            <a:endParaRPr lang="en-US" sz="1600" dirty="0">
              <a:solidFill>
                <a:srgbClr val="086B94"/>
              </a:solidFill>
            </a:endParaRPr>
          </a:p>
          <a:p>
            <a:pPr marL="285750" indent="-285750" rtl="0">
              <a:buFont typeface="Arial" panose="020B0604020202020204" pitchFamily="34" charset="0"/>
              <a:buChar char="•"/>
            </a:pPr>
            <a:r>
              <a:rPr lang="en-US" sz="1600" b="1" dirty="0">
                <a:solidFill>
                  <a:srgbClr val="086B94"/>
                </a:solidFill>
              </a:rPr>
              <a:t>The owner (P&amp;C):</a:t>
            </a:r>
            <a:r>
              <a:rPr lang="en-US" sz="1600" dirty="0">
                <a:solidFill>
                  <a:srgbClr val="086B94"/>
                </a:solidFill>
              </a:rPr>
              <a:t> "Sales are down. Fewer pizzas than we expected.“</a:t>
            </a:r>
          </a:p>
          <a:p>
            <a:pPr marL="285750" indent="-285750" rtl="0">
              <a:buFont typeface="Arial" panose="020B0604020202020204" pitchFamily="34" charset="0"/>
              <a:buChar char="•"/>
            </a:pPr>
            <a:r>
              <a:rPr lang="en-US" sz="1600" b="1" dirty="0">
                <a:solidFill>
                  <a:srgbClr val="086B94"/>
                </a:solidFill>
              </a:rPr>
              <a:t>The website team (IT):</a:t>
            </a:r>
            <a:r>
              <a:rPr lang="en-US" sz="1600" dirty="0">
                <a:solidFill>
                  <a:srgbClr val="086B94"/>
                </a:solidFill>
              </a:rPr>
              <a:t> "Every order went through. Our system shows success.“</a:t>
            </a:r>
          </a:p>
          <a:p>
            <a:pPr marL="285750" indent="-285750" rtl="0">
              <a:buFont typeface="Arial" panose="020B0604020202020204" pitchFamily="34" charset="0"/>
              <a:buChar char="•"/>
            </a:pPr>
            <a:r>
              <a:rPr lang="en-US" sz="1600" b="1" dirty="0">
                <a:solidFill>
                  <a:srgbClr val="086B94"/>
                </a:solidFill>
              </a:rPr>
              <a:t>Marketing:</a:t>
            </a:r>
            <a:r>
              <a:rPr lang="en-US" sz="1600" dirty="0">
                <a:solidFill>
                  <a:srgbClr val="086B94"/>
                </a:solidFill>
              </a:rPr>
              <a:t> "We need more people to see our ads.“</a:t>
            </a:r>
          </a:p>
          <a:p>
            <a:pPr rtl="0"/>
            <a:endParaRPr lang="en-US" sz="1600" dirty="0">
              <a:solidFill>
                <a:srgbClr val="086B94"/>
              </a:solidFill>
            </a:endParaRPr>
          </a:p>
          <a:p>
            <a:r>
              <a:rPr lang="en-US" b="1" dirty="0">
                <a:solidFill>
                  <a:srgbClr val="12395B"/>
                </a:solidFill>
              </a:rPr>
              <a:t>Everyone is right about their own numbers. No one on the business side knows the pizza never came.</a:t>
            </a:r>
          </a:p>
        </p:txBody>
      </p:sp>
    </p:spTree>
    <p:extLst>
      <p:ext uri="{BB962C8B-B14F-4D97-AF65-F5344CB8AC3E}">
        <p14:creationId xmlns:p14="http://schemas.microsoft.com/office/powerpoint/2010/main" val="4177101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82AB-9E7D-0FC1-B772-C5A2AD18D661}"/>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078A5B07-C8AF-AD94-FCF7-A9D7273CF1E9}"/>
              </a:ext>
            </a:extLst>
          </p:cNvPr>
          <p:cNvSpPr/>
          <p:nvPr/>
        </p:nvSpPr>
        <p:spPr>
          <a:xfrm>
            <a:off x="1398903" y="1463781"/>
            <a:ext cx="3657600" cy="292100"/>
          </a:xfrm>
          <a:prstGeom prst="roundRect">
            <a:avLst/>
          </a:prstGeom>
          <a:solidFill>
            <a:srgbClr val="496A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bg1"/>
                </a:solidFill>
              </a:rPr>
              <a:t>100</a:t>
            </a:r>
          </a:p>
        </p:txBody>
      </p:sp>
      <p:sp>
        <p:nvSpPr>
          <p:cNvPr id="12" name="Rectangle: Rounded Corners 11">
            <a:extLst>
              <a:ext uri="{FF2B5EF4-FFF2-40B4-BE49-F238E27FC236}">
                <a16:creationId xmlns:a16="http://schemas.microsoft.com/office/drawing/2014/main" id="{74CCAA66-5E96-10DF-F2E7-552E39D02336}"/>
              </a:ext>
            </a:extLst>
          </p:cNvPr>
          <p:cNvSpPr/>
          <p:nvPr/>
        </p:nvSpPr>
        <p:spPr>
          <a:xfrm>
            <a:off x="1431287" y="1902499"/>
            <a:ext cx="3200400" cy="292100"/>
          </a:xfrm>
          <a:prstGeom prst="roundRect">
            <a:avLst/>
          </a:prstGeom>
          <a:solidFill>
            <a:srgbClr val="496A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b="1" dirty="0">
              <a:solidFill>
                <a:srgbClr val="12395B"/>
              </a:solidFill>
            </a:endParaRPr>
          </a:p>
          <a:p>
            <a:r>
              <a:rPr lang="en-US" sz="1000" b="1" dirty="0">
                <a:solidFill>
                  <a:schemeClr val="bg1"/>
                </a:solidFill>
              </a:rPr>
              <a:t>75</a:t>
            </a:r>
          </a:p>
          <a:p>
            <a:pPr algn="ctr"/>
            <a:endParaRPr lang="en-US" sz="1000" b="1" dirty="0">
              <a:solidFill>
                <a:srgbClr val="12395B"/>
              </a:solidFill>
            </a:endParaRPr>
          </a:p>
        </p:txBody>
      </p:sp>
      <p:sp>
        <p:nvSpPr>
          <p:cNvPr id="14" name="Rectangle: Rounded Corners 13">
            <a:extLst>
              <a:ext uri="{FF2B5EF4-FFF2-40B4-BE49-F238E27FC236}">
                <a16:creationId xmlns:a16="http://schemas.microsoft.com/office/drawing/2014/main" id="{EF0CC73C-D769-7239-6CCE-003B69488A08}"/>
              </a:ext>
            </a:extLst>
          </p:cNvPr>
          <p:cNvSpPr/>
          <p:nvPr/>
        </p:nvSpPr>
        <p:spPr>
          <a:xfrm>
            <a:off x="1390014" y="2350877"/>
            <a:ext cx="2743200" cy="292100"/>
          </a:xfrm>
          <a:prstGeom prst="roundRect">
            <a:avLst/>
          </a:prstGeom>
          <a:solidFill>
            <a:srgbClr val="496A7A"/>
          </a:solidFill>
          <a:ln>
            <a:solidFill>
              <a:srgbClr val="496A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bg1"/>
                </a:solidFill>
              </a:rPr>
              <a:t>55</a:t>
            </a:r>
          </a:p>
        </p:txBody>
      </p:sp>
      <p:sp>
        <p:nvSpPr>
          <p:cNvPr id="16" name="Rectangle: Rounded Corners 15">
            <a:extLst>
              <a:ext uri="{FF2B5EF4-FFF2-40B4-BE49-F238E27FC236}">
                <a16:creationId xmlns:a16="http://schemas.microsoft.com/office/drawing/2014/main" id="{8501E713-BE4F-5286-C202-CD032A7CB13C}"/>
              </a:ext>
            </a:extLst>
          </p:cNvPr>
          <p:cNvSpPr/>
          <p:nvPr/>
        </p:nvSpPr>
        <p:spPr>
          <a:xfrm>
            <a:off x="1417950" y="2813631"/>
            <a:ext cx="2194560" cy="292100"/>
          </a:xfrm>
          <a:prstGeom prst="roundRect">
            <a:avLst/>
          </a:prstGeom>
          <a:solidFill>
            <a:srgbClr val="496A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bg1"/>
                </a:solidFill>
              </a:rPr>
              <a:t>50 REACH Level 4, and 8 lose</a:t>
            </a:r>
          </a:p>
        </p:txBody>
      </p:sp>
      <p:sp>
        <p:nvSpPr>
          <p:cNvPr id="78" name="TextBox 77">
            <a:extLst>
              <a:ext uri="{FF2B5EF4-FFF2-40B4-BE49-F238E27FC236}">
                <a16:creationId xmlns:a16="http://schemas.microsoft.com/office/drawing/2014/main" id="{1FCD52DF-BAAB-923F-9354-ADB54282473D}"/>
              </a:ext>
            </a:extLst>
          </p:cNvPr>
          <p:cNvSpPr txBox="1"/>
          <p:nvPr/>
        </p:nvSpPr>
        <p:spPr>
          <a:xfrm>
            <a:off x="169864" y="96642"/>
            <a:ext cx="11336336" cy="707886"/>
          </a:xfrm>
          <a:prstGeom prst="rect">
            <a:avLst/>
          </a:prstGeom>
          <a:noFill/>
        </p:spPr>
        <p:txBody>
          <a:bodyPr wrap="square">
            <a:spAutoFit/>
          </a:bodyPr>
          <a:lstStyle/>
          <a:p>
            <a:pPr algn="ctr"/>
            <a:r>
              <a:rPr lang="en-US" sz="2000" b="1" dirty="0">
                <a:solidFill>
                  <a:srgbClr val="12395B"/>
                </a:solidFill>
                <a:latin typeface="Arial" panose="020B0604020202020204" pitchFamily="34" charset="0"/>
                <a:cs typeface="Arial" panose="020B0604020202020204" pitchFamily="34" charset="0"/>
              </a:rPr>
              <a:t>Survival in a video game</a:t>
            </a:r>
          </a:p>
          <a:p>
            <a:r>
              <a:rPr lang="en-US" sz="2000" b="1" dirty="0">
                <a:solidFill>
                  <a:srgbClr val="5F5E5A"/>
                </a:solidFill>
              </a:rPr>
              <a:t>Background:</a:t>
            </a:r>
            <a:r>
              <a:rPr lang="en-US" sz="2000" dirty="0">
                <a:solidFill>
                  <a:srgbClr val="5F5E5A"/>
                </a:solidFill>
              </a:rPr>
              <a:t> A game has four levels. To make it to level 4, you must survive levels 1,2 and 3. </a:t>
            </a:r>
            <a:endParaRPr lang="en-US" sz="2000" b="1" dirty="0">
              <a:solidFill>
                <a:srgbClr val="5F5E5A"/>
              </a:solidFill>
              <a:latin typeface="Arial" panose="020B0604020202020204" pitchFamily="34" charset="0"/>
              <a:cs typeface="Arial" panose="020B0604020202020204" pitchFamily="34" charset="0"/>
            </a:endParaRPr>
          </a:p>
        </p:txBody>
      </p:sp>
      <p:sp>
        <p:nvSpPr>
          <p:cNvPr id="83" name="TextBox 82">
            <a:extLst>
              <a:ext uri="{FF2B5EF4-FFF2-40B4-BE49-F238E27FC236}">
                <a16:creationId xmlns:a16="http://schemas.microsoft.com/office/drawing/2014/main" id="{DA44E020-A4AB-C9C5-3BF0-6D3E8CDB46D0}"/>
              </a:ext>
            </a:extLst>
          </p:cNvPr>
          <p:cNvSpPr txBox="1"/>
          <p:nvPr/>
        </p:nvSpPr>
        <p:spPr>
          <a:xfrm>
            <a:off x="169865" y="1452072"/>
            <a:ext cx="1163636" cy="1600438"/>
          </a:xfrm>
          <a:prstGeom prst="rect">
            <a:avLst/>
          </a:prstGeom>
          <a:noFill/>
        </p:spPr>
        <p:txBody>
          <a:bodyPr wrap="square">
            <a:spAutoFit/>
          </a:bodyPr>
          <a:lstStyle/>
          <a:p>
            <a:r>
              <a:rPr lang="en-US" sz="1400" b="1" dirty="0">
                <a:solidFill>
                  <a:schemeClr val="tx1"/>
                </a:solidFill>
              </a:rPr>
              <a:t>Level 1</a:t>
            </a:r>
          </a:p>
          <a:p>
            <a:endParaRPr lang="en-US" sz="1400" b="1" dirty="0"/>
          </a:p>
          <a:p>
            <a:r>
              <a:rPr lang="en-US" sz="1400" b="1" dirty="0"/>
              <a:t>Level 2</a:t>
            </a:r>
          </a:p>
          <a:p>
            <a:endParaRPr lang="en-US" sz="1400" b="1" dirty="0"/>
          </a:p>
          <a:p>
            <a:r>
              <a:rPr lang="en-US" sz="1400" b="1" dirty="0"/>
              <a:t>Level 3</a:t>
            </a:r>
          </a:p>
          <a:p>
            <a:endParaRPr lang="en-US" sz="1400" b="1" dirty="0"/>
          </a:p>
          <a:p>
            <a:r>
              <a:rPr lang="en-US" sz="1400" b="1" dirty="0"/>
              <a:t>Level 4</a:t>
            </a:r>
          </a:p>
        </p:txBody>
      </p:sp>
      <p:sp>
        <p:nvSpPr>
          <p:cNvPr id="6" name="Rectangle: Rounded Corners 5">
            <a:extLst>
              <a:ext uri="{FF2B5EF4-FFF2-40B4-BE49-F238E27FC236}">
                <a16:creationId xmlns:a16="http://schemas.microsoft.com/office/drawing/2014/main" id="{DF0299D5-F726-D1DD-E2C6-6F4CFEC36C30}"/>
              </a:ext>
            </a:extLst>
          </p:cNvPr>
          <p:cNvSpPr/>
          <p:nvPr/>
        </p:nvSpPr>
        <p:spPr>
          <a:xfrm>
            <a:off x="3301359" y="2812793"/>
            <a:ext cx="311151" cy="292100"/>
          </a:xfrm>
          <a:prstGeom prst="roundRect">
            <a:avLst/>
          </a:prstGeom>
          <a:solidFill>
            <a:srgbClr val="720C27"/>
          </a:solidFill>
          <a:ln>
            <a:solidFill>
              <a:srgbClr val="72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bg1"/>
                </a:solidFill>
              </a:rPr>
              <a:t>8</a:t>
            </a:r>
          </a:p>
        </p:txBody>
      </p:sp>
      <p:sp>
        <p:nvSpPr>
          <p:cNvPr id="8" name="TextBox 7">
            <a:extLst>
              <a:ext uri="{FF2B5EF4-FFF2-40B4-BE49-F238E27FC236}">
                <a16:creationId xmlns:a16="http://schemas.microsoft.com/office/drawing/2014/main" id="{D6B6081C-CD3A-314B-F581-1B5DAF76AB31}"/>
              </a:ext>
            </a:extLst>
          </p:cNvPr>
          <p:cNvSpPr txBox="1"/>
          <p:nvPr/>
        </p:nvSpPr>
        <p:spPr>
          <a:xfrm>
            <a:off x="220664" y="3481440"/>
            <a:ext cx="12155486" cy="923330"/>
          </a:xfrm>
          <a:prstGeom prst="rect">
            <a:avLst/>
          </a:prstGeom>
          <a:noFill/>
        </p:spPr>
        <p:txBody>
          <a:bodyPr wrap="square">
            <a:spAutoFit/>
          </a:bodyPr>
          <a:lstStyle/>
          <a:p>
            <a:r>
              <a:rPr lang="en-US" b="1" dirty="0">
                <a:solidFill>
                  <a:srgbClr val="12395B"/>
                </a:solidFill>
              </a:rPr>
              <a:t>IT:</a:t>
            </a:r>
            <a:r>
              <a:rPr lang="en-US" dirty="0">
                <a:solidFill>
                  <a:srgbClr val="12395B"/>
                </a:solidFill>
              </a:rPr>
              <a:t> Of the 50 who reached level 4, 8 lost: </a:t>
            </a:r>
            <a:r>
              <a:rPr lang="en-US" b="1" dirty="0">
                <a:solidFill>
                  <a:srgbClr val="12395B"/>
                </a:solidFill>
              </a:rPr>
              <a:t>8 ÷ 50 = 16%</a:t>
            </a:r>
            <a:br>
              <a:rPr lang="en-US" dirty="0">
                <a:solidFill>
                  <a:srgbClr val="12395B"/>
                </a:solidFill>
              </a:rPr>
            </a:br>
            <a:r>
              <a:rPr lang="en-US" b="1" dirty="0">
                <a:solidFill>
                  <a:srgbClr val="12395B"/>
                </a:solidFill>
              </a:rPr>
              <a:t>P&amp;C:</a:t>
            </a:r>
            <a:r>
              <a:rPr lang="en-US" dirty="0">
                <a:solidFill>
                  <a:srgbClr val="12395B"/>
                </a:solidFill>
              </a:rPr>
              <a:t> Of all 100 who started, 8 were lost at level 4: </a:t>
            </a:r>
            <a:r>
              <a:rPr lang="en-US" b="1" dirty="0">
                <a:solidFill>
                  <a:srgbClr val="12395B"/>
                </a:solidFill>
              </a:rPr>
              <a:t>8 ÷ 100 = 8%</a:t>
            </a:r>
            <a:br>
              <a:rPr lang="en-US" dirty="0">
                <a:solidFill>
                  <a:srgbClr val="12395B"/>
                </a:solidFill>
              </a:rPr>
            </a:br>
            <a:r>
              <a:rPr lang="en-US" b="1" dirty="0">
                <a:solidFill>
                  <a:srgbClr val="12395B"/>
                </a:solidFill>
              </a:rPr>
              <a:t>Same 8 players.</a:t>
            </a:r>
            <a:r>
              <a:rPr lang="en-US" dirty="0">
                <a:solidFill>
                  <a:srgbClr val="12395B"/>
                </a:solidFill>
              </a:rPr>
              <a:t> P&amp;C's number is always IT's number shrunk by the share who got that far: (50/100) × (8/50) = 8%.</a:t>
            </a:r>
            <a:endParaRPr lang="en-US" dirty="0">
              <a:solidFill>
                <a:srgbClr val="12395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0600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43201</TotalTime>
  <Words>6108</Words>
  <Application>Microsoft Office PowerPoint</Application>
  <PresentationFormat>Widescreen</PresentationFormat>
  <Paragraphs>739</Paragraphs>
  <Slides>21</Slides>
  <Notes>16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21</vt:i4>
      </vt:variant>
    </vt:vector>
  </HeadingPairs>
  <TitlesOfParts>
    <vt:vector size="29" baseType="lpstr">
      <vt:lpstr>Arial</vt:lpstr>
      <vt:lpstr>Calibri</vt:lpstr>
      <vt:lpstr>Calibri Light</vt:lpstr>
      <vt:lpstr>Cambria</vt:lpstr>
      <vt:lpstr>Cambria Math</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Eric Riley</dc:creator>
  <cp:lastModifiedBy>Eric Riley</cp:lastModifiedBy>
  <cp:revision>833</cp:revision>
  <dcterms:created xsi:type="dcterms:W3CDTF">2015-05-13T19:53:04Z</dcterms:created>
  <dcterms:modified xsi:type="dcterms:W3CDTF">2026-10-02T14:43:41Z</dcterms:modified>
</cp:coreProperties>
</file>