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rvival analysis on the funnel" id="{4D3F969C-8E06-BF19-4C48-F8CB94A27748}">
          <p14:sldIdLst>
            <p14:sldId id="256"/>
            <p14:sldId id="257"/>
            <p14:sldId id="258"/>
            <p14:sldId id="259"/>
            <p14:sldId id="260"/>
            <p14:sldId id="261"/>
            <p14:sldId id="262"/>
            <p14:sldId id="263"/>
            <p14:sldId id="264"/>
          </p14:sldIdLst>
        </p14:section>
        <p14:section name="Study backup" id="{349E8402-931D-4B26-08CD-8F77A21BE31A}">
          <p14:sldIdLst>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108" y="5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2395B"/>
                </a:solidFill>
                <a:latin typeface="+mn-lt"/>
              </a:defRPr>
            </a:pPr>
            <a:r>
              <a:rPr sz="1400" b="0" i="0" u="none" strike="noStrike">
                <a:solidFill>
                  <a:srgbClr val="12395B"/>
                </a:solidFill>
                <a:latin typeface="+mn-lt"/>
              </a:rPr>
              <a:t>S(j): share of store-front visitors still in the funnel</a:t>
            </a:r>
          </a:p>
        </c:rich>
      </c:tx>
      <c:overlay val="0"/>
    </c:title>
    <c:autoTitleDeleted val="0"/>
    <c:plotArea>
      <c:layout/>
      <c:barChart>
        <c:barDir val="col"/>
        <c:grouping val="clustered"/>
        <c:varyColors val="0"/>
        <c:ser>
          <c:idx val="0"/>
          <c:order val="0"/>
          <c:tx>
            <c:strRef>
              <c:f>Sheet1!$B$1</c:f>
              <c:strCache>
                <c:ptCount val="1"/>
                <c:pt idx="0">
                  <c:v>Share still in the funnel</c:v>
                </c:pt>
              </c:strCache>
            </c:strRef>
          </c:tx>
          <c:spPr>
            <a:solidFill>
              <a:srgbClr val="14213D"/>
            </a:solidFill>
            <a:effectLst/>
          </c:spPr>
          <c:invertIfNegative val="0"/>
          <c:dLbls>
            <c:numFmt formatCode="0.0&quot;%&quot;" sourceLinked="0"/>
            <c:spPr>
              <a:noFill/>
              <a:ln>
                <a:noFill/>
              </a:ln>
              <a:effectLst/>
            </c:spPr>
            <c:txPr>
              <a:bodyPr/>
              <a:lstStyle/>
              <a:p>
                <a:pPr>
                  <a:defRPr sz="1200" b="0" i="0" u="none" strike="noStrike">
                    <a:solidFill>
                      <a:srgbClr val="12395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Store front</c:v>
                </c:pt>
                <c:pt idx="1">
                  <c:v>Quote start</c:v>
                </c:pt>
                <c:pt idx="2">
                  <c:v>Quote done</c:v>
                </c:pt>
                <c:pt idx="3">
                  <c:v>App start</c:v>
                </c:pt>
                <c:pt idx="4">
                  <c:v>App done</c:v>
                </c:pt>
                <c:pt idx="5">
                  <c:v>Issued</c:v>
                </c:pt>
              </c:strCache>
            </c:strRef>
          </c:cat>
          <c:val>
            <c:numRef>
              <c:f>Sheet1!$B$2:$B$7</c:f>
              <c:numCache>
                <c:formatCode>General</c:formatCode>
                <c:ptCount val="6"/>
                <c:pt idx="0">
                  <c:v>100</c:v>
                </c:pt>
                <c:pt idx="1">
                  <c:v>87.4</c:v>
                </c:pt>
                <c:pt idx="2">
                  <c:v>74.400000000000006</c:v>
                </c:pt>
                <c:pt idx="3">
                  <c:v>60.1</c:v>
                </c:pt>
                <c:pt idx="4">
                  <c:v>50.1</c:v>
                </c:pt>
                <c:pt idx="5">
                  <c:v>42</c:v>
                </c:pt>
              </c:numCache>
            </c:numRef>
          </c:val>
          <c:extLst>
            <c:ext xmlns:c16="http://schemas.microsoft.com/office/drawing/2014/chart" uri="{C3380CC4-5D6E-409C-BE32-E72D297353CC}">
              <c16:uniqueId val="{00000000-E271-4CCF-8A6B-05ACF49DC9F5}"/>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96A7A"/>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Consistent with clean-path rate</c:v>
                </c:pt>
              </c:strCache>
            </c:strRef>
          </c:tx>
          <c:spPr>
            <a:solidFill>
              <a:srgbClr val="A1B1BC"/>
            </a:solidFill>
            <a:effectLst/>
          </c:spPr>
          <c:invertIfNegative val="0"/>
          <c:dLbls>
            <c:numFmt formatCode="#,##0" sourceLinked="0"/>
            <c:spPr>
              <a:noFill/>
              <a:ln>
                <a:noFill/>
              </a:ln>
              <a:effectLst/>
            </c:spPr>
            <c:txPr>
              <a:bodyPr/>
              <a:lstStyle/>
              <a:p>
                <a:pPr>
                  <a:defRPr sz="14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Lost after App Complete (791)</c:v>
                </c:pt>
              </c:strCache>
            </c:strRef>
          </c:cat>
          <c:val>
            <c:numRef>
              <c:f>Sheet1!$B$2:$B$2</c:f>
              <c:numCache>
                <c:formatCode>General</c:formatCode>
                <c:ptCount val="1"/>
                <c:pt idx="0">
                  <c:v>621</c:v>
                </c:pt>
              </c:numCache>
            </c:numRef>
          </c:val>
          <c:extLst>
            <c:ext xmlns:c16="http://schemas.microsoft.com/office/drawing/2014/chart" uri="{C3380CC4-5D6E-409C-BE32-E72D297353CC}">
              <c16:uniqueId val="{00000000-4F4F-46A0-8D00-D2BAF7AF9D1D}"/>
            </c:ext>
          </c:extLst>
        </c:ser>
        <c:ser>
          <c:idx val="1"/>
          <c:order val="1"/>
          <c:tx>
            <c:strRef>
              <c:f>Sheet1!$C$1</c:f>
              <c:strCache>
                <c:ptCount val="1"/>
                <c:pt idx="0">
                  <c:v>Excess tied to the trap</c:v>
                </c:pt>
              </c:strCache>
            </c:strRef>
          </c:tx>
          <c:spPr>
            <a:solidFill>
              <a:srgbClr val="720C27"/>
            </a:solidFill>
            <a:effectLst/>
          </c:spPr>
          <c:invertIfNegative val="0"/>
          <c:dLbls>
            <c:numFmt formatCode="#,##0" sourceLinked="0"/>
            <c:spPr>
              <a:noFill/>
              <a:ln>
                <a:noFill/>
              </a:ln>
              <a:effectLst/>
            </c:spPr>
            <c:txPr>
              <a:bodyPr/>
              <a:lstStyle/>
              <a:p>
                <a:pPr>
                  <a:defRPr sz="14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Lost after App Complete (791)</c:v>
                </c:pt>
              </c:strCache>
            </c:strRef>
          </c:cat>
          <c:val>
            <c:numRef>
              <c:f>Sheet1!$C$2:$C$2</c:f>
              <c:numCache>
                <c:formatCode>General</c:formatCode>
                <c:ptCount val="1"/>
                <c:pt idx="0">
                  <c:v>170</c:v>
                </c:pt>
              </c:numCache>
            </c:numRef>
          </c:val>
          <c:extLst>
            <c:ext xmlns:c16="http://schemas.microsoft.com/office/drawing/2014/chart" uri="{C3380CC4-5D6E-409C-BE32-E72D297353CC}">
              <c16:uniqueId val="{00000001-4F4F-46A0-8D00-D2BAF7AF9D1D}"/>
            </c:ext>
          </c:extLst>
        </c:ser>
        <c:dLbls>
          <c:dLblPos val="ctr"/>
          <c:showLegendKey val="0"/>
          <c:showVal val="1"/>
          <c:showCatName val="0"/>
          <c:showSerName val="0"/>
          <c:showPercent val="0"/>
          <c:showBubbleSize val="0"/>
        </c:dLbls>
        <c:gapWidth val="30"/>
        <c:overlap val="100"/>
        <c:axId val="2094734554"/>
        <c:axId val="2094734552"/>
      </c:barChart>
      <c:catAx>
        <c:axId val="2094734554"/>
        <c:scaling>
          <c:orientation val="minMax"/>
        </c:scaling>
        <c:delete val="1"/>
        <c:axPos val="l"/>
        <c:numFmt formatCode="General" sourceLinked="1"/>
        <c:majorTickMark val="out"/>
        <c:minorTickMark val="none"/>
        <c:tickLblPos val="nextTo"/>
        <c:crossAx val="2094734552"/>
        <c:crosses val="autoZero"/>
        <c:auto val="1"/>
        <c:lblAlgn val="ctr"/>
        <c:lblOffset val="100"/>
        <c:noMultiLvlLbl val="1"/>
      </c:catAx>
      <c:valAx>
        <c:axId val="2094734552"/>
        <c:scaling>
          <c:orientation val="minMax"/>
          <c:max val="791"/>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200">
              <a:solidFill>
                <a:srgbClr val="12395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2395B"/>
                </a:solidFill>
                <a:latin typeface="+mn-lt"/>
              </a:defRPr>
            </a:pPr>
            <a:r>
              <a:rPr lang="en-US" sz="1400" b="0" i="0" u="none" strike="noStrike">
                <a:solidFill>
                  <a:srgbClr val="12395B"/>
                </a:solidFill>
                <a:latin typeface="+mn-lt"/>
              </a:rPr>
              <a:t>Share passing each step, given they reached it</a:t>
            </a:r>
          </a:p>
        </c:rich>
      </c:tx>
      <c:overlay val="0"/>
    </c:title>
    <c:autoTitleDeleted val="0"/>
    <c:plotArea>
      <c:layout/>
      <c:lineChart>
        <c:grouping val="standard"/>
        <c:varyColors val="0"/>
        <c:ser>
          <c:idx val="0"/>
          <c:order val="0"/>
          <c:tx>
            <c:strRef>
              <c:f>Sheet1!$B$1</c:f>
              <c:strCache>
                <c:ptCount val="1"/>
                <c:pt idx="0">
                  <c:v>No IT trap</c:v>
                </c:pt>
              </c:strCache>
            </c:strRef>
          </c:tx>
          <c:spPr>
            <a:ln w="31750" cap="flat">
              <a:solidFill>
                <a:srgbClr val="496A7A"/>
              </a:solidFill>
              <a:prstDash val="solid"/>
              <a:round/>
            </a:ln>
            <a:effectLst/>
          </c:spPr>
          <c:marker>
            <c:symbol val="circle"/>
            <c:size val="9"/>
            <c:spPr>
              <a:solidFill>
                <a:srgbClr val="496A7A"/>
              </a:solidFill>
              <a:ln w="9525" cap="flat">
                <a:solidFill>
                  <a:srgbClr val="496A7A"/>
                </a:solidFill>
                <a:prstDash val="solid"/>
                <a:round/>
              </a:ln>
              <a:effectLst/>
            </c:spPr>
          </c:marker>
          <c:cat>
            <c:strRef>
              <c:f>Sheet1!$A$2:$A$6</c:f>
              <c:strCache>
                <c:ptCount val="5"/>
                <c:pt idx="0">
                  <c:v>Store → Quote start</c:v>
                </c:pt>
                <c:pt idx="1">
                  <c:v>Quote start → Quote done</c:v>
                </c:pt>
                <c:pt idx="2">
                  <c:v>Quote done → App start</c:v>
                </c:pt>
                <c:pt idx="3">
                  <c:v>App start → App done</c:v>
                </c:pt>
                <c:pt idx="4">
                  <c:v>App done → Issued</c:v>
                </c:pt>
              </c:strCache>
            </c:strRef>
          </c:cat>
          <c:val>
            <c:numRef>
              <c:f>Sheet1!$B$2:$B$6</c:f>
              <c:numCache>
                <c:formatCode>General</c:formatCode>
                <c:ptCount val="5"/>
                <c:pt idx="0">
                  <c:v>87.1</c:v>
                </c:pt>
                <c:pt idx="1">
                  <c:v>84.7</c:v>
                </c:pt>
                <c:pt idx="2">
                  <c:v>81.599999999999994</c:v>
                </c:pt>
                <c:pt idx="3">
                  <c:v>82.3</c:v>
                </c:pt>
                <c:pt idx="4">
                  <c:v>87.5</c:v>
                </c:pt>
              </c:numCache>
            </c:numRef>
          </c:val>
          <c:smooth val="0"/>
          <c:extLst>
            <c:ext xmlns:c16="http://schemas.microsoft.com/office/drawing/2014/chart" uri="{C3380CC4-5D6E-409C-BE32-E72D297353CC}">
              <c16:uniqueId val="{00000000-DF8D-4772-961F-C58EBFD9BDEF}"/>
            </c:ext>
          </c:extLst>
        </c:ser>
        <c:ser>
          <c:idx val="1"/>
          <c:order val="1"/>
          <c:tx>
            <c:strRef>
              <c:f>Sheet1!$C$1</c:f>
              <c:strCache>
                <c:ptCount val="1"/>
                <c:pt idx="0">
                  <c:v>IT trap</c:v>
                </c:pt>
              </c:strCache>
            </c:strRef>
          </c:tx>
          <c:spPr>
            <a:ln w="31750" cap="flat">
              <a:solidFill>
                <a:srgbClr val="720C27"/>
              </a:solidFill>
              <a:prstDash val="solid"/>
              <a:round/>
            </a:ln>
            <a:effectLst/>
          </c:spPr>
          <c:marker>
            <c:symbol val="circle"/>
            <c:size val="9"/>
            <c:spPr>
              <a:solidFill>
                <a:srgbClr val="720C27"/>
              </a:solidFill>
              <a:ln w="9525" cap="flat">
                <a:solidFill>
                  <a:srgbClr val="720C27"/>
                </a:solidFill>
                <a:prstDash val="solid"/>
                <a:round/>
              </a:ln>
              <a:effectLst/>
            </c:spPr>
          </c:marker>
          <c:cat>
            <c:strRef>
              <c:f>Sheet1!$A$2:$A$6</c:f>
              <c:strCache>
                <c:ptCount val="5"/>
                <c:pt idx="0">
                  <c:v>Store → Quote start</c:v>
                </c:pt>
                <c:pt idx="1">
                  <c:v>Quote start → Quote done</c:v>
                </c:pt>
                <c:pt idx="2">
                  <c:v>Quote done → App start</c:v>
                </c:pt>
                <c:pt idx="3">
                  <c:v>App start → App done</c:v>
                </c:pt>
                <c:pt idx="4">
                  <c:v>App done → Issued</c:v>
                </c:pt>
              </c:strCache>
            </c:strRef>
          </c:cat>
          <c:val>
            <c:numRef>
              <c:f>Sheet1!$C$2:$C$6</c:f>
              <c:numCache>
                <c:formatCode>General</c:formatCode>
                <c:ptCount val="5"/>
                <c:pt idx="0">
                  <c:v>87.7</c:v>
                </c:pt>
                <c:pt idx="1">
                  <c:v>86.5</c:v>
                </c:pt>
                <c:pt idx="2">
                  <c:v>80.3</c:v>
                </c:pt>
                <c:pt idx="3">
                  <c:v>83.9</c:v>
                </c:pt>
                <c:pt idx="4">
                  <c:v>67</c:v>
                </c:pt>
              </c:numCache>
            </c:numRef>
          </c:val>
          <c:smooth val="0"/>
          <c:extLst>
            <c:ext xmlns:c16="http://schemas.microsoft.com/office/drawing/2014/chart" uri="{C3380CC4-5D6E-409C-BE32-E72D297353CC}">
              <c16:uniqueId val="{00000001-DF8D-4772-961F-C58EBFD9BDE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96A7A"/>
                </a:solidFill>
                <a:latin typeface="+mn-lt"/>
              </a:defRPr>
            </a:pPr>
            <a:endParaRPr lang="en-US"/>
          </a:p>
        </c:txPr>
        <c:crossAx val="2094734552"/>
        <c:crosses val="autoZero"/>
        <c:auto val="1"/>
        <c:lblAlgn val="ctr"/>
        <c:lblOffset val="100"/>
        <c:noMultiLvlLbl val="1"/>
      </c:catAx>
      <c:valAx>
        <c:axId val="2094734552"/>
        <c:scaling>
          <c:orientation val="minMax"/>
          <c:max val="95"/>
          <c:min val="60"/>
        </c:scaling>
        <c:delete val="0"/>
        <c:axPos val="l"/>
        <c:majorGridlines>
          <c:spPr>
            <a:ln w="6350" cap="flat">
              <a:solidFill>
                <a:srgbClr val="E6E9ED"/>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96A7A"/>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2395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504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of the funnel story. Parts 1 and 2 found the trap and set up nightly monitoring. This part shows that the funnel is a discrete-time survival process, and that framing explains why IT and P&amp;C disagree, why stalled applications hide, and how to read the loss at issuance. Backup slides hold the formulas and history for study.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funnel counts are a life table with five time steps. h_k is the hazard at stage k: d_k, the number who leave at stage k, divided by n_k, the number who reached stage k. One minus h_k is IT's pass rate. S(j) is the share still in after stage j, and the Kaplan-Meier product says survival is the product of those pass rates.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Hazard and density answer different questions. The hazard is the risk of leaving at this step, given you got here. The density is the share of everyone who left at this step. Neither flags issuance: its hazard is unremarkable and its density is the smallest, because survival has already shrunk.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version of 'a stalled application looks exactly like a slow one.' Censoring is legitimate only when the case is truly still at risk. A trapped application that will never issue is an event the system failed to record, so treating it as censored inflates survival. The time-limit rule is a standard fix; choosing T from the observed time-to-issue distribution keeps it defensible.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621 vs 170 split comes from applying the clean-path issuance rate (87.3%) to the 1,074 trapped applications: about 938 expected, 768 issued, so about 170 excess. Separating declines from withdrawals would need cause codes we don't have in this synthetic 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Hazard ratio 28.5 / 12.7 = 2.25. Odds ratio (0.285/0.715)/(0.127/0.873) = 2.75, which is exp(beta) in a discrete-time logistic hazard model. Upstream the trapped and untrapped groups look the same (p = 0.36 at application complete), so the effect is stage-specific, a textbook non-proportional hazard.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location test. Pass rates are the complement of the stage hazards from slide 3, split by the IT trap flag. Earlier steps differ by 0.6 to 1.8 points, sometimes favoring trapped members, with p-values from 0.07 to 0.49. At issuance the gap is 20.5 points. The trap flag has no timestamp, so this shows where the loss appears; a timestamp would confirm where the trap fires. Note: this slide uses funnel_synthetic.csv, a different synthetic run from the counts on slides 2 to 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flat Beta(1,1) prior with a Binomial likelihood gives a closed-form Beta posterior for each stage hazard. Drawing from all five and multiplying gives a full posterior for the survival curve, which is the Bayesian alternative to Greenwood's formula.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remembers one line: the trap is a stage-specific hazard that survival-style dashboards average away.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sheet. The identity f = S(t-) h is the bridge between IT's and P&amp;C's numbers. Greenwood is the classical variance for Kaplan-Meier; the Beta-posterior approach on slide 7 replaces it with simulation.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checks how stable the result is within this sample, not whether the sample is representative of all runs. Running the same analysis across many independent simulation runs would answer the second question.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empirical question before presenting the competing-risks part. If the gates short-circuit, the joint failure cell is unobservable, and any dependence assumption between the causes is an assumption, not an estimate.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Bernoulli presented his smallpox analysis to the Paris Academy in 1760 (published 1766). D'Alembert's objections followed in the early 1760s. Kaplan and Meier published the product-limit estimator in JASA in 1958. Tsiatis's non-identifiability result appeared in PNAS in 1975. Aalen and Johansen published their estimator in 1978.</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228600" y="228600"/>
            <a:ext cx="11734495" cy="6400800"/>
          </a:xfrm>
          <a:prstGeom prst="rect">
            <a:avLst/>
          </a:prstGeom>
          <a:ln w="19050">
            <a:solidFill>
              <a:schemeClr val="tx1"/>
            </a:solidFill>
            <a:prstDash val="solid"/>
          </a:ln>
        </p:spPr>
        <p:txBody>
          <a:bodyPr/>
          <a:lstStyle/>
          <a:p>
            <a:endParaRPr lang="en-US"/>
          </a:p>
        </p:txBody>
      </p:sp>
      <p:sp>
        <p:nvSpPr>
          <p:cNvPr id="3" name="Text 1"/>
          <p:cNvSpPr>
            <a:spLocks noGrp="1"/>
          </p:cNvSpPr>
          <p:nvPr>
            <p:ph type="body" idx="101" hasCustomPrompt="1"/>
          </p:nvPr>
        </p:nvSpPr>
        <p:spPr>
          <a:xfrm>
            <a:off x="822960" y="1600200"/>
            <a:ext cx="10515600" cy="457200"/>
          </a:xfrm>
          <a:prstGeom prst="rect">
            <a:avLst/>
          </a:prstGeom>
          <a:noFill/>
          <a:ln/>
        </p:spPr>
        <p:txBody>
          <a:bodyPr wrap="square" rtlCol="0"/>
          <a:lstStyle>
            <a:lvl1pPr marL="0" indent="0">
              <a:buNone/>
              <a:defRPr lang="en-US" sz="1800" b="1" dirty="0">
                <a:solidFill>
                  <a:schemeClr val="accent1"/>
                </a:solidFill>
              </a:defRPr>
            </a:lvl1pPr>
          </a:lstStyle>
          <a:p>
            <a:pPr marL="0" indent="0">
              <a:buNone/>
            </a:pPr>
            <a:endParaRPr lang="en-US" sz="1800" dirty="0"/>
          </a:p>
        </p:txBody>
      </p:sp>
      <p:sp>
        <p:nvSpPr>
          <p:cNvPr id="4" name="Text 1"/>
          <p:cNvSpPr>
            <a:spLocks noGrp="1"/>
          </p:cNvSpPr>
          <p:nvPr>
            <p:ph type="title" idx="102" hasCustomPrompt="1"/>
          </p:nvPr>
        </p:nvSpPr>
        <p:spPr>
          <a:xfrm>
            <a:off x="822960" y="2103120"/>
            <a:ext cx="10515600" cy="1737360"/>
          </a:xfrm>
          <a:prstGeom prst="rect">
            <a:avLst/>
          </a:prstGeom>
          <a:noFill/>
          <a:ln/>
        </p:spPr>
        <p:txBody>
          <a:bodyPr wrap="square" rtlCol="0"/>
          <a:lstStyle>
            <a:lvl1pPr marL="0" indent="0" algn="l">
              <a:buNone/>
              <a:defRPr lang="en-US" sz="4800" b="1" dirty="0">
                <a:solidFill>
                  <a:schemeClr val="tx1"/>
                </a:solidFill>
              </a:defRPr>
            </a:lvl1pPr>
          </a:lstStyle>
          <a:p>
            <a:pPr marL="0" indent="0" algn="l">
              <a:buNone/>
            </a:pPr>
            <a:endParaRPr lang="en-US" sz="4800" dirty="0"/>
          </a:p>
        </p:txBody>
      </p:sp>
      <p:sp>
        <p:nvSpPr>
          <p:cNvPr id="5" name="Text 1"/>
          <p:cNvSpPr>
            <a:spLocks noGrp="1"/>
          </p:cNvSpPr>
          <p:nvPr>
            <p:ph type="body" idx="103" hasCustomPrompt="1"/>
          </p:nvPr>
        </p:nvSpPr>
        <p:spPr>
          <a:xfrm>
            <a:off x="822960" y="3931920"/>
            <a:ext cx="10058400" cy="731520"/>
          </a:xfrm>
          <a:prstGeom prst="rect">
            <a:avLst/>
          </a:prstGeom>
          <a:noFill/>
          <a:ln/>
        </p:spPr>
        <p:txBody>
          <a:bodyPr wrap="square" rtlCol="0"/>
          <a:lstStyle>
            <a:lvl1pPr marL="0" indent="0">
              <a:buNone/>
              <a:defRPr lang="en-US" sz="2200" dirty="0">
                <a:solidFill>
                  <a:schemeClr val="accent5"/>
                </a:solidFill>
              </a:defRPr>
            </a:lvl1pPr>
          </a:lstStyle>
          <a:p>
            <a:pPr marL="0" indent="0">
              <a:buNone/>
            </a:pPr>
            <a:endParaRPr lang="en-US" sz="2200" dirty="0"/>
          </a:p>
        </p:txBody>
      </p:sp>
      <p:sp>
        <p:nvSpPr>
          <p:cNvPr id="6" name="Text 1"/>
          <p:cNvSpPr>
            <a:spLocks noGrp="1"/>
          </p:cNvSpPr>
          <p:nvPr>
            <p:ph type="body" idx="104" hasCustomPrompt="1"/>
          </p:nvPr>
        </p:nvSpPr>
        <p:spPr>
          <a:xfrm>
            <a:off x="822960" y="4937760"/>
            <a:ext cx="7315200" cy="457200"/>
          </a:xfrm>
          <a:prstGeom prst="rect">
            <a:avLst/>
          </a:prstGeom>
          <a:noFill/>
          <a:ln/>
        </p:spPr>
        <p:txBody>
          <a:bodyPr wrap="square" rtlCol="0"/>
          <a:lstStyle>
            <a:lvl1pPr marL="0" indent="0">
              <a:buNone/>
              <a:defRPr lang="en-US" sz="2000" b="1" dirty="0">
                <a:solidFill>
                  <a:schemeClr val="tx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chemeClr val="tx2"/>
          </a:solidFill>
          <a:ln w="12700">
            <a:solidFill>
              <a:schemeClr val="tx2"/>
            </a:solidFill>
            <a:prstDash val="solid"/>
          </a:ln>
        </p:spPr>
      </p:sp>
      <p:sp>
        <p:nvSpPr>
          <p:cNvPr id="3" name="Shape 1"/>
          <p:cNvSpPr/>
          <p:nvPr/>
        </p:nvSpPr>
        <p:spPr>
          <a:xfrm>
            <a:off x="54864" y="932688"/>
            <a:ext cx="12079224" cy="5824728"/>
          </a:xfrm>
          <a:prstGeom prst="rect">
            <a:avLst/>
          </a:prstGeom>
          <a:ln w="12700">
            <a:solidFill>
              <a:schemeClr val="tx1"/>
            </a:solidFill>
            <a:prstDash val="solid"/>
          </a:ln>
        </p:spPr>
      </p:sp>
      <p:sp>
        <p:nvSpPr>
          <p:cNvPr id="4" name="Text 2"/>
          <p:cNvSpPr>
            <a:spLocks noGrp="1"/>
          </p:cNvSpPr>
          <p:nvPr>
            <p:ph type="title" idx="102" hasCustomPrompt="1"/>
          </p:nvPr>
        </p:nvSpPr>
        <p:spPr>
          <a:xfrm>
            <a:off x="411480" y="91440"/>
            <a:ext cx="11338560" cy="685800"/>
          </a:xfrm>
          <a:prstGeom prst="rect">
            <a:avLst/>
          </a:prstGeom>
          <a:noFill/>
          <a:ln/>
        </p:spPr>
        <p:txBody>
          <a:bodyPr wrap="square" rtlCol="0"/>
          <a:lstStyle>
            <a:lvl1pPr marL="0" indent="0" algn="l">
              <a:buNone/>
              <a:defRPr lang="en-US" sz="2600" b="1" dirty="0">
                <a:solidFill>
                  <a:schemeClr val="bg1"/>
                </a:solidFill>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0972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822960" y="3566160"/>
            <a:ext cx="10058400" cy="822960"/>
          </a:xfrm>
          <a:prstGeom prst="rect">
            <a:avLst/>
          </a:prstGeom>
          <a:noFill/>
          <a:ln/>
        </p:spPr>
        <p:txBody>
          <a:bodyPr wrap="square" rtlCol="0"/>
          <a:lstStyle>
            <a:lvl1pPr marL="0" indent="0">
              <a:buNone/>
              <a:defRPr lang="en-US" sz="2000" dirty="0">
                <a:solidFill>
                  <a:schemeClr val="accent4"/>
                </a:solidFill>
              </a:defRPr>
            </a:lvl1pPr>
          </a:lstStyle>
          <a:p>
            <a:pPr marL="0" indent="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600200"/>
            <a:ext cx="10515600" cy="457200"/>
          </a:xfrm>
          <a:prstGeom prst="rect">
            <a:avLst/>
          </a:prstGeom>
          <a:noFill/>
          <a:ln/>
        </p:spPr>
        <p:txBody>
          <a:bodyPr wrap="square" lIns="0" tIns="0" rIns="0" bIns="0" rtlCol="0"/>
          <a:lstStyle/>
          <a:p>
            <a:pPr marL="0" indent="0">
              <a:buNone/>
            </a:pPr>
            <a:r>
              <a:rPr lang="en-US" sz="1800" b="1" dirty="0">
                <a:solidFill>
                  <a:schemeClr val="accent1"/>
                </a:solidFill>
              </a:rPr>
              <a:t>Funnel Evaluation Framework · Part 3</a:t>
            </a:r>
            <a:endParaRPr lang="en-US" sz="1800" dirty="0"/>
          </a:p>
        </p:txBody>
      </p:sp>
      <p:sp>
        <p:nvSpPr>
          <p:cNvPr id="3" name="Text 1"/>
          <p:cNvSpPr>
            <a:spLocks noGrp="1"/>
          </p:cNvSpPr>
          <p:nvPr>
            <p:ph type="title" idx="102" hasCustomPrompt="1"/>
          </p:nvPr>
        </p:nvSpPr>
        <p:spPr>
          <a:xfrm>
            <a:off x="822960" y="2103120"/>
            <a:ext cx="10515600" cy="1737360"/>
          </a:xfrm>
          <a:prstGeom prst="rect">
            <a:avLst/>
          </a:prstGeom>
          <a:noFill/>
          <a:ln/>
        </p:spPr>
        <p:txBody>
          <a:bodyPr wrap="square" lIns="0" tIns="0" rIns="0" bIns="0" rtlCol="0" anchor="t"/>
          <a:lstStyle/>
          <a:p>
            <a:pPr marL="0" indent="0" algn="l">
              <a:buNone/>
            </a:pPr>
            <a:r>
              <a:rPr lang="en-US" sz="4800" b="1" dirty="0">
                <a:solidFill>
                  <a:schemeClr val="tx1"/>
                </a:solidFill>
              </a:rPr>
              <a:t>The funnel is a survival curve</a:t>
            </a:r>
            <a:endParaRPr lang="en-US" sz="4800" dirty="0"/>
          </a:p>
        </p:txBody>
      </p:sp>
      <p:sp>
        <p:nvSpPr>
          <p:cNvPr id="4" name="Text 1"/>
          <p:cNvSpPr>
            <a:spLocks noGrp="1"/>
          </p:cNvSpPr>
          <p:nvPr>
            <p:ph type="body" idx="103" hasCustomPrompt="1"/>
          </p:nvPr>
        </p:nvSpPr>
        <p:spPr>
          <a:xfrm>
            <a:off x="822960" y="3931920"/>
            <a:ext cx="10058400" cy="731520"/>
          </a:xfrm>
          <a:prstGeom prst="rect">
            <a:avLst/>
          </a:prstGeom>
          <a:noFill/>
          <a:ln/>
        </p:spPr>
        <p:txBody>
          <a:bodyPr wrap="square" lIns="0" tIns="0" rIns="0" bIns="0" rtlCol="0" anchor="t"/>
          <a:lstStyle/>
          <a:p>
            <a:pPr marL="0" indent="0">
              <a:buNone/>
            </a:pPr>
            <a:r>
              <a:rPr lang="en-US" sz="2200" dirty="0">
                <a:solidFill>
                  <a:schemeClr val="accent5"/>
                </a:solidFill>
              </a:rPr>
              <a:t>Survival analysis for the insurance issuance funnel: hazards, censoring and competing risks</a:t>
            </a:r>
            <a:endParaRPr lang="en-US" sz="2200" dirty="0"/>
          </a:p>
        </p:txBody>
      </p:sp>
      <p:sp>
        <p:nvSpPr>
          <p:cNvPr id="5" name="Text 1"/>
          <p:cNvSpPr>
            <a:spLocks noGrp="1"/>
          </p:cNvSpPr>
          <p:nvPr>
            <p:ph type="body" idx="104" hasCustomPrompt="1"/>
          </p:nvPr>
        </p:nvSpPr>
        <p:spPr>
          <a:xfrm>
            <a:off x="822960" y="4937760"/>
            <a:ext cx="7315200" cy="457200"/>
          </a:xfrm>
          <a:prstGeom prst="rect">
            <a:avLst/>
          </a:prstGeom>
          <a:noFill/>
          <a:ln/>
        </p:spPr>
        <p:txBody>
          <a:bodyPr wrap="square" lIns="0" tIns="0" rIns="0" bIns="0" rtlCol="0"/>
          <a:lstStyle/>
          <a:p>
            <a:pPr marL="0" indent="0">
              <a:buNone/>
            </a:pPr>
            <a:r>
              <a:rPr lang="en-US" sz="2000" b="1" dirty="0">
                <a:solidFill>
                  <a:schemeClr val="tx1"/>
                </a:solidFill>
              </a:rPr>
              <a:t>Eric Riley</a:t>
            </a:r>
            <a:endParaRPr lang="en-US" sz="2000" dirty="0"/>
          </a:p>
        </p:txBody>
      </p:sp>
      <p:sp>
        <p:nvSpPr>
          <p:cNvPr id="6" name="Synthetic note"/>
          <p:cNvSpPr txBox="1"/>
          <p:nvPr/>
        </p:nvSpPr>
        <p:spPr>
          <a:xfrm>
            <a:off x="822960" y="5989320"/>
            <a:ext cx="7315200" cy="320040"/>
          </a:xfrm>
          <a:prstGeom prst="rect">
            <a:avLst/>
          </a:prstGeom>
          <a:noFill/>
          <a:ln/>
        </p:spPr>
        <p:txBody>
          <a:bodyPr wrap="square" lIns="0" tIns="0" rIns="0" bIns="0" rtlCol="0" anchor="t"/>
          <a:lstStyle/>
          <a:p>
            <a:pPr marL="0" indent="0">
              <a:buNone/>
            </a:pPr>
            <a:r>
              <a:rPr lang="en-US" sz="1200" dirty="0">
                <a:solidFill>
                  <a:schemeClr val="accent5"/>
                </a:solidFill>
              </a:rPr>
              <a:t>All data in this deck is synthetic.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The funnel is a survival curve</a:t>
            </a:r>
            <a:endParaRPr lang="en-US" sz="2600" dirty="0"/>
          </a:p>
        </p:txBody>
      </p:sp>
      <p:graphicFrame>
        <p:nvGraphicFramePr>
          <p:cNvPr id="3" name="Survival by stage chart"/>
          <p:cNvGraphicFramePr/>
          <p:nvPr/>
        </p:nvGraphicFramePr>
        <p:xfrm>
          <a:off x="411480" y="1143000"/>
          <a:ext cx="6675120" cy="5349240"/>
        </p:xfrm>
        <a:graphic>
          <a:graphicData uri="http://schemas.openxmlformats.org/drawingml/2006/chart">
            <c:chart xmlns:c="http://schemas.openxmlformats.org/drawingml/2006/chart" xmlns:r="http://schemas.openxmlformats.org/officeDocument/2006/relationships" r:id="rId3"/>
          </a:graphicData>
        </a:graphic>
      </p:graphicFrame>
      <p:sp>
        <p:nvSpPr>
          <p:cNvPr id="4" name="Framing"/>
          <p:cNvSpPr txBox="1"/>
          <p:nvPr/>
        </p:nvSpPr>
        <p:spPr>
          <a:xfrm>
            <a:off x="7269480" y="1234440"/>
            <a:ext cx="4480560" cy="914400"/>
          </a:xfrm>
          <a:prstGeom prst="rect">
            <a:avLst/>
          </a:prstGeom>
          <a:noFill/>
          <a:ln/>
        </p:spPr>
        <p:txBody>
          <a:bodyPr wrap="square" lIns="0" tIns="0" rIns="0" bIns="0" rtlCol="0" anchor="t"/>
          <a:lstStyle/>
          <a:p>
            <a:pPr marL="0" indent="0">
              <a:buNone/>
            </a:pPr>
            <a:r>
              <a:rPr lang="en-US" sz="1800" b="1" dirty="0">
                <a:solidFill>
                  <a:schemeClr val="accent1"/>
                </a:solidFill>
              </a:rPr>
              <a:t>Each stage is a time step. </a:t>
            </a:r>
            <a:r>
              <a:rPr lang="en-US" sz="1800" dirty="0">
                <a:solidFill>
                  <a:schemeClr val="tx1"/>
                </a:solidFill>
              </a:rPr>
              <a:t>Leaving the funnel is the event. Issuance is surviving to the end.</a:t>
            </a:r>
            <a:endParaRPr lang="en-US" sz="1800" dirty="0"/>
          </a:p>
        </p:txBody>
      </p:sp>
      <p:sp>
        <p:nvSpPr>
          <p:cNvPr id="5" name="Kaplan-Meier product panel"/>
          <p:cNvSpPr/>
          <p:nvPr/>
        </p:nvSpPr>
        <p:spPr>
          <a:xfrm>
            <a:off x="7269480" y="2194560"/>
            <a:ext cx="4480560" cy="1874520"/>
          </a:xfrm>
          <a:prstGeom prst="roundRect">
            <a:avLst>
              <a:gd name="adj" fmla="val 3902"/>
            </a:avLst>
          </a:prstGeom>
          <a:solidFill>
            <a:schemeClr val="bg2"/>
          </a:solidFill>
          <a:ln w="15875">
            <a:solidFill>
              <a:schemeClr val="bg2"/>
            </a:solidFill>
            <a:prstDash val="solid"/>
          </a:ln>
        </p:spPr>
        <p:txBody>
          <a:bodyPr/>
          <a:lstStyle/>
          <a:p>
            <a:endParaRPr lang="en-US"/>
          </a:p>
        </p:txBody>
      </p:sp>
      <p:sp>
        <p:nvSpPr>
          <p:cNvPr id="6" name="Kaplan-Meier product"/>
          <p:cNvSpPr txBox="1"/>
          <p:nvPr/>
        </p:nvSpPr>
        <p:spPr>
          <a:xfrm>
            <a:off x="7543800" y="2423160"/>
            <a:ext cx="3931920" cy="1417320"/>
          </a:xfrm>
          <a:prstGeom prst="rect">
            <a:avLst/>
          </a:prstGeom>
          <a:noFill/>
          <a:ln/>
        </p:spPr>
        <p:txBody>
          <a:bodyPr wrap="square" lIns="0" tIns="0" rIns="0" bIns="0" rtlCol="0" anchor="ctr"/>
          <a:lstStyle/>
          <a:p>
            <a:pPr marL="0" indent="0">
              <a:spcAft>
                <a:spcPts val="800"/>
              </a:spcAft>
              <a:buNone/>
            </a:pPr>
            <a:r>
              <a:rPr lang="en-US" sz="1800" dirty="0">
                <a:solidFill>
                  <a:schemeClr val="tx1"/>
                </a:solidFill>
                <a:latin typeface="Cambria" pitchFamily="34" charset="0"/>
                <a:ea typeface="Cambria" pitchFamily="34" charset="-122"/>
                <a:cs typeface="Cambria" pitchFamily="34" charset="-120"/>
              </a:rPr>
              <a:t>hₖ = dₖ ⁄ nₖ   (exits ÷ at risk)</a:t>
            </a:r>
            <a:endParaRPr lang="en-US" sz="1600" dirty="0"/>
          </a:p>
          <a:p>
            <a:pPr marL="0" indent="0">
              <a:spcAft>
                <a:spcPts val="800"/>
              </a:spcAft>
              <a:buNone/>
            </a:pPr>
            <a:r>
              <a:rPr lang="en-US" sz="1800" dirty="0">
                <a:solidFill>
                  <a:schemeClr val="tx1"/>
                </a:solidFill>
                <a:latin typeface="Cambria" pitchFamily="34" charset="0"/>
                <a:ea typeface="Cambria" pitchFamily="34" charset="-122"/>
                <a:cs typeface="Cambria" pitchFamily="34" charset="-120"/>
              </a:rPr>
              <a:t>S(j) = ∏ₖ₌₁ʲ (1 − hₖ)</a:t>
            </a:r>
            <a:endParaRPr lang="en-US" sz="1600" dirty="0"/>
          </a:p>
          <a:p>
            <a:pPr marL="0" indent="0">
              <a:spcAft>
                <a:spcPts val="800"/>
              </a:spcAft>
              <a:buNone/>
            </a:pPr>
            <a:r>
              <a:rPr lang="en-US" sz="1800" dirty="0">
                <a:solidFill>
                  <a:schemeClr val="tx1"/>
                </a:solidFill>
                <a:latin typeface="Cambria" pitchFamily="34" charset="0"/>
                <a:ea typeface="Cambria" pitchFamily="34" charset="-122"/>
                <a:cs typeface="Cambria" pitchFamily="34" charset="-120"/>
              </a:rPr>
              <a:t>S(Issued) = 4,116 ⁄ 9,793 = 42.0%</a:t>
            </a:r>
            <a:endParaRPr lang="en-US" sz="1600" dirty="0"/>
          </a:p>
        </p:txBody>
      </p:sp>
      <p:sp>
        <p:nvSpPr>
          <p:cNvPr id="7" name="Link to IT"/>
          <p:cNvSpPr txBox="1"/>
          <p:nvPr/>
        </p:nvSpPr>
        <p:spPr>
          <a:xfrm>
            <a:off x="7269480" y="4297680"/>
            <a:ext cx="4480560" cy="1463040"/>
          </a:xfrm>
          <a:prstGeom prst="rect">
            <a:avLst/>
          </a:prstGeom>
          <a:noFill/>
          <a:ln/>
        </p:spPr>
        <p:txBody>
          <a:bodyPr wrap="square" lIns="0" tIns="0" rIns="0" bIns="0" rtlCol="0" anchor="t"/>
          <a:lstStyle/>
          <a:p>
            <a:pPr marL="0" indent="0">
              <a:buNone/>
            </a:pPr>
            <a:r>
              <a:rPr lang="en-US" sz="1600" b="1" dirty="0">
                <a:solidFill>
                  <a:schemeClr val="tx1"/>
                </a:solidFill>
              </a:rPr>
              <a:t>IT's pass rates are the factors (1 − hₖ). </a:t>
            </a:r>
            <a:r>
              <a:rPr lang="en-US" sz="1600" dirty="0">
                <a:solidFill>
                  <a:schemeClr val="accent5"/>
                </a:solidFill>
              </a:rPr>
              <a:t>Multiply them and you get P&amp;C's end-to-end yield. The two teams are reading the same curve two ways.</a:t>
            </a:r>
            <a:endParaRPr lang="en-US" sz="16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IT reads the hazard. P&amp;C reads the density.</a:t>
            </a:r>
            <a:endParaRPr lang="en-US" sz="2600" dirty="0"/>
          </a:p>
        </p:txBody>
      </p:sp>
      <p:graphicFrame>
        <p:nvGraphicFramePr>
          <p:cNvPr id="4" name="Hazard and density table"/>
          <p:cNvGraphicFramePr>
            <a:graphicFrameLocks noGrp="1"/>
          </p:cNvGraphicFramePr>
          <p:nvPr>
            <p:extLst>
              <p:ext uri="{D42A27DB-BD31-4B8C-83A1-F6EECF244321}">
                <p14:modId xmlns:p14="http://schemas.microsoft.com/office/powerpoint/2010/main" val="1579011935"/>
              </p:ext>
            </p:extLst>
          </p:nvPr>
        </p:nvGraphicFramePr>
        <p:xfrm>
          <a:off x="411480" y="1188720"/>
          <a:ext cx="11338560" cy="2633472"/>
        </p:xfrm>
        <a:graphic>
          <a:graphicData uri="http://schemas.openxmlformats.org/drawingml/2006/table">
            <a:tbl>
              <a:tblPr/>
              <a:tblGrid>
                <a:gridCol w="2926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438912">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At risk nⱼ</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Exits dⱼ</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Hazard hⱼ = dⱼ ⁄ nⱼ  (IT)</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Density fⱼ = dⱼ ⁄ n₀  (P&amp;C)</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Store front → Quote start</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9,793</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1,233</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12.6%</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12.6%</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Quote start → Quote done</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8,560</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1,273</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14.9%</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13.0%</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400" b="1" dirty="0">
                          <a:solidFill>
                            <a:srgbClr val="534AB7"/>
                          </a:solidFill>
                          <a:latin typeface="Calibri" pitchFamily="34" charset="0"/>
                          <a:ea typeface="Calibri" pitchFamily="34" charset="-122"/>
                          <a:cs typeface="Calibri" pitchFamily="34" charset="-120"/>
                        </a:rPr>
                        <a:t>Quote done → App start</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7,287</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1,404</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b="1" dirty="0">
                          <a:solidFill>
                            <a:srgbClr val="534AB7"/>
                          </a:solidFill>
                          <a:latin typeface="Calibri" pitchFamily="34" charset="0"/>
                          <a:ea typeface="Calibri" pitchFamily="34" charset="-122"/>
                          <a:cs typeface="Calibri" pitchFamily="34" charset="-120"/>
                        </a:rPr>
                        <a:t>19.3%  highest</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b="1" dirty="0">
                          <a:solidFill>
                            <a:srgbClr val="534AB7"/>
                          </a:solidFill>
                          <a:latin typeface="Calibri" pitchFamily="34" charset="0"/>
                          <a:ea typeface="Calibri" pitchFamily="34" charset="-122"/>
                          <a:cs typeface="Calibri" pitchFamily="34" charset="-120"/>
                        </a:rPr>
                        <a:t>14.3%  largest</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App start → App done</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5,883</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976</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16.6%</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400" b="1" dirty="0">
                          <a:solidFill>
                            <a:srgbClr val="720C27"/>
                          </a:solidFill>
                          <a:latin typeface="Calibri" pitchFamily="34" charset="0"/>
                          <a:ea typeface="Calibri" pitchFamily="34" charset="-122"/>
                          <a:cs typeface="Calibri" pitchFamily="34" charset="-120"/>
                        </a:rPr>
                        <a:t>App done → Issued</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4,907</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12395B"/>
                          </a:solidFill>
                          <a:latin typeface="Calibri" pitchFamily="34" charset="0"/>
                          <a:ea typeface="Calibri" pitchFamily="34" charset="-122"/>
                          <a:cs typeface="Calibri" pitchFamily="34" charset="-120"/>
                        </a:rPr>
                        <a:t>791</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dirty="0">
                          <a:solidFill>
                            <a:srgbClr val="720C27"/>
                          </a:solidFill>
                          <a:latin typeface="Calibri" pitchFamily="34" charset="0"/>
                          <a:ea typeface="Calibri" pitchFamily="34" charset="-122"/>
                          <a:cs typeface="Calibri" pitchFamily="34" charset="-120"/>
                        </a:rPr>
                        <a:t>16.1%</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400" b="1" dirty="0">
                          <a:solidFill>
                            <a:srgbClr val="720C27"/>
                          </a:solidFill>
                          <a:latin typeface="Calibri" pitchFamily="34" charset="0"/>
                          <a:ea typeface="Calibri" pitchFamily="34" charset="-122"/>
                          <a:cs typeface="Calibri" pitchFamily="34" charset="-120"/>
                        </a:rPr>
                        <a:t>8.1%  smallest</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 name="Density identity panel"/>
          <p:cNvSpPr/>
          <p:nvPr/>
        </p:nvSpPr>
        <p:spPr>
          <a:xfrm>
            <a:off x="411480" y="4160520"/>
            <a:ext cx="3840480" cy="1097280"/>
          </a:xfrm>
          <a:prstGeom prst="roundRect">
            <a:avLst>
              <a:gd name="adj" fmla="val 6667"/>
            </a:avLst>
          </a:prstGeom>
          <a:solidFill>
            <a:schemeClr val="bg2"/>
          </a:solidFill>
          <a:ln w="15875">
            <a:solidFill>
              <a:schemeClr val="bg2"/>
            </a:solidFill>
            <a:prstDash val="solid"/>
          </a:ln>
        </p:spPr>
        <p:txBody>
          <a:bodyPr/>
          <a:lstStyle/>
          <a:p>
            <a:endParaRPr lang="en-US"/>
          </a:p>
        </p:txBody>
      </p:sp>
      <p:sp>
        <p:nvSpPr>
          <p:cNvPr id="5" name="Density identity"/>
          <p:cNvSpPr txBox="1"/>
          <p:nvPr/>
        </p:nvSpPr>
        <p:spPr>
          <a:xfrm>
            <a:off x="685800" y="4389120"/>
            <a:ext cx="3291840" cy="640080"/>
          </a:xfrm>
          <a:prstGeom prst="rect">
            <a:avLst/>
          </a:prstGeom>
          <a:noFill/>
          <a:ln/>
        </p:spPr>
        <p:txBody>
          <a:bodyPr wrap="square" lIns="0" tIns="0" rIns="0" bIns="0" rtlCol="0" anchor="ctr"/>
          <a:lstStyle/>
          <a:p>
            <a:pPr marL="0" indent="0">
              <a:spcAft>
                <a:spcPts val="800"/>
              </a:spcAft>
              <a:buNone/>
            </a:pPr>
            <a:r>
              <a:rPr lang="en-US" sz="2600" dirty="0">
                <a:solidFill>
                  <a:schemeClr val="tx1"/>
                </a:solidFill>
                <a:latin typeface="Cambria" pitchFamily="34" charset="0"/>
                <a:ea typeface="Cambria" pitchFamily="34" charset="-122"/>
                <a:cs typeface="Cambria" pitchFamily="34" charset="-120"/>
              </a:rPr>
              <a:t>fⱼ = S(j − 1) · hⱼ</a:t>
            </a:r>
            <a:endParaRPr lang="en-US" sz="1600" dirty="0"/>
          </a:p>
        </p:txBody>
      </p:sp>
      <p:sp>
        <p:nvSpPr>
          <p:cNvPr id="6" name="Why late stages look small"/>
          <p:cNvSpPr txBox="1"/>
          <p:nvPr/>
        </p:nvSpPr>
        <p:spPr>
          <a:xfrm>
            <a:off x="4572000" y="4160520"/>
            <a:ext cx="7178040" cy="1463040"/>
          </a:xfrm>
          <a:prstGeom prst="rect">
            <a:avLst/>
          </a:prstGeom>
          <a:noFill/>
          <a:ln/>
        </p:spPr>
        <p:txBody>
          <a:bodyPr wrap="square" lIns="0" tIns="0" rIns="0" bIns="0" rtlCol="0" anchor="t"/>
          <a:lstStyle/>
          <a:p>
            <a:pPr marL="0" indent="0">
              <a:buNone/>
            </a:pPr>
            <a:r>
              <a:rPr lang="en-US" sz="1700" b="1" dirty="0">
                <a:solidFill>
                  <a:schemeClr val="accent2"/>
                </a:solidFill>
              </a:rPr>
              <a:t>Late stages always look small to P&amp;C. </a:t>
            </a:r>
            <a:r>
              <a:rPr lang="en-US" sz="1700" dirty="0">
                <a:solidFill>
                  <a:schemeClr val="tx1"/>
                </a:solidFill>
              </a:rPr>
              <a:t>The density multiplies the hazard by the share that got that far. At issuance only half the visitors are left, so a 16.1% hazard becomes an 8.1% share of the book: 0.501 × 16.1% = 8.1%.</a:t>
            </a:r>
            <a:endParaRPr lang="en-US" sz="17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A stalled application is an event, not a censored one</a:t>
            </a:r>
            <a:endParaRPr lang="en-US" sz="2600" dirty="0"/>
          </a:p>
        </p:txBody>
      </p:sp>
      <p:sp>
        <p:nvSpPr>
          <p:cNvPr id="3" name="Censored card"/>
          <p:cNvSpPr/>
          <p:nvPr/>
        </p:nvSpPr>
        <p:spPr>
          <a:xfrm>
            <a:off x="411480" y="1188720"/>
            <a:ext cx="5486400" cy="1874520"/>
          </a:xfrm>
          <a:prstGeom prst="roundRect">
            <a:avLst>
              <a:gd name="adj" fmla="val 3902"/>
            </a:avLst>
          </a:prstGeom>
          <a:solidFill>
            <a:schemeClr val="bg1"/>
          </a:solidFill>
          <a:ln w="15875">
            <a:solidFill>
              <a:schemeClr val="accent4"/>
            </a:solidFill>
            <a:prstDash val="solid"/>
          </a:ln>
        </p:spPr>
        <p:txBody>
          <a:bodyPr/>
          <a:lstStyle/>
          <a:p>
            <a:endParaRPr lang="en-US"/>
          </a:p>
        </p:txBody>
      </p:sp>
      <p:sp>
        <p:nvSpPr>
          <p:cNvPr id="4" name="Censored text"/>
          <p:cNvSpPr txBox="1"/>
          <p:nvPr/>
        </p:nvSpPr>
        <p:spPr>
          <a:xfrm>
            <a:off x="685800" y="1371600"/>
            <a:ext cx="4937760" cy="1554480"/>
          </a:xfrm>
          <a:prstGeom prst="rect">
            <a:avLst/>
          </a:prstGeom>
          <a:noFill/>
          <a:ln/>
        </p:spPr>
        <p:txBody>
          <a:bodyPr wrap="square" lIns="0" tIns="0" rIns="0" bIns="0" rtlCol="0" anchor="t"/>
          <a:lstStyle/>
          <a:p>
            <a:pPr marL="0" indent="0">
              <a:buNone/>
            </a:pPr>
            <a:r>
              <a:rPr lang="en-US" sz="2000" b="1" dirty="0">
                <a:solidFill>
                  <a:schemeClr val="accent1"/>
                </a:solidFill>
              </a:rPr>
              <a:t>Censored</a:t>
            </a:r>
            <a:endParaRPr lang="en-US" sz="1600" dirty="0"/>
          </a:p>
          <a:p>
            <a:pPr marL="0" indent="0">
              <a:buNone/>
            </a:pPr>
            <a:r>
              <a:rPr lang="en-US" sz="1600" dirty="0">
                <a:solidFill>
                  <a:schemeClr val="tx1"/>
                </a:solidFill>
              </a:rPr>
              <a:t>Still in progress. We only know it survived so far. It leaves the risk set without counting as an exit.</a:t>
            </a:r>
            <a:endParaRPr lang="en-US" sz="1600" dirty="0"/>
          </a:p>
        </p:txBody>
      </p:sp>
      <p:sp>
        <p:nvSpPr>
          <p:cNvPr id="5" name="Event card"/>
          <p:cNvSpPr/>
          <p:nvPr/>
        </p:nvSpPr>
        <p:spPr>
          <a:xfrm>
            <a:off x="6263640" y="1188720"/>
            <a:ext cx="5486400" cy="1874520"/>
          </a:xfrm>
          <a:prstGeom prst="roundRect">
            <a:avLst>
              <a:gd name="adj" fmla="val 3902"/>
            </a:avLst>
          </a:prstGeom>
          <a:solidFill>
            <a:schemeClr val="bg1"/>
          </a:solidFill>
          <a:ln w="22225">
            <a:solidFill>
              <a:schemeClr val="accent2"/>
            </a:solidFill>
            <a:prstDash val="solid"/>
          </a:ln>
        </p:spPr>
        <p:txBody>
          <a:bodyPr/>
          <a:lstStyle/>
          <a:p>
            <a:endParaRPr lang="en-US"/>
          </a:p>
        </p:txBody>
      </p:sp>
      <p:sp>
        <p:nvSpPr>
          <p:cNvPr id="6" name="Event text"/>
          <p:cNvSpPr txBox="1"/>
          <p:nvPr/>
        </p:nvSpPr>
        <p:spPr>
          <a:xfrm>
            <a:off x="6537960" y="1371600"/>
            <a:ext cx="4937760" cy="1554480"/>
          </a:xfrm>
          <a:prstGeom prst="rect">
            <a:avLst/>
          </a:prstGeom>
          <a:noFill/>
          <a:ln/>
        </p:spPr>
        <p:txBody>
          <a:bodyPr wrap="square" lIns="0" tIns="0" rIns="0" bIns="0" rtlCol="0" anchor="t"/>
          <a:lstStyle/>
          <a:p>
            <a:pPr marL="0" indent="0">
              <a:buNone/>
            </a:pPr>
            <a:r>
              <a:rPr lang="en-US" sz="2000" b="1" dirty="0">
                <a:solidFill>
                  <a:schemeClr val="accent2"/>
                </a:solidFill>
              </a:rPr>
              <a:t>Event</a:t>
            </a:r>
            <a:endParaRPr lang="en-US" sz="1600" dirty="0"/>
          </a:p>
          <a:p>
            <a:pPr marL="0" indent="0">
              <a:buNone/>
            </a:pPr>
            <a:r>
              <a:rPr lang="en-US" sz="1600" dirty="0">
                <a:solidFill>
                  <a:schemeClr val="tx1"/>
                </a:solidFill>
              </a:rPr>
              <a:t>Left the funnel. Counts in dⱼ. An application that will never issue belongs here, even if the system says "in progress."</a:t>
            </a:r>
            <a:endParaRPr lang="en-US" sz="1600" dirty="0"/>
          </a:p>
        </p:txBody>
      </p:sp>
      <p:sp>
        <p:nvSpPr>
          <p:cNvPr id="7" name="Kaplan-Meier with censoring panel"/>
          <p:cNvSpPr/>
          <p:nvPr/>
        </p:nvSpPr>
        <p:spPr>
          <a:xfrm>
            <a:off x="411480" y="3291840"/>
            <a:ext cx="5486400" cy="1051560"/>
          </a:xfrm>
          <a:prstGeom prst="roundRect">
            <a:avLst>
              <a:gd name="adj" fmla="val 6957"/>
            </a:avLst>
          </a:prstGeom>
          <a:solidFill>
            <a:schemeClr val="bg2"/>
          </a:solidFill>
          <a:ln w="15875">
            <a:solidFill>
              <a:schemeClr val="bg2"/>
            </a:solidFill>
            <a:prstDash val="solid"/>
          </a:ln>
        </p:spPr>
        <p:txBody>
          <a:bodyPr/>
          <a:lstStyle/>
          <a:p>
            <a:endParaRPr lang="en-US"/>
          </a:p>
        </p:txBody>
      </p:sp>
      <p:sp>
        <p:nvSpPr>
          <p:cNvPr id="8" name="Kaplan-Meier with censoring"/>
          <p:cNvSpPr txBox="1"/>
          <p:nvPr/>
        </p:nvSpPr>
        <p:spPr>
          <a:xfrm>
            <a:off x="685800" y="3520440"/>
            <a:ext cx="4937760" cy="594360"/>
          </a:xfrm>
          <a:prstGeom prst="rect">
            <a:avLst/>
          </a:prstGeom>
          <a:noFill/>
          <a:ln/>
        </p:spPr>
        <p:txBody>
          <a:bodyPr wrap="square" lIns="0" tIns="0" rIns="0" bIns="0" rtlCol="0" anchor="ctr"/>
          <a:lstStyle/>
          <a:p>
            <a:pPr marL="0" indent="0">
              <a:spcAft>
                <a:spcPts val="800"/>
              </a:spcAft>
              <a:buNone/>
            </a:pPr>
            <a:r>
              <a:rPr lang="en-US" sz="2200" dirty="0">
                <a:solidFill>
                  <a:schemeClr val="tx1"/>
                </a:solidFill>
                <a:latin typeface="Cambria" pitchFamily="34" charset="0"/>
                <a:ea typeface="Cambria" pitchFamily="34" charset="-122"/>
                <a:cs typeface="Cambria" pitchFamily="34" charset="-120"/>
              </a:rPr>
              <a:t>Ŝ(t) = ∏ over tᵢ ≤ t of (1 − dᵢ ⁄ nᵢ)</a:t>
            </a:r>
            <a:endParaRPr lang="en-US" sz="1600" dirty="0"/>
          </a:p>
        </p:txBody>
      </p:sp>
      <p:sp>
        <p:nvSpPr>
          <p:cNvPr id="9" name="Bias"/>
          <p:cNvSpPr txBox="1"/>
          <p:nvPr/>
        </p:nvSpPr>
        <p:spPr>
          <a:xfrm>
            <a:off x="6263640" y="3383280"/>
            <a:ext cx="5486400" cy="914400"/>
          </a:xfrm>
          <a:prstGeom prst="rect">
            <a:avLst/>
          </a:prstGeom>
          <a:noFill/>
          <a:ln/>
        </p:spPr>
        <p:txBody>
          <a:bodyPr wrap="square" lIns="0" tIns="0" rIns="0" bIns="0" rtlCol="0" anchor="t"/>
          <a:lstStyle/>
          <a:p>
            <a:pPr marL="0" indent="0">
              <a:buNone/>
            </a:pPr>
            <a:r>
              <a:rPr lang="en-US" sz="1700" b="1" dirty="0">
                <a:solidFill>
                  <a:schemeClr val="tx1"/>
                </a:solidFill>
              </a:rPr>
              <a:t>Mislabel a dead application as censored, and: </a:t>
            </a:r>
            <a:endParaRPr lang="en-US" sz="1700" dirty="0"/>
          </a:p>
          <a:p>
            <a:pPr marL="0" indent="0">
              <a:buNone/>
            </a:pPr>
            <a:r>
              <a:rPr lang="en-US" sz="1700" b="1" dirty="0">
                <a:solidFill>
                  <a:schemeClr val="accent2"/>
                </a:solidFill>
              </a:rPr>
              <a:t>dᵢ is undercounted, so ĥ is biased low and Ŝ is biased high.</a:t>
            </a:r>
            <a:endParaRPr lang="en-US" sz="1700" dirty="0"/>
          </a:p>
        </p:txBody>
      </p:sp>
      <p:sp>
        <p:nvSpPr>
          <p:cNvPr id="10" name="Fix"/>
          <p:cNvSpPr txBox="1"/>
          <p:nvPr/>
        </p:nvSpPr>
        <p:spPr>
          <a:xfrm>
            <a:off x="411480" y="4709160"/>
            <a:ext cx="11338560" cy="914400"/>
          </a:xfrm>
          <a:prstGeom prst="rect">
            <a:avLst/>
          </a:prstGeom>
          <a:noFill/>
          <a:ln/>
        </p:spPr>
        <p:txBody>
          <a:bodyPr wrap="square" lIns="0" tIns="0" rIns="0" bIns="0" rtlCol="0" anchor="t"/>
          <a:lstStyle/>
          <a:p>
            <a:pPr marL="0" indent="0">
              <a:buNone/>
            </a:pPr>
            <a:r>
              <a:rPr lang="en-US" sz="1700" b="1" dirty="0">
                <a:solidFill>
                  <a:schemeClr val="accent1"/>
                </a:solidFill>
              </a:rPr>
              <a:t>Fix: </a:t>
            </a:r>
            <a:r>
              <a:rPr lang="en-US" sz="1700" dirty="0">
                <a:solidFill>
                  <a:schemeClr val="tx1"/>
                </a:solidFill>
              </a:rPr>
              <a:t>set a time limit. An application with no movement for T days is reclassified as an exit, with T chosen from the time-to-issue distribution of applications that did issue.</a:t>
            </a:r>
            <a:endParaRPr lang="en-US" sz="17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At issuance, the loss has competing causes</a:t>
            </a:r>
            <a:endParaRPr lang="en-US" sz="2600" dirty="0"/>
          </a:p>
        </p:txBody>
      </p:sp>
      <p:sp>
        <p:nvSpPr>
          <p:cNvPr id="3" name="Causes"/>
          <p:cNvSpPr txBox="1"/>
          <p:nvPr/>
        </p:nvSpPr>
        <p:spPr>
          <a:xfrm>
            <a:off x="411480" y="1188720"/>
            <a:ext cx="11338560" cy="640080"/>
          </a:xfrm>
          <a:prstGeom prst="rect">
            <a:avLst/>
          </a:prstGeom>
          <a:noFill/>
          <a:ln/>
        </p:spPr>
        <p:txBody>
          <a:bodyPr wrap="square" lIns="0" tIns="0" rIns="0" bIns="0" rtlCol="0" anchor="t"/>
          <a:lstStyle/>
          <a:p>
            <a:pPr marL="0" indent="0">
              <a:buNone/>
            </a:pPr>
            <a:r>
              <a:rPr lang="en-US" sz="1800" dirty="0">
                <a:solidFill>
                  <a:schemeClr val="tx1"/>
                </a:solidFill>
              </a:rPr>
              <a:t>After App Complete, an application can leave for different reasons: </a:t>
            </a:r>
            <a:r>
              <a:rPr lang="en-US" sz="1800" b="1" dirty="0">
                <a:solidFill>
                  <a:schemeClr val="tx1"/>
                </a:solidFill>
              </a:rPr>
              <a:t>an underwriting decline, the customer withdrawing, or the trap.</a:t>
            </a:r>
            <a:endParaRPr lang="en-US" sz="1800" dirty="0"/>
          </a:p>
        </p:txBody>
      </p:sp>
      <p:sp>
        <p:nvSpPr>
          <p:cNvPr id="4" name="Cumulative incidence panel"/>
          <p:cNvSpPr/>
          <p:nvPr/>
        </p:nvSpPr>
        <p:spPr>
          <a:xfrm>
            <a:off x="411480" y="1965960"/>
            <a:ext cx="5760720" cy="1097280"/>
          </a:xfrm>
          <a:prstGeom prst="roundRect">
            <a:avLst>
              <a:gd name="adj" fmla="val 6667"/>
            </a:avLst>
          </a:prstGeom>
          <a:solidFill>
            <a:schemeClr val="bg2"/>
          </a:solidFill>
          <a:ln w="15875">
            <a:solidFill>
              <a:schemeClr val="bg2"/>
            </a:solidFill>
            <a:prstDash val="solid"/>
          </a:ln>
        </p:spPr>
        <p:txBody>
          <a:bodyPr/>
          <a:lstStyle/>
          <a:p>
            <a:endParaRPr lang="en-US"/>
          </a:p>
        </p:txBody>
      </p:sp>
      <p:sp>
        <p:nvSpPr>
          <p:cNvPr id="5" name="Cumulative incidence"/>
          <p:cNvSpPr txBox="1"/>
          <p:nvPr/>
        </p:nvSpPr>
        <p:spPr>
          <a:xfrm>
            <a:off x="685800" y="2194560"/>
            <a:ext cx="5212080" cy="640080"/>
          </a:xfrm>
          <a:prstGeom prst="rect">
            <a:avLst/>
          </a:prstGeom>
          <a:noFill/>
          <a:ln/>
        </p:spPr>
        <p:txBody>
          <a:bodyPr wrap="square" lIns="0" tIns="0" rIns="0" bIns="0" rtlCol="0" anchor="ctr"/>
          <a:lstStyle/>
          <a:p>
            <a:pPr marL="0" indent="0">
              <a:spcAft>
                <a:spcPts val="800"/>
              </a:spcAft>
              <a:buNone/>
            </a:pPr>
            <a:r>
              <a:rPr lang="en-US" sz="2200" dirty="0">
                <a:solidFill>
                  <a:schemeClr val="tx1"/>
                </a:solidFill>
                <a:latin typeface="Cambria" pitchFamily="34" charset="0"/>
                <a:ea typeface="Cambria" pitchFamily="34" charset="-122"/>
                <a:cs typeface="Cambria" pitchFamily="34" charset="-120"/>
              </a:rPr>
              <a:t>Fₖ(t) = Σ over tᵢ ≤ t of Ŝ(tᵢ₋₁) · hₖ(tᵢ)</a:t>
            </a:r>
            <a:endParaRPr lang="en-US" sz="1600" dirty="0"/>
          </a:p>
        </p:txBody>
      </p:sp>
      <p:sp>
        <p:nvSpPr>
          <p:cNvPr id="6" name="Warning"/>
          <p:cNvSpPr txBox="1"/>
          <p:nvPr/>
        </p:nvSpPr>
        <p:spPr>
          <a:xfrm>
            <a:off x="6446520" y="1965960"/>
            <a:ext cx="5303520" cy="1188720"/>
          </a:xfrm>
          <a:prstGeom prst="rect">
            <a:avLst/>
          </a:prstGeom>
          <a:noFill/>
          <a:ln/>
        </p:spPr>
        <p:txBody>
          <a:bodyPr wrap="square" lIns="0" tIns="0" rIns="0" bIns="0" rtlCol="0" anchor="t"/>
          <a:lstStyle/>
          <a:p>
            <a:pPr marL="0" indent="0">
              <a:buNone/>
            </a:pPr>
            <a:r>
              <a:rPr lang="en-US" sz="1600" b="1" dirty="0">
                <a:solidFill>
                  <a:schemeClr val="accent2"/>
                </a:solidFill>
              </a:rPr>
              <a:t>Use cumulative incidence (Aalen–Johansen), not 1 − KM per cause. </a:t>
            </a:r>
            <a:r>
              <a:rPr lang="en-US" sz="1600" dirty="0">
                <a:solidFill>
                  <a:schemeClr val="tx1"/>
                </a:solidFill>
              </a:rPr>
              <a:t>Treating the other causes as censored pretends they could still happen later, which overstates each cause.</a:t>
            </a:r>
            <a:endParaRPr lang="en-US" sz="1600" dirty="0"/>
          </a:p>
        </p:txBody>
      </p:sp>
      <p:graphicFrame>
        <p:nvGraphicFramePr>
          <p:cNvPr id="7" name="Loss decomposition chart"/>
          <p:cNvGraphicFramePr/>
          <p:nvPr/>
        </p:nvGraphicFramePr>
        <p:xfrm>
          <a:off x="411480" y="3337560"/>
          <a:ext cx="1133856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8" name="Caption"/>
          <p:cNvSpPr txBox="1"/>
          <p:nvPr/>
        </p:nvSpPr>
        <p:spPr>
          <a:xfrm>
            <a:off x="411480" y="5257800"/>
            <a:ext cx="11338560" cy="731520"/>
          </a:xfrm>
          <a:prstGeom prst="rect">
            <a:avLst/>
          </a:prstGeom>
          <a:noFill/>
          <a:ln/>
        </p:spPr>
        <p:txBody>
          <a:bodyPr wrap="square" lIns="0" tIns="0" rIns="0" bIns="0" rtlCol="0" anchor="t"/>
          <a:lstStyle/>
          <a:p>
            <a:pPr marL="0" indent="0">
              <a:buNone/>
            </a:pPr>
            <a:r>
              <a:rPr lang="en-US" sz="1400" dirty="0">
                <a:solidFill>
                  <a:schemeClr val="accent5"/>
                </a:solidFill>
              </a:rPr>
              <a:t>Of 4,907 completed applications: about 621 (12.7%) lost at the clean-path rate, about 170 (3.5%) extra tied to the trap. The split is model-based: the trap flag is observed, but declines and withdrawals inside the 621 are not separated here.</a:t>
            </a:r>
            <a:endParaRPr lang="en-US" sz="14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The trap more than doubles the hazard at issuance</a:t>
            </a:r>
            <a:endParaRPr lang="en-US" sz="2600" dirty="0"/>
          </a:p>
        </p:txBody>
      </p:sp>
      <p:sp>
        <p:nvSpPr>
          <p:cNvPr id="3" name="Clean stat card"/>
          <p:cNvSpPr/>
          <p:nvPr/>
        </p:nvSpPr>
        <p:spPr>
          <a:xfrm>
            <a:off x="411480" y="1188720"/>
            <a:ext cx="3566160" cy="2194560"/>
          </a:xfrm>
          <a:prstGeom prst="roundRect">
            <a:avLst>
              <a:gd name="adj" fmla="val 3333"/>
            </a:avLst>
          </a:prstGeom>
          <a:solidFill>
            <a:schemeClr val="bg1"/>
          </a:solidFill>
          <a:ln w="15875">
            <a:solidFill>
              <a:schemeClr val="accent4"/>
            </a:solidFill>
            <a:prstDash val="solid"/>
          </a:ln>
        </p:spPr>
        <p:txBody>
          <a:bodyPr/>
          <a:lstStyle/>
          <a:p>
            <a:endParaRPr lang="en-US"/>
          </a:p>
        </p:txBody>
      </p:sp>
      <p:sp>
        <p:nvSpPr>
          <p:cNvPr id="4" name="Clean stat"/>
          <p:cNvSpPr txBox="1"/>
          <p:nvPr/>
        </p:nvSpPr>
        <p:spPr>
          <a:xfrm>
            <a:off x="685800" y="1371600"/>
            <a:ext cx="3108960" cy="1920240"/>
          </a:xfrm>
          <a:prstGeom prst="rect">
            <a:avLst/>
          </a:prstGeom>
          <a:noFill/>
          <a:ln/>
        </p:spPr>
        <p:txBody>
          <a:bodyPr wrap="square" lIns="0" tIns="0" rIns="0" bIns="0" rtlCol="0" anchor="t"/>
          <a:lstStyle/>
          <a:p>
            <a:pPr marL="0" indent="0">
              <a:buNone/>
            </a:pPr>
            <a:r>
              <a:rPr lang="en-US" sz="5400" b="1" dirty="0">
                <a:solidFill>
                  <a:schemeClr val="tx1"/>
                </a:solidFill>
              </a:rPr>
              <a:t>12.7%</a:t>
            </a:r>
            <a:endParaRPr lang="en-US" sz="1600" dirty="0"/>
          </a:p>
          <a:p>
            <a:pPr marL="0" indent="0">
              <a:buNone/>
            </a:pPr>
            <a:r>
              <a:rPr lang="en-US" sz="1500" dirty="0">
                <a:solidFill>
                  <a:schemeClr val="accent5"/>
                </a:solidFill>
              </a:rPr>
              <a:t>hazard at issuance, clean path</a:t>
            </a:r>
            <a:endParaRPr lang="en-US" sz="1600" dirty="0"/>
          </a:p>
          <a:p>
            <a:pPr marL="0" indent="0">
              <a:buNone/>
            </a:pPr>
            <a:r>
              <a:rPr lang="en-US" sz="1500" dirty="0">
                <a:solidFill>
                  <a:schemeClr val="accent5"/>
                </a:solidFill>
              </a:rPr>
              <a:t>485 of 3,833</a:t>
            </a:r>
            <a:endParaRPr lang="en-US" sz="1600" dirty="0"/>
          </a:p>
        </p:txBody>
      </p:sp>
      <p:sp>
        <p:nvSpPr>
          <p:cNvPr id="5" name="Trapped stat card"/>
          <p:cNvSpPr/>
          <p:nvPr/>
        </p:nvSpPr>
        <p:spPr>
          <a:xfrm>
            <a:off x="4206240" y="1188720"/>
            <a:ext cx="3566160" cy="2194560"/>
          </a:xfrm>
          <a:prstGeom prst="roundRect">
            <a:avLst>
              <a:gd name="adj" fmla="val 3333"/>
            </a:avLst>
          </a:prstGeom>
          <a:solidFill>
            <a:schemeClr val="bg1"/>
          </a:solidFill>
          <a:ln w="22225">
            <a:solidFill>
              <a:schemeClr val="accent2"/>
            </a:solidFill>
            <a:prstDash val="solid"/>
          </a:ln>
        </p:spPr>
        <p:txBody>
          <a:bodyPr/>
          <a:lstStyle/>
          <a:p>
            <a:endParaRPr lang="en-US"/>
          </a:p>
        </p:txBody>
      </p:sp>
      <p:sp>
        <p:nvSpPr>
          <p:cNvPr id="6" name="Trapped stat"/>
          <p:cNvSpPr txBox="1"/>
          <p:nvPr/>
        </p:nvSpPr>
        <p:spPr>
          <a:xfrm>
            <a:off x="4480560" y="1371600"/>
            <a:ext cx="3108960" cy="1920240"/>
          </a:xfrm>
          <a:prstGeom prst="rect">
            <a:avLst/>
          </a:prstGeom>
          <a:noFill/>
          <a:ln/>
        </p:spPr>
        <p:txBody>
          <a:bodyPr wrap="square" lIns="0" tIns="0" rIns="0" bIns="0" rtlCol="0" anchor="t"/>
          <a:lstStyle/>
          <a:p>
            <a:pPr marL="0" indent="0">
              <a:buNone/>
            </a:pPr>
            <a:r>
              <a:rPr lang="en-US" sz="5400" b="1" dirty="0">
                <a:solidFill>
                  <a:schemeClr val="accent2"/>
                </a:solidFill>
              </a:rPr>
              <a:t>28.5%</a:t>
            </a:r>
            <a:endParaRPr lang="en-US" sz="1600" dirty="0"/>
          </a:p>
          <a:p>
            <a:pPr marL="0" indent="0">
              <a:buNone/>
            </a:pPr>
            <a:r>
              <a:rPr lang="en-US" sz="1500" dirty="0">
                <a:solidFill>
                  <a:schemeClr val="accent5"/>
                </a:solidFill>
              </a:rPr>
              <a:t>hazard at issuance, trapped</a:t>
            </a:r>
            <a:endParaRPr lang="en-US" sz="1600" dirty="0"/>
          </a:p>
          <a:p>
            <a:pPr marL="0" indent="0">
              <a:buNone/>
            </a:pPr>
            <a:r>
              <a:rPr lang="en-US" sz="1500" dirty="0">
                <a:solidFill>
                  <a:schemeClr val="accent5"/>
                </a:solidFill>
              </a:rPr>
              <a:t>306 of 1,074</a:t>
            </a:r>
            <a:endParaRPr lang="en-US" sz="1600" dirty="0"/>
          </a:p>
        </p:txBody>
      </p:sp>
      <p:sp>
        <p:nvSpPr>
          <p:cNvPr id="7" name="Ratios"/>
          <p:cNvSpPr txBox="1"/>
          <p:nvPr/>
        </p:nvSpPr>
        <p:spPr>
          <a:xfrm>
            <a:off x="8138160" y="1463040"/>
            <a:ext cx="3611880" cy="1737360"/>
          </a:xfrm>
          <a:prstGeom prst="rect">
            <a:avLst/>
          </a:prstGeom>
          <a:noFill/>
          <a:ln/>
        </p:spPr>
        <p:txBody>
          <a:bodyPr wrap="square" lIns="0" tIns="0" rIns="0" bIns="0" rtlCol="0" anchor="ctr"/>
          <a:lstStyle/>
          <a:p>
            <a:pPr marL="0" indent="0">
              <a:buNone/>
            </a:pPr>
            <a:r>
              <a:rPr lang="en-US" sz="1800" dirty="0">
                <a:solidFill>
                  <a:schemeClr val="accent5"/>
                </a:solidFill>
              </a:rPr>
              <a:t>Hazard ratio  </a:t>
            </a:r>
            <a:r>
              <a:rPr lang="en-US" sz="3200" b="1" dirty="0">
                <a:solidFill>
                  <a:schemeClr val="tx1"/>
                </a:solidFill>
              </a:rPr>
              <a:t>2.25</a:t>
            </a:r>
            <a:endParaRPr lang="en-US" sz="1600" dirty="0"/>
          </a:p>
          <a:p>
            <a:pPr marL="0" indent="0">
              <a:buNone/>
            </a:pPr>
            <a:r>
              <a:rPr lang="en-US" sz="1800" dirty="0">
                <a:solidFill>
                  <a:schemeClr val="accent5"/>
                </a:solidFill>
              </a:rPr>
              <a:t>Odds ratio  </a:t>
            </a:r>
            <a:r>
              <a:rPr lang="en-US" sz="3200" b="1" dirty="0">
                <a:solidFill>
                  <a:schemeClr val="tx1"/>
                </a:solidFill>
              </a:rPr>
              <a:t>2.75</a:t>
            </a:r>
            <a:endParaRPr lang="en-US" sz="1600" dirty="0"/>
          </a:p>
        </p:txBody>
      </p:sp>
      <p:sp>
        <p:nvSpPr>
          <p:cNvPr id="8" name="Discrete-time hazard model panel"/>
          <p:cNvSpPr/>
          <p:nvPr/>
        </p:nvSpPr>
        <p:spPr>
          <a:xfrm>
            <a:off x="411480" y="3657600"/>
            <a:ext cx="7360920" cy="1371600"/>
          </a:xfrm>
          <a:prstGeom prst="roundRect">
            <a:avLst>
              <a:gd name="adj" fmla="val 5333"/>
            </a:avLst>
          </a:prstGeom>
          <a:solidFill>
            <a:schemeClr val="bg2"/>
          </a:solidFill>
          <a:ln w="15875">
            <a:solidFill>
              <a:schemeClr val="bg2"/>
            </a:solidFill>
            <a:prstDash val="solid"/>
          </a:ln>
        </p:spPr>
        <p:txBody>
          <a:bodyPr/>
          <a:lstStyle/>
          <a:p>
            <a:endParaRPr lang="en-US"/>
          </a:p>
        </p:txBody>
      </p:sp>
      <p:sp>
        <p:nvSpPr>
          <p:cNvPr id="9" name="Discrete-time hazard model"/>
          <p:cNvSpPr txBox="1"/>
          <p:nvPr/>
        </p:nvSpPr>
        <p:spPr>
          <a:xfrm>
            <a:off x="685800" y="3886200"/>
            <a:ext cx="6812280" cy="914400"/>
          </a:xfrm>
          <a:prstGeom prst="rect">
            <a:avLst/>
          </a:prstGeom>
          <a:noFill/>
          <a:ln/>
        </p:spPr>
        <p:txBody>
          <a:bodyPr wrap="square" lIns="0" tIns="0" rIns="0" bIns="0" rtlCol="0" anchor="ctr"/>
          <a:lstStyle/>
          <a:p>
            <a:pPr marL="0" indent="0">
              <a:spcAft>
                <a:spcPts val="800"/>
              </a:spcAft>
              <a:buNone/>
            </a:pPr>
            <a:r>
              <a:rPr lang="en-US" sz="2000" dirty="0">
                <a:solidFill>
                  <a:schemeClr val="tx1"/>
                </a:solidFill>
                <a:latin typeface="Cambria" pitchFamily="34" charset="0"/>
                <a:ea typeface="Cambria" pitchFamily="34" charset="-122"/>
                <a:cs typeface="Cambria" pitchFamily="34" charset="-120"/>
              </a:rPr>
              <a:t>logit hⱼ(x) = αⱼ + βⱼ · trap</a:t>
            </a:r>
            <a:endParaRPr lang="en-US" sz="1600" dirty="0"/>
          </a:p>
          <a:p>
            <a:pPr marL="0" indent="0">
              <a:spcAft>
                <a:spcPts val="800"/>
              </a:spcAft>
              <a:buNone/>
            </a:pPr>
            <a:r>
              <a:rPr lang="en-US" sz="2000" dirty="0">
                <a:solidFill>
                  <a:schemeClr val="tx1"/>
                </a:solidFill>
                <a:latin typeface="Cambria" pitchFamily="34" charset="0"/>
                <a:ea typeface="Cambria" pitchFamily="34" charset="-122"/>
                <a:cs typeface="Cambria" pitchFamily="34" charset="-120"/>
              </a:rPr>
              <a:t>βⱼ ≈ 0 before App Complete;  exp(β) ≈ 2.75 at issuance</a:t>
            </a:r>
            <a:endParaRPr lang="en-US" sz="1600" dirty="0"/>
          </a:p>
        </p:txBody>
      </p:sp>
      <p:sp>
        <p:nvSpPr>
          <p:cNvPr id="10" name="Non-proportional"/>
          <p:cNvSpPr txBox="1"/>
          <p:nvPr/>
        </p:nvSpPr>
        <p:spPr>
          <a:xfrm>
            <a:off x="8138160" y="3657600"/>
            <a:ext cx="3611880" cy="2011680"/>
          </a:xfrm>
          <a:prstGeom prst="rect">
            <a:avLst/>
          </a:prstGeom>
          <a:noFill/>
          <a:ln/>
        </p:spPr>
        <p:txBody>
          <a:bodyPr wrap="square" lIns="0" tIns="0" rIns="0" bIns="0" rtlCol="0" anchor="t"/>
          <a:lstStyle/>
          <a:p>
            <a:pPr marL="0" indent="0">
              <a:buNone/>
            </a:pPr>
            <a:r>
              <a:rPr lang="en-US" sz="1600" b="1" dirty="0">
                <a:solidFill>
                  <a:schemeClr val="accent2"/>
                </a:solidFill>
              </a:rPr>
              <a:t>The effect lives at one stage. </a:t>
            </a:r>
            <a:r>
              <a:rPr lang="en-US" sz="1600" dirty="0">
                <a:solidFill>
                  <a:schemeClr val="tx1"/>
                </a:solidFill>
              </a:rPr>
              <a:t>A model that forces one β across all stages (proportional hazards) would average it toward zero and hide the leak.</a:t>
            </a:r>
            <a:endParaRPr lang="en-US" sz="16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The trap does nothing until the last step</a:t>
            </a:r>
            <a:endParaRPr lang="en-US" sz="2600" dirty="0"/>
          </a:p>
        </p:txBody>
      </p:sp>
      <p:graphicFrame>
        <p:nvGraphicFramePr>
          <p:cNvPr id="3" name="Pass rate by step chart"/>
          <p:cNvGraphicFramePr/>
          <p:nvPr/>
        </p:nvGraphicFramePr>
        <p:xfrm>
          <a:off x="411480" y="1143000"/>
          <a:ext cx="7589520" cy="5120640"/>
        </p:xfrm>
        <a:graphic>
          <a:graphicData uri="http://schemas.openxmlformats.org/drawingml/2006/chart">
            <c:chart xmlns:c="http://schemas.openxmlformats.org/drawingml/2006/chart" xmlns:r="http://schemas.openxmlformats.org/officeDocument/2006/relationships" r:id="rId3"/>
          </a:graphicData>
        </a:graphic>
      </p:graphicFrame>
      <p:sp>
        <p:nvSpPr>
          <p:cNvPr id="4" name="Before card"/>
          <p:cNvSpPr/>
          <p:nvPr/>
        </p:nvSpPr>
        <p:spPr>
          <a:xfrm>
            <a:off x="8275320" y="1234440"/>
            <a:ext cx="3474720" cy="1691640"/>
          </a:xfrm>
          <a:prstGeom prst="roundRect">
            <a:avLst>
              <a:gd name="adj" fmla="val 4324"/>
            </a:avLst>
          </a:prstGeom>
          <a:solidFill>
            <a:schemeClr val="bg1"/>
          </a:solidFill>
          <a:ln w="15875">
            <a:solidFill>
              <a:schemeClr val="accent4"/>
            </a:solidFill>
            <a:prstDash val="solid"/>
          </a:ln>
        </p:spPr>
        <p:txBody>
          <a:bodyPr/>
          <a:lstStyle/>
          <a:p>
            <a:endParaRPr lang="en-US"/>
          </a:p>
        </p:txBody>
      </p:sp>
      <p:sp>
        <p:nvSpPr>
          <p:cNvPr id="5" name="Before text"/>
          <p:cNvSpPr txBox="1"/>
          <p:nvPr/>
        </p:nvSpPr>
        <p:spPr>
          <a:xfrm>
            <a:off x="8503920" y="1371600"/>
            <a:ext cx="3017520" cy="1463040"/>
          </a:xfrm>
          <a:prstGeom prst="rect">
            <a:avLst/>
          </a:prstGeom>
          <a:noFill/>
          <a:ln/>
        </p:spPr>
        <p:txBody>
          <a:bodyPr wrap="square" lIns="0" tIns="0" rIns="0" bIns="0" rtlCol="0" anchor="t"/>
          <a:lstStyle/>
          <a:p>
            <a:pPr marL="0" indent="0">
              <a:buNone/>
            </a:pPr>
            <a:r>
              <a:rPr lang="en-US" sz="1600" b="1" dirty="0">
                <a:solidFill>
                  <a:schemeClr val="accent5"/>
                </a:solidFill>
              </a:rPr>
              <a:t>Before issuance</a:t>
            </a:r>
            <a:endParaRPr lang="en-US" sz="1600" dirty="0"/>
          </a:p>
          <a:p>
            <a:pPr marL="0" indent="0">
              <a:buNone/>
            </a:pPr>
            <a:r>
              <a:rPr lang="en-US" sz="3000" b="1" dirty="0">
                <a:solidFill>
                  <a:schemeClr val="tx1"/>
                </a:solidFill>
              </a:rPr>
              <a:t>≤ 2 points apart</a:t>
            </a:r>
            <a:endParaRPr lang="en-US" sz="1600" dirty="0"/>
          </a:p>
          <a:p>
            <a:pPr marL="0" indent="0">
              <a:buNone/>
            </a:pPr>
            <a:r>
              <a:rPr lang="en-US" sz="1400" dirty="0">
                <a:solidFill>
                  <a:schemeClr val="accent5"/>
                </a:solidFill>
              </a:rPr>
              <a:t>at every step, in both directions</a:t>
            </a:r>
            <a:endParaRPr lang="en-US" sz="1600" dirty="0"/>
          </a:p>
        </p:txBody>
      </p:sp>
      <p:sp>
        <p:nvSpPr>
          <p:cNvPr id="6" name="At issuance card"/>
          <p:cNvSpPr/>
          <p:nvPr/>
        </p:nvSpPr>
        <p:spPr>
          <a:xfrm>
            <a:off x="8275320" y="3108960"/>
            <a:ext cx="3474720" cy="1691640"/>
          </a:xfrm>
          <a:prstGeom prst="roundRect">
            <a:avLst>
              <a:gd name="adj" fmla="val 4324"/>
            </a:avLst>
          </a:prstGeom>
          <a:solidFill>
            <a:schemeClr val="bg1"/>
          </a:solidFill>
          <a:ln w="22225">
            <a:solidFill>
              <a:schemeClr val="accent2"/>
            </a:solidFill>
            <a:prstDash val="solid"/>
          </a:ln>
        </p:spPr>
        <p:txBody>
          <a:bodyPr/>
          <a:lstStyle/>
          <a:p>
            <a:endParaRPr lang="en-US"/>
          </a:p>
        </p:txBody>
      </p:sp>
      <p:sp>
        <p:nvSpPr>
          <p:cNvPr id="7" name="At issuance text"/>
          <p:cNvSpPr txBox="1"/>
          <p:nvPr/>
        </p:nvSpPr>
        <p:spPr>
          <a:xfrm>
            <a:off x="8503920" y="3246120"/>
            <a:ext cx="3017520" cy="1463040"/>
          </a:xfrm>
          <a:prstGeom prst="rect">
            <a:avLst/>
          </a:prstGeom>
          <a:noFill/>
          <a:ln/>
        </p:spPr>
        <p:txBody>
          <a:bodyPr wrap="square" lIns="0" tIns="0" rIns="0" bIns="0" rtlCol="0" anchor="t"/>
          <a:lstStyle/>
          <a:p>
            <a:pPr marL="0" indent="0">
              <a:buNone/>
            </a:pPr>
            <a:r>
              <a:rPr lang="en-US" sz="1600" b="1" dirty="0">
                <a:solidFill>
                  <a:schemeClr val="accent5"/>
                </a:solidFill>
              </a:rPr>
              <a:t>At issuance</a:t>
            </a:r>
            <a:endParaRPr lang="en-US" sz="1600" dirty="0"/>
          </a:p>
          <a:p>
            <a:pPr marL="0" indent="0">
              <a:buNone/>
            </a:pPr>
            <a:r>
              <a:rPr lang="en-US" sz="3000" b="1" dirty="0">
                <a:solidFill>
                  <a:schemeClr val="accent2"/>
                </a:solidFill>
              </a:rPr>
              <a:t>20.5 points apart</a:t>
            </a:r>
            <a:endParaRPr lang="en-US" sz="1600" dirty="0"/>
          </a:p>
          <a:p>
            <a:pPr marL="0" indent="0">
              <a:buNone/>
            </a:pPr>
            <a:r>
              <a:rPr lang="en-US" sz="1400" dirty="0">
                <a:solidFill>
                  <a:schemeClr val="accent5"/>
                </a:solidFill>
              </a:rPr>
              <a:t>87.5% vs 67.0%, p ≈ 10⁻⁵⁵</a:t>
            </a:r>
            <a:endParaRPr lang="en-US" sz="1600" dirty="0"/>
          </a:p>
        </p:txBody>
      </p:sp>
      <p:sp>
        <p:nvSpPr>
          <p:cNvPr id="8" name="Meaning"/>
          <p:cNvSpPr txBox="1"/>
          <p:nvPr/>
        </p:nvSpPr>
        <p:spPr>
          <a:xfrm>
            <a:off x="8275320" y="4983480"/>
            <a:ext cx="3474720" cy="1005840"/>
          </a:xfrm>
          <a:prstGeom prst="rect">
            <a:avLst/>
          </a:prstGeom>
          <a:noFill/>
          <a:ln/>
        </p:spPr>
        <p:txBody>
          <a:bodyPr wrap="square" lIns="0" tIns="0" rIns="0" bIns="0" rtlCol="0" anchor="t"/>
          <a:lstStyle/>
          <a:p>
            <a:pPr marL="0" indent="0">
              <a:buNone/>
            </a:pPr>
            <a:r>
              <a:rPr lang="en-US" sz="1500" b="1" dirty="0">
                <a:solidFill>
                  <a:schemeClr val="accent2"/>
                </a:solidFill>
              </a:rPr>
              <a:t>No accumulation. </a:t>
            </a:r>
            <a:r>
              <a:rPr lang="en-US" sz="1500" dirty="0">
                <a:solidFill>
                  <a:schemeClr val="tx1"/>
                </a:solidFill>
              </a:rPr>
              <a:t>Trapped members move through the funnel normally; the loss happens at one step.</a:t>
            </a:r>
            <a:endParaRPr lang="en-US" sz="1500" dirty="0"/>
          </a:p>
        </p:txBody>
      </p:sp>
      <p:sp>
        <p:nvSpPr>
          <p:cNvPr id="9" name="Source"/>
          <p:cNvSpPr txBox="1"/>
          <p:nvPr/>
        </p:nvSpPr>
        <p:spPr>
          <a:xfrm>
            <a:off x="411480" y="6327648"/>
            <a:ext cx="7589520" cy="274320"/>
          </a:xfrm>
          <a:prstGeom prst="rect">
            <a:avLst/>
          </a:prstGeom>
          <a:noFill/>
          <a:ln/>
        </p:spPr>
        <p:txBody>
          <a:bodyPr wrap="square" lIns="0" tIns="0" rIns="0" bIns="0" rtlCol="0" anchor="t"/>
          <a:lstStyle/>
          <a:p>
            <a:pPr marL="0" indent="0">
              <a:buNone/>
            </a:pPr>
            <a:r>
              <a:rPr lang="en-US" sz="1100" dirty="0">
                <a:solidFill>
                  <a:schemeClr val="accent5"/>
                </a:solidFill>
              </a:rPr>
              <a:t>Synthetic sample: funnel_synthetic.csv, 10,000 members (4,892 reached App Complete).</a:t>
            </a:r>
            <a:endParaRPr lang="en-US" sz="11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Each hazard is a Beta posterior</a:t>
            </a:r>
            <a:endParaRPr lang="en-US" sz="2600" dirty="0"/>
          </a:p>
        </p:txBody>
      </p:sp>
      <p:sp>
        <p:nvSpPr>
          <p:cNvPr id="3" name="Posterior panel"/>
          <p:cNvSpPr/>
          <p:nvPr/>
        </p:nvSpPr>
        <p:spPr>
          <a:xfrm>
            <a:off x="411480" y="1188720"/>
            <a:ext cx="11338560" cy="1051560"/>
          </a:xfrm>
          <a:prstGeom prst="roundRect">
            <a:avLst>
              <a:gd name="adj" fmla="val 6957"/>
            </a:avLst>
          </a:prstGeom>
          <a:solidFill>
            <a:schemeClr val="bg2"/>
          </a:solidFill>
          <a:ln w="15875">
            <a:solidFill>
              <a:schemeClr val="bg2"/>
            </a:solidFill>
            <a:prstDash val="solid"/>
          </a:ln>
        </p:spPr>
        <p:txBody>
          <a:bodyPr/>
          <a:lstStyle/>
          <a:p>
            <a:endParaRPr lang="en-US"/>
          </a:p>
        </p:txBody>
      </p:sp>
      <p:sp>
        <p:nvSpPr>
          <p:cNvPr id="4" name="Posterior"/>
          <p:cNvSpPr txBox="1"/>
          <p:nvPr/>
        </p:nvSpPr>
        <p:spPr>
          <a:xfrm>
            <a:off x="685800" y="1417320"/>
            <a:ext cx="10789920" cy="594360"/>
          </a:xfrm>
          <a:prstGeom prst="rect">
            <a:avLst/>
          </a:prstGeom>
          <a:noFill/>
          <a:ln/>
        </p:spPr>
        <p:txBody>
          <a:bodyPr wrap="square" lIns="0" tIns="0" rIns="0" bIns="0" rtlCol="0" anchor="ctr"/>
          <a:lstStyle/>
          <a:p>
            <a:pPr marL="0" indent="0">
              <a:spcAft>
                <a:spcPts val="800"/>
              </a:spcAft>
              <a:buNone/>
            </a:pPr>
            <a:r>
              <a:rPr lang="en-US" sz="2600" dirty="0">
                <a:solidFill>
                  <a:schemeClr val="tx1"/>
                </a:solidFill>
                <a:latin typeface="Cambria" pitchFamily="34" charset="0"/>
                <a:ea typeface="Cambria" pitchFamily="34" charset="-122"/>
                <a:cs typeface="Cambria" pitchFamily="34" charset="-120"/>
              </a:rPr>
              <a:t>hⱼ | data  ~  Beta(1 + dⱼ,  1 + nⱼ − dⱼ)</a:t>
            </a:r>
            <a:endParaRPr lang="en-US" sz="1600" dirty="0"/>
          </a:p>
        </p:txBody>
      </p:sp>
      <p:sp>
        <p:nvSpPr>
          <p:cNvPr id="5" name="Step 1 card"/>
          <p:cNvSpPr/>
          <p:nvPr/>
        </p:nvSpPr>
        <p:spPr>
          <a:xfrm>
            <a:off x="411480" y="2514600"/>
            <a:ext cx="3657600" cy="2331720"/>
          </a:xfrm>
          <a:prstGeom prst="roundRect">
            <a:avLst>
              <a:gd name="adj" fmla="val 3137"/>
            </a:avLst>
          </a:prstGeom>
          <a:solidFill>
            <a:schemeClr val="bg1"/>
          </a:solidFill>
          <a:ln w="15875">
            <a:solidFill>
              <a:schemeClr val="accent4"/>
            </a:solidFill>
            <a:prstDash val="solid"/>
          </a:ln>
        </p:spPr>
        <p:txBody>
          <a:bodyPr/>
          <a:lstStyle/>
          <a:p>
            <a:endParaRPr lang="en-US"/>
          </a:p>
        </p:txBody>
      </p:sp>
      <p:sp>
        <p:nvSpPr>
          <p:cNvPr id="6" name="Step 1 badge"/>
          <p:cNvSpPr/>
          <p:nvPr/>
        </p:nvSpPr>
        <p:spPr>
          <a:xfrm>
            <a:off x="685800" y="2724912"/>
            <a:ext cx="502920" cy="502920"/>
          </a:xfrm>
          <a:prstGeom prst="ellipse">
            <a:avLst/>
          </a:prstGeom>
          <a:solidFill>
            <a:schemeClr val="tx2"/>
          </a:solidFill>
          <a:ln w="12700">
            <a:solidFill>
              <a:schemeClr val="tx2"/>
            </a:solidFill>
            <a:prstDash val="solid"/>
          </a:ln>
        </p:spPr>
        <p:txBody>
          <a:bodyPr/>
          <a:lstStyle/>
          <a:p>
            <a:endParaRPr lang="en-US"/>
          </a:p>
        </p:txBody>
      </p:sp>
      <p:sp>
        <p:nvSpPr>
          <p:cNvPr id="7" name="Step 1 number"/>
          <p:cNvSpPr txBox="1"/>
          <p:nvPr/>
        </p:nvSpPr>
        <p:spPr>
          <a:xfrm>
            <a:off x="685800" y="272491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Step 1 text"/>
          <p:cNvSpPr txBox="1"/>
          <p:nvPr/>
        </p:nvSpPr>
        <p:spPr>
          <a:xfrm>
            <a:off x="685800" y="3383280"/>
            <a:ext cx="3108960" cy="1371600"/>
          </a:xfrm>
          <a:prstGeom prst="rect">
            <a:avLst/>
          </a:prstGeom>
          <a:noFill/>
          <a:ln/>
        </p:spPr>
        <p:txBody>
          <a:bodyPr wrap="square" lIns="0" tIns="0" rIns="0" bIns="0" rtlCol="0" anchor="t"/>
          <a:lstStyle/>
          <a:p>
            <a:pPr marL="0" indent="0">
              <a:buNone/>
            </a:pPr>
            <a:r>
              <a:rPr lang="en-US" sz="1800" b="1" dirty="0">
                <a:solidFill>
                  <a:schemeClr val="tx1"/>
                </a:solidFill>
              </a:rPr>
              <a:t>Draw each hazard</a:t>
            </a:r>
            <a:endParaRPr lang="en-US" sz="1600" dirty="0"/>
          </a:p>
          <a:p>
            <a:pPr marL="0" indent="0">
              <a:buNone/>
            </a:pPr>
            <a:r>
              <a:rPr lang="en-US" sz="1500" dirty="0">
                <a:solidFill>
                  <a:schemeClr val="accent5"/>
                </a:solidFill>
              </a:rPr>
              <a:t>Sample hⱼ from its Beta posterior, one stage at a time.</a:t>
            </a:r>
            <a:endParaRPr lang="en-US" sz="1600" dirty="0"/>
          </a:p>
        </p:txBody>
      </p:sp>
      <p:sp>
        <p:nvSpPr>
          <p:cNvPr id="9" name="Step 2 card"/>
          <p:cNvSpPr/>
          <p:nvPr/>
        </p:nvSpPr>
        <p:spPr>
          <a:xfrm>
            <a:off x="4251960" y="2514600"/>
            <a:ext cx="3657600" cy="2331720"/>
          </a:xfrm>
          <a:prstGeom prst="roundRect">
            <a:avLst>
              <a:gd name="adj" fmla="val 3137"/>
            </a:avLst>
          </a:prstGeom>
          <a:solidFill>
            <a:schemeClr val="bg1"/>
          </a:solidFill>
          <a:ln w="15875">
            <a:solidFill>
              <a:schemeClr val="accent4"/>
            </a:solidFill>
            <a:prstDash val="solid"/>
          </a:ln>
        </p:spPr>
        <p:txBody>
          <a:bodyPr/>
          <a:lstStyle/>
          <a:p>
            <a:endParaRPr lang="en-US"/>
          </a:p>
        </p:txBody>
      </p:sp>
      <p:sp>
        <p:nvSpPr>
          <p:cNvPr id="10" name="Step 2 badge"/>
          <p:cNvSpPr/>
          <p:nvPr/>
        </p:nvSpPr>
        <p:spPr>
          <a:xfrm>
            <a:off x="4526280" y="2724912"/>
            <a:ext cx="502920" cy="502920"/>
          </a:xfrm>
          <a:prstGeom prst="ellipse">
            <a:avLst/>
          </a:prstGeom>
          <a:solidFill>
            <a:schemeClr val="tx2"/>
          </a:solidFill>
          <a:ln w="12700">
            <a:solidFill>
              <a:schemeClr val="tx2"/>
            </a:solidFill>
            <a:prstDash val="solid"/>
          </a:ln>
        </p:spPr>
        <p:txBody>
          <a:bodyPr/>
          <a:lstStyle/>
          <a:p>
            <a:endParaRPr lang="en-US"/>
          </a:p>
        </p:txBody>
      </p:sp>
      <p:sp>
        <p:nvSpPr>
          <p:cNvPr id="11" name="Step 2 number"/>
          <p:cNvSpPr txBox="1"/>
          <p:nvPr/>
        </p:nvSpPr>
        <p:spPr>
          <a:xfrm>
            <a:off x="4526280" y="272491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Step 2 text"/>
          <p:cNvSpPr txBox="1"/>
          <p:nvPr/>
        </p:nvSpPr>
        <p:spPr>
          <a:xfrm>
            <a:off x="4526280" y="3383280"/>
            <a:ext cx="3108960" cy="1371600"/>
          </a:xfrm>
          <a:prstGeom prst="rect">
            <a:avLst/>
          </a:prstGeom>
          <a:noFill/>
          <a:ln/>
        </p:spPr>
        <p:txBody>
          <a:bodyPr wrap="square" lIns="0" tIns="0" rIns="0" bIns="0" rtlCol="0" anchor="t"/>
          <a:lstStyle/>
          <a:p>
            <a:pPr marL="0" indent="0">
              <a:buNone/>
            </a:pPr>
            <a:r>
              <a:rPr lang="en-US" sz="1800" b="1" dirty="0">
                <a:solidFill>
                  <a:schemeClr val="tx1"/>
                </a:solidFill>
              </a:rPr>
              <a:t>Multiply to get survival</a:t>
            </a:r>
            <a:endParaRPr lang="en-US" sz="1600" dirty="0"/>
          </a:p>
          <a:p>
            <a:pPr marL="0" indent="0">
              <a:buNone/>
            </a:pPr>
            <a:r>
              <a:rPr lang="en-US" sz="1500" dirty="0">
                <a:solidFill>
                  <a:schemeClr val="accent5"/>
                </a:solidFill>
              </a:rPr>
              <a:t>S(j) = ∏ (1 − hₖ) for each draw gives a posterior for the whole curve.</a:t>
            </a:r>
            <a:endParaRPr lang="en-US" sz="1600" dirty="0"/>
          </a:p>
        </p:txBody>
      </p:sp>
      <p:sp>
        <p:nvSpPr>
          <p:cNvPr id="13" name="Step 3 card"/>
          <p:cNvSpPr/>
          <p:nvPr/>
        </p:nvSpPr>
        <p:spPr>
          <a:xfrm>
            <a:off x="8092440" y="2514600"/>
            <a:ext cx="3657600" cy="2331720"/>
          </a:xfrm>
          <a:prstGeom prst="roundRect">
            <a:avLst>
              <a:gd name="adj" fmla="val 3137"/>
            </a:avLst>
          </a:prstGeom>
          <a:solidFill>
            <a:schemeClr val="bg1"/>
          </a:solidFill>
          <a:ln w="22225">
            <a:solidFill>
              <a:schemeClr val="accent2"/>
            </a:solidFill>
            <a:prstDash val="solid"/>
          </a:ln>
        </p:spPr>
        <p:txBody>
          <a:bodyPr/>
          <a:lstStyle/>
          <a:p>
            <a:endParaRPr lang="en-US"/>
          </a:p>
        </p:txBody>
      </p:sp>
      <p:sp>
        <p:nvSpPr>
          <p:cNvPr id="14" name="Step 3 badge"/>
          <p:cNvSpPr/>
          <p:nvPr/>
        </p:nvSpPr>
        <p:spPr>
          <a:xfrm>
            <a:off x="8366760" y="2724912"/>
            <a:ext cx="502920" cy="502920"/>
          </a:xfrm>
          <a:prstGeom prst="ellipse">
            <a:avLst/>
          </a:prstGeom>
          <a:solidFill>
            <a:schemeClr val="accent2"/>
          </a:solidFill>
          <a:ln w="12700">
            <a:solidFill>
              <a:schemeClr val="accent2"/>
            </a:solidFill>
            <a:prstDash val="solid"/>
          </a:ln>
        </p:spPr>
        <p:txBody>
          <a:bodyPr/>
          <a:lstStyle/>
          <a:p>
            <a:endParaRPr lang="en-US"/>
          </a:p>
        </p:txBody>
      </p:sp>
      <p:sp>
        <p:nvSpPr>
          <p:cNvPr id="15" name="Step 3 number"/>
          <p:cNvSpPr txBox="1"/>
          <p:nvPr/>
        </p:nvSpPr>
        <p:spPr>
          <a:xfrm>
            <a:off x="8366760" y="272491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Step 3 text"/>
          <p:cNvSpPr txBox="1"/>
          <p:nvPr/>
        </p:nvSpPr>
        <p:spPr>
          <a:xfrm>
            <a:off x="8366760" y="3383280"/>
            <a:ext cx="3108960" cy="1371600"/>
          </a:xfrm>
          <a:prstGeom prst="rect">
            <a:avLst/>
          </a:prstGeom>
          <a:noFill/>
          <a:ln/>
        </p:spPr>
        <p:txBody>
          <a:bodyPr wrap="square" lIns="0" tIns="0" rIns="0" bIns="0" rtlCol="0" anchor="t"/>
          <a:lstStyle/>
          <a:p>
            <a:pPr marL="0" indent="0">
              <a:buNone/>
            </a:pPr>
            <a:r>
              <a:rPr lang="en-US" sz="1800" b="1" dirty="0">
                <a:solidFill>
                  <a:schemeClr val="tx1"/>
                </a:solidFill>
              </a:rPr>
              <a:t>Check against reality</a:t>
            </a:r>
            <a:endParaRPr lang="en-US" sz="1600" dirty="0"/>
          </a:p>
          <a:p>
            <a:pPr marL="0" indent="0">
              <a:buNone/>
            </a:pPr>
            <a:r>
              <a:rPr lang="en-US" sz="1500" dirty="0">
                <a:solidFill>
                  <a:schemeClr val="accent5"/>
                </a:solidFill>
              </a:rPr>
              <a:t>Simulate counts from the draws and compare with what happened. Part 1's check is this, at the issuance stage.</a:t>
            </a:r>
            <a:endParaRPr lang="en-US" sz="1600" dirty="0"/>
          </a:p>
        </p:txBody>
      </p:sp>
      <p:sp>
        <p:nvSpPr>
          <p:cNvPr id="17" name="Advantage"/>
          <p:cNvSpPr txBox="1"/>
          <p:nvPr/>
        </p:nvSpPr>
        <p:spPr>
          <a:xfrm>
            <a:off x="411480" y="5120640"/>
            <a:ext cx="11338560" cy="822960"/>
          </a:xfrm>
          <a:prstGeom prst="rect">
            <a:avLst/>
          </a:prstGeom>
          <a:noFill/>
          <a:ln/>
        </p:spPr>
        <p:txBody>
          <a:bodyPr wrap="square" lIns="0" tIns="0" rIns="0" bIns="0" rtlCol="0" anchor="t"/>
          <a:lstStyle/>
          <a:p>
            <a:pPr marL="0" indent="0">
              <a:buNone/>
            </a:pPr>
            <a:r>
              <a:rPr lang="en-US" sz="1600" b="1" dirty="0">
                <a:solidFill>
                  <a:schemeClr val="accent1"/>
                </a:solidFill>
              </a:rPr>
              <a:t>Why this beats a formula: </a:t>
            </a:r>
            <a:r>
              <a:rPr lang="en-US" sz="1600" dirty="0">
                <a:solidFill>
                  <a:schemeClr val="tx1"/>
                </a:solidFill>
              </a:rPr>
              <a:t>uncertainty in S comes straight from the draws. No delta method, and it stays honest for small stages. Greenwood's variance is in the backup for comparison.</a:t>
            </a:r>
            <a:endParaRPr lang="en-US" sz="16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What survival analysis adds</a:t>
            </a:r>
            <a:endParaRPr lang="en-US" sz="2600" dirty="0"/>
          </a:p>
        </p:txBody>
      </p:sp>
      <p:sp>
        <p:nvSpPr>
          <p:cNvPr id="3" name="Takeaway 1 badge"/>
          <p:cNvSpPr/>
          <p:nvPr/>
        </p:nvSpPr>
        <p:spPr>
          <a:xfrm>
            <a:off x="548640" y="1344168"/>
            <a:ext cx="548640" cy="548640"/>
          </a:xfrm>
          <a:prstGeom prst="ellipse">
            <a:avLst/>
          </a:prstGeom>
          <a:solidFill>
            <a:schemeClr val="tx2"/>
          </a:solidFill>
          <a:ln w="12700">
            <a:solidFill>
              <a:schemeClr val="tx2"/>
            </a:solidFill>
            <a:prstDash val="solid"/>
          </a:ln>
        </p:spPr>
        <p:txBody>
          <a:bodyPr/>
          <a:lstStyle/>
          <a:p>
            <a:endParaRPr lang="en-US"/>
          </a:p>
        </p:txBody>
      </p:sp>
      <p:sp>
        <p:nvSpPr>
          <p:cNvPr id="4" name="Takeaway 1 number"/>
          <p:cNvSpPr txBox="1"/>
          <p:nvPr/>
        </p:nvSpPr>
        <p:spPr>
          <a:xfrm>
            <a:off x="548640" y="1344168"/>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5" name="Takeaway 1"/>
          <p:cNvSpPr txBox="1"/>
          <p:nvPr/>
        </p:nvSpPr>
        <p:spPr>
          <a:xfrm>
            <a:off x="1371600" y="1234440"/>
            <a:ext cx="10378440" cy="777240"/>
          </a:xfrm>
          <a:prstGeom prst="rect">
            <a:avLst/>
          </a:prstGeom>
          <a:noFill/>
          <a:ln/>
        </p:spPr>
        <p:txBody>
          <a:bodyPr wrap="square" lIns="0" tIns="0" rIns="0" bIns="0" rtlCol="0" anchor="ctr"/>
          <a:lstStyle/>
          <a:p>
            <a:pPr marL="0" indent="0">
              <a:buNone/>
            </a:pPr>
            <a:r>
              <a:rPr lang="en-US" sz="2000" b="1" dirty="0">
                <a:solidFill>
                  <a:schemeClr val="tx1"/>
                </a:solidFill>
              </a:rPr>
              <a:t>The funnel is a life table. </a:t>
            </a:r>
            <a:r>
              <a:rPr lang="en-US" sz="2000" dirty="0">
                <a:solidFill>
                  <a:schemeClr val="tx1"/>
                </a:solidFill>
              </a:rPr>
              <a:t>IT's pass rates multiply into P&amp;C's yield: one curve, read two ways.</a:t>
            </a:r>
            <a:endParaRPr lang="en-US" sz="2000" dirty="0"/>
          </a:p>
        </p:txBody>
      </p:sp>
      <p:sp>
        <p:nvSpPr>
          <p:cNvPr id="6" name="Takeaway 2 badge"/>
          <p:cNvSpPr/>
          <p:nvPr/>
        </p:nvSpPr>
        <p:spPr>
          <a:xfrm>
            <a:off x="548640" y="2532888"/>
            <a:ext cx="548640" cy="548640"/>
          </a:xfrm>
          <a:prstGeom prst="ellipse">
            <a:avLst/>
          </a:prstGeom>
          <a:solidFill>
            <a:schemeClr val="tx2"/>
          </a:solidFill>
          <a:ln w="12700">
            <a:solidFill>
              <a:schemeClr val="tx2"/>
            </a:solidFill>
            <a:prstDash val="solid"/>
          </a:ln>
        </p:spPr>
        <p:txBody>
          <a:bodyPr/>
          <a:lstStyle/>
          <a:p>
            <a:endParaRPr lang="en-US"/>
          </a:p>
        </p:txBody>
      </p:sp>
      <p:sp>
        <p:nvSpPr>
          <p:cNvPr id="7" name="Takeaway 2 number"/>
          <p:cNvSpPr txBox="1"/>
          <p:nvPr/>
        </p:nvSpPr>
        <p:spPr>
          <a:xfrm>
            <a:off x="548640" y="2532888"/>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8" name="Takeaway 2"/>
          <p:cNvSpPr txBox="1"/>
          <p:nvPr/>
        </p:nvSpPr>
        <p:spPr>
          <a:xfrm>
            <a:off x="1371600" y="2423160"/>
            <a:ext cx="10378440" cy="777240"/>
          </a:xfrm>
          <a:prstGeom prst="rect">
            <a:avLst/>
          </a:prstGeom>
          <a:noFill/>
          <a:ln/>
        </p:spPr>
        <p:txBody>
          <a:bodyPr wrap="square" lIns="0" tIns="0" rIns="0" bIns="0" rtlCol="0" anchor="ctr"/>
          <a:lstStyle/>
          <a:p>
            <a:pPr marL="0" indent="0">
              <a:buNone/>
            </a:pPr>
            <a:r>
              <a:rPr lang="en-US" sz="2000" b="1" dirty="0">
                <a:solidFill>
                  <a:schemeClr val="tx1"/>
                </a:solidFill>
              </a:rPr>
              <a:t>Hazard and density disagree by design. </a:t>
            </a:r>
            <a:r>
              <a:rPr lang="en-US" sz="2000" dirty="0">
                <a:solidFill>
                  <a:schemeClr val="tx1"/>
                </a:solidFill>
              </a:rPr>
              <a:t>Late stages always look small as a share of the book, which is why issuance hid.</a:t>
            </a:r>
            <a:endParaRPr lang="en-US" sz="2000" dirty="0"/>
          </a:p>
        </p:txBody>
      </p:sp>
      <p:sp>
        <p:nvSpPr>
          <p:cNvPr id="9" name="Takeaway 3 badge"/>
          <p:cNvSpPr/>
          <p:nvPr/>
        </p:nvSpPr>
        <p:spPr>
          <a:xfrm>
            <a:off x="548640" y="3721608"/>
            <a:ext cx="548640" cy="548640"/>
          </a:xfrm>
          <a:prstGeom prst="ellipse">
            <a:avLst/>
          </a:prstGeom>
          <a:solidFill>
            <a:schemeClr val="tx2"/>
          </a:solidFill>
          <a:ln w="12700">
            <a:solidFill>
              <a:schemeClr val="tx2"/>
            </a:solidFill>
            <a:prstDash val="solid"/>
          </a:ln>
        </p:spPr>
        <p:txBody>
          <a:bodyPr/>
          <a:lstStyle/>
          <a:p>
            <a:endParaRPr lang="en-US"/>
          </a:p>
        </p:txBody>
      </p:sp>
      <p:sp>
        <p:nvSpPr>
          <p:cNvPr id="10" name="Takeaway 3 number"/>
          <p:cNvSpPr txBox="1"/>
          <p:nvPr/>
        </p:nvSpPr>
        <p:spPr>
          <a:xfrm>
            <a:off x="548640" y="3721608"/>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1" name="Takeaway 3"/>
          <p:cNvSpPr txBox="1"/>
          <p:nvPr/>
        </p:nvSpPr>
        <p:spPr>
          <a:xfrm>
            <a:off x="1371600" y="3611880"/>
            <a:ext cx="10378440" cy="777240"/>
          </a:xfrm>
          <a:prstGeom prst="rect">
            <a:avLst/>
          </a:prstGeom>
          <a:noFill/>
          <a:ln/>
        </p:spPr>
        <p:txBody>
          <a:bodyPr wrap="square" lIns="0" tIns="0" rIns="0" bIns="0" rtlCol="0" anchor="ctr"/>
          <a:lstStyle/>
          <a:p>
            <a:pPr marL="0" indent="0">
              <a:buNone/>
            </a:pPr>
            <a:r>
              <a:rPr lang="en-US" sz="2000" b="1" dirty="0">
                <a:solidFill>
                  <a:schemeClr val="tx1"/>
                </a:solidFill>
              </a:rPr>
              <a:t>Stalled is an event, not censoring. </a:t>
            </a:r>
            <a:r>
              <a:rPr lang="en-US" sz="2000" dirty="0">
                <a:solidFill>
                  <a:schemeClr val="tx1"/>
                </a:solidFill>
              </a:rPr>
              <a:t>Mislabeling it inflates survival. A time limit fixes it.</a:t>
            </a:r>
            <a:endParaRPr lang="en-US" sz="2000" dirty="0"/>
          </a:p>
        </p:txBody>
      </p:sp>
      <p:sp>
        <p:nvSpPr>
          <p:cNvPr id="12" name="Takeaway 4 badge"/>
          <p:cNvSpPr/>
          <p:nvPr/>
        </p:nvSpPr>
        <p:spPr>
          <a:xfrm>
            <a:off x="548640" y="4910328"/>
            <a:ext cx="548640" cy="548640"/>
          </a:xfrm>
          <a:prstGeom prst="ellipse">
            <a:avLst/>
          </a:prstGeom>
          <a:solidFill>
            <a:schemeClr val="accent2"/>
          </a:solidFill>
          <a:ln w="12700">
            <a:solidFill>
              <a:schemeClr val="accent2"/>
            </a:solidFill>
            <a:prstDash val="solid"/>
          </a:ln>
        </p:spPr>
        <p:txBody>
          <a:bodyPr/>
          <a:lstStyle/>
          <a:p>
            <a:endParaRPr lang="en-US"/>
          </a:p>
        </p:txBody>
      </p:sp>
      <p:sp>
        <p:nvSpPr>
          <p:cNvPr id="13" name="Takeaway 4 number"/>
          <p:cNvSpPr txBox="1"/>
          <p:nvPr/>
        </p:nvSpPr>
        <p:spPr>
          <a:xfrm>
            <a:off x="548640" y="4910328"/>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14" name="Takeaway 4"/>
          <p:cNvSpPr txBox="1"/>
          <p:nvPr/>
        </p:nvSpPr>
        <p:spPr>
          <a:xfrm>
            <a:off x="1371600" y="4800600"/>
            <a:ext cx="10378440" cy="777240"/>
          </a:xfrm>
          <a:prstGeom prst="rect">
            <a:avLst/>
          </a:prstGeom>
          <a:noFill/>
          <a:ln/>
        </p:spPr>
        <p:txBody>
          <a:bodyPr wrap="square" lIns="0" tIns="0" rIns="0" bIns="0" rtlCol="0" anchor="ctr"/>
          <a:lstStyle/>
          <a:p>
            <a:pPr marL="0" indent="0">
              <a:buNone/>
            </a:pPr>
            <a:r>
              <a:rPr lang="en-US" sz="2000" b="1" dirty="0">
                <a:solidFill>
                  <a:schemeClr val="accent2"/>
                </a:solidFill>
              </a:rPr>
              <a:t>The trap is a stage-specific hazard. </a:t>
            </a:r>
            <a:r>
              <a:rPr lang="en-US" sz="2000" dirty="0">
                <a:solidFill>
                  <a:schemeClr val="tx1"/>
                </a:solidFill>
              </a:rPr>
              <a:t>It more than doubles the risk at issuance and does nothing upstream.</a:t>
            </a:r>
            <a:endParaRPr lang="en-US" sz="20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77440"/>
            <a:ext cx="10515600" cy="1097280"/>
          </a:xfrm>
          <a:prstGeom prst="rect">
            <a:avLst/>
          </a:prstGeom>
          <a:noFill/>
          <a:ln/>
        </p:spPr>
        <p:txBody>
          <a:bodyPr wrap="square" lIns="0" tIns="0" rIns="0" bIns="0" rtlCol="0"/>
          <a:lstStyle/>
          <a:p>
            <a:pPr marL="0" indent="0" algn="l">
              <a:buNone/>
            </a:pPr>
            <a:r>
              <a:rPr lang="en-US" sz="4400" b="1" dirty="0">
                <a:solidFill>
                  <a:schemeClr val="bg1"/>
                </a:solidFill>
              </a:rPr>
              <a:t>Study backup</a:t>
            </a:r>
            <a:endParaRPr lang="en-US" sz="4400" dirty="0"/>
          </a:p>
        </p:txBody>
      </p:sp>
      <p:sp>
        <p:nvSpPr>
          <p:cNvPr id="3" name="Text 0"/>
          <p:cNvSpPr>
            <a:spLocks noGrp="1"/>
          </p:cNvSpPr>
          <p:nvPr>
            <p:ph type="body" idx="101" hasCustomPrompt="1"/>
          </p:nvPr>
        </p:nvSpPr>
        <p:spPr>
          <a:xfrm>
            <a:off x="822960" y="3566160"/>
            <a:ext cx="10058400" cy="822960"/>
          </a:xfrm>
          <a:prstGeom prst="rect">
            <a:avLst/>
          </a:prstGeom>
          <a:noFill/>
          <a:ln/>
        </p:spPr>
        <p:txBody>
          <a:bodyPr wrap="square" lIns="0" tIns="0" rIns="0" bIns="0" rtlCol="0" anchor="t"/>
          <a:lstStyle/>
          <a:p>
            <a:pPr marL="0" indent="0">
              <a:buNone/>
            </a:pPr>
            <a:r>
              <a:rPr lang="en-US" sz="2000" dirty="0">
                <a:solidFill>
                  <a:schemeClr val="accent4"/>
                </a:solidFill>
              </a:rPr>
              <a:t>Formulas, the gate question and where these ideas came from</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Formula sheet</a:t>
            </a:r>
            <a:endParaRPr lang="en-US" sz="2600" dirty="0"/>
          </a:p>
        </p:txBody>
      </p:sp>
      <p:graphicFrame>
        <p:nvGraphicFramePr>
          <p:cNvPr id="12" name="Formula table"/>
          <p:cNvGraphicFramePr>
            <a:graphicFrameLocks noGrp="1"/>
          </p:cNvGraphicFramePr>
          <p:nvPr>
            <p:extLst>
              <p:ext uri="{D42A27DB-BD31-4B8C-83A1-F6EECF244321}">
                <p14:modId xmlns:p14="http://schemas.microsoft.com/office/powerpoint/2010/main" val="1579011935"/>
              </p:ext>
            </p:extLst>
          </p:nvPr>
        </p:nvGraphicFramePr>
        <p:xfrm>
          <a:off x="411480" y="1188720"/>
          <a:ext cx="11338560" cy="3968496"/>
        </p:xfrm>
        <a:graphic>
          <a:graphicData uri="http://schemas.openxmlformats.org/drawingml/2006/table">
            <a:tbl>
              <a:tblPr/>
              <a:tblGrid>
                <a:gridCol w="23774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Quantity</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Discrete (the funnel)</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Continuous time</a:t>
                      </a:r>
                      <a:endParaRPr lang="en-US" sz="14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2395B"/>
                          </a:solidFill>
                          <a:latin typeface="Calibri" pitchFamily="34" charset="0"/>
                          <a:ea typeface="Calibri" pitchFamily="34" charset="-122"/>
                          <a:cs typeface="Calibri" pitchFamily="34" charset="-120"/>
                        </a:rPr>
                        <a:t>Survival S</a:t>
                      </a:r>
                      <a:endParaRPr lang="en-US" sz="15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S(j) = ∏ₖ≤ⱼ (1 − hₖ)</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S(t) = exp(− ∫₀ᵗ h(u) du)</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2395B"/>
                          </a:solidFill>
                          <a:latin typeface="Calibri" pitchFamily="34" charset="0"/>
                          <a:ea typeface="Calibri" pitchFamily="34" charset="-122"/>
                          <a:cs typeface="Calibri" pitchFamily="34" charset="-120"/>
                        </a:rPr>
                        <a:t>Hazard h</a:t>
                      </a:r>
                      <a:endParaRPr lang="en-US" sz="15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hⱼ = dⱼ ⁄ nⱼ</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h(t) = f(t) ⁄ S(t)</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2395B"/>
                          </a:solidFill>
                          <a:latin typeface="Calibri" pitchFamily="34" charset="0"/>
                          <a:ea typeface="Calibri" pitchFamily="34" charset="-122"/>
                          <a:cs typeface="Calibri" pitchFamily="34" charset="-120"/>
                        </a:rPr>
                        <a:t>Density f</a:t>
                      </a:r>
                      <a:endParaRPr lang="en-US" sz="15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fⱼ = S(j − 1) · hⱼ</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f(t) = − dS(t) ⁄ dt</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12395B"/>
                          </a:solidFill>
                          <a:latin typeface="Calibri" pitchFamily="34" charset="0"/>
                          <a:ea typeface="Calibri" pitchFamily="34" charset="-122"/>
                          <a:cs typeface="Calibri" pitchFamily="34" charset="-120"/>
                        </a:rPr>
                        <a:t>Kaplan–Meier</a:t>
                      </a:r>
                      <a:endParaRPr lang="en-US" sz="15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Ŝ(t) = ∏ over tᵢ ≤ t of (1 − dᵢ ⁄ nᵢ)</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Estimator of S(t) with censoring</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500" b="1" dirty="0">
                          <a:solidFill>
                            <a:srgbClr val="12395B"/>
                          </a:solidFill>
                          <a:latin typeface="Calibri" pitchFamily="34" charset="0"/>
                          <a:ea typeface="Calibri" pitchFamily="34" charset="-122"/>
                          <a:cs typeface="Calibri" pitchFamily="34" charset="-120"/>
                        </a:rPr>
                        <a:t>Greenwood variance</a:t>
                      </a:r>
                      <a:endParaRPr lang="en-US" sz="15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Var Ŝ(t) ≈ Ŝ(t)² · Σ dᵢ ⁄ [nᵢ (nᵢ − dᵢ)]</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Delta-method approximation</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500" b="1" dirty="0">
                          <a:solidFill>
                            <a:srgbClr val="12395B"/>
                          </a:solidFill>
                          <a:latin typeface="Calibri" pitchFamily="34" charset="0"/>
                          <a:ea typeface="Calibri" pitchFamily="34" charset="-122"/>
                          <a:cs typeface="Calibri" pitchFamily="34" charset="-120"/>
                        </a:rPr>
                        <a:t>Cumulative incidence</a:t>
                      </a:r>
                      <a:endParaRPr lang="en-US" sz="15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Fₖ(t) = Σ Ŝ(tᵢ₋₁) · hₖ(tᵢ)</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500" dirty="0">
                          <a:solidFill>
                            <a:srgbClr val="12395B"/>
                          </a:solidFill>
                          <a:latin typeface="Cambria" pitchFamily="34" charset="0"/>
                          <a:ea typeface="Cambria" pitchFamily="34" charset="-122"/>
                          <a:cs typeface="Cambria" pitchFamily="34" charset="-120"/>
                        </a:rPr>
                        <a:t>Fₖ(t) = ∫₀ᵗ S(u) hₖ(u) du</a:t>
                      </a:r>
                      <a:endParaRPr lang="en-US" sz="1500" dirty="0">
                        <a:latin typeface="Cambria" charset="0"/>
                        <a:ea typeface="Cambria" charset="0"/>
                        <a:cs typeface="Cambria"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Reading tip"/>
          <p:cNvSpPr txBox="1"/>
          <p:nvPr/>
        </p:nvSpPr>
        <p:spPr>
          <a:xfrm>
            <a:off x="411480" y="5532120"/>
            <a:ext cx="11338560" cy="548640"/>
          </a:xfrm>
          <a:prstGeom prst="rect">
            <a:avLst/>
          </a:prstGeom>
          <a:noFill/>
          <a:ln/>
        </p:spPr>
        <p:txBody>
          <a:bodyPr wrap="square" lIns="0" tIns="0" rIns="0" bIns="0" rtlCol="0" anchor="t"/>
          <a:lstStyle/>
          <a:p>
            <a:pPr marL="0" indent="0">
              <a:buNone/>
            </a:pPr>
            <a:r>
              <a:rPr lang="en-US" sz="1500" b="1" dirty="0">
                <a:solidFill>
                  <a:schemeClr val="accent1"/>
                </a:solidFill>
              </a:rPr>
              <a:t>Read across: </a:t>
            </a:r>
            <a:r>
              <a:rPr lang="en-US" sz="1500" dirty="0">
                <a:solidFill>
                  <a:schemeClr val="tx1"/>
                </a:solidFill>
              </a:rPr>
              <a:t>each discrete formula is the funnel version of the continuous one. Stages play the role of time.</a:t>
            </a:r>
            <a:endParaRPr lang="en-US" sz="15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How stable is the trap finding? 1,000 bootstrap resamples</a:t>
            </a:r>
            <a:endParaRPr lang="en-US" sz="2600" dirty="0"/>
          </a:p>
        </p:txBody>
      </p:sp>
      <p:graphicFrame>
        <p:nvGraphicFramePr>
          <p:cNvPr id="13" name="Bootstrap differences table"/>
          <p:cNvGraphicFramePr>
            <a:graphicFrameLocks noGrp="1"/>
          </p:cNvGraphicFramePr>
          <p:nvPr>
            <p:extLst>
              <p:ext uri="{D42A27DB-BD31-4B8C-83A1-F6EECF244321}">
                <p14:modId xmlns:p14="http://schemas.microsoft.com/office/powerpoint/2010/main" val="1579011935"/>
              </p:ext>
            </p:extLst>
          </p:nvPr>
        </p:nvGraphicFramePr>
        <p:xfrm>
          <a:off x="411480" y="1188720"/>
          <a:ext cx="6035040" cy="2545080"/>
        </p:xfrm>
        <a:graphic>
          <a:graphicData uri="http://schemas.openxmlformats.org/drawingml/2006/table">
            <a:tbl>
              <a:tblPr/>
              <a:tblGrid>
                <a:gridCol w="25603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Step</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No trap minus trapped</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90% interval</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Store → Quote start</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−0.6 pts</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−1.9 to +0.8</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Quote start → Quote done</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−1.7 pts</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−3.2 to −0.2</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Quote done → App start</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+1.4 pts</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−0.5 to +3.3</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App start → App done</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−1.6 pts</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−3.5 to +0.2</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300" b="1" dirty="0">
                          <a:solidFill>
                            <a:srgbClr val="720C27"/>
                          </a:solidFill>
                          <a:latin typeface="Calibri" pitchFamily="34" charset="0"/>
                          <a:ea typeface="Calibri" pitchFamily="34" charset="-122"/>
                          <a:cs typeface="Calibri" pitchFamily="34" charset="-120"/>
                        </a:rPr>
                        <a:t>App done → Issued</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b="1" dirty="0">
                          <a:solidFill>
                            <a:srgbClr val="720C27"/>
                          </a:solidFill>
                          <a:latin typeface="Calibri" pitchFamily="34" charset="0"/>
                          <a:ea typeface="Calibri" pitchFamily="34" charset="-122"/>
                          <a:cs typeface="Calibri" pitchFamily="34" charset="-120"/>
                        </a:rPr>
                        <a:t>+20.5 pts</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720C27"/>
                          </a:solidFill>
                          <a:latin typeface="Calibri" pitchFamily="34" charset="0"/>
                          <a:ea typeface="Calibri" pitchFamily="34" charset="-122"/>
                          <a:cs typeface="Calibri" pitchFamily="34" charset="-120"/>
                        </a:rPr>
                        <a:t>+18.0 to +23.0</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Bootstrap note"/>
          <p:cNvSpPr txBox="1"/>
          <p:nvPr/>
        </p:nvSpPr>
        <p:spPr>
          <a:xfrm>
            <a:off x="411480" y="3886200"/>
            <a:ext cx="6035040" cy="1463040"/>
          </a:xfrm>
          <a:prstGeom prst="rect">
            <a:avLst/>
          </a:prstGeom>
          <a:noFill/>
          <a:ln/>
        </p:spPr>
        <p:txBody>
          <a:bodyPr wrap="square" lIns="0" tIns="0" rIns="0" bIns="0" rtlCol="0" anchor="t"/>
          <a:lstStyle/>
          <a:p>
            <a:pPr marL="0" indent="0">
              <a:buNone/>
            </a:pPr>
            <a:r>
              <a:rPr lang="en-US" sz="1400" b="1" dirty="0">
                <a:solidFill>
                  <a:schemeClr val="tx1"/>
                </a:solidFill>
              </a:rPr>
              <a:t>Last step significant in 100% of resamples. </a:t>
            </a:r>
            <a:r>
              <a:rPr lang="en-US" sz="1400" dirty="0">
                <a:solidFill>
                  <a:schemeClr val="accent5"/>
                </a:solidFill>
              </a:rPr>
              <a:t>Earlier differences are 1–2 points and point both ways. The one interval that misses zero favors trapped members, so it can't be harm; with four comparisons, one borderline result is expected by chance.</a:t>
            </a:r>
            <a:endParaRPr lang="en-US" sz="1400" dirty="0"/>
          </a:p>
        </p:txBody>
      </p:sp>
      <p:graphicFrame>
        <p:nvGraphicFramePr>
          <p:cNvPr id="25" name="Trap type table"/>
          <p:cNvGraphicFramePr>
            <a:graphicFrameLocks noGrp="1"/>
          </p:cNvGraphicFramePr>
          <p:nvPr>
            <p:extLst>
              <p:ext uri="{D42A27DB-BD31-4B8C-83A1-F6EECF244321}">
                <p14:modId xmlns:p14="http://schemas.microsoft.com/office/powerpoint/2010/main" val="1579011935"/>
              </p:ext>
            </p:extLst>
          </p:nvPr>
        </p:nvGraphicFramePr>
        <p:xfrm>
          <a:off x="6812280" y="1188720"/>
          <a:ext cx="4937760" cy="2057400"/>
        </p:xfrm>
        <a:graphic>
          <a:graphicData uri="http://schemas.openxmlformats.org/drawingml/2006/table">
            <a:tbl>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Among App Complete</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Issued</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Neither trap</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88.5%</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3,267</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Business trap only</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81.3%</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555</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300" b="1" dirty="0">
                          <a:solidFill>
                            <a:srgbClr val="720C27"/>
                          </a:solidFill>
                          <a:latin typeface="Calibri" pitchFamily="34" charset="0"/>
                          <a:ea typeface="Calibri" pitchFamily="34" charset="-122"/>
                          <a:cs typeface="Calibri" pitchFamily="34" charset="-120"/>
                        </a:rPr>
                        <a:t>IT trap only</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b="1" dirty="0">
                          <a:solidFill>
                            <a:srgbClr val="720C27"/>
                          </a:solidFill>
                          <a:latin typeface="Calibri" pitchFamily="34" charset="0"/>
                          <a:ea typeface="Calibri" pitchFamily="34" charset="-122"/>
                          <a:cs typeface="Calibri" pitchFamily="34" charset="-120"/>
                        </a:rPr>
                        <a:t>67.4%</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893</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Both</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65.0%</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tc>
                  <a:txBody>
                    <a:bodyPr/>
                    <a:lstStyle/>
                    <a:p>
                      <a:pPr marL="0" indent="0">
                        <a:buNone/>
                      </a:pPr>
                      <a:r>
                        <a:rPr lang="en-US" sz="1300" dirty="0">
                          <a:solidFill>
                            <a:srgbClr val="12395B"/>
                          </a:solidFill>
                          <a:latin typeface="Calibri" pitchFamily="34" charset="0"/>
                          <a:ea typeface="Calibri" pitchFamily="34" charset="-122"/>
                          <a:cs typeface="Calibri" pitchFamily="34" charset="-120"/>
                        </a:rPr>
                        <a:t>177</a:t>
                      </a:r>
                      <a:endParaRPr lang="en-US" sz="1300" dirty="0">
                        <a:latin typeface="Calibri" charset="0"/>
                        <a:ea typeface="Calibri" charset="0"/>
                        <a:cs typeface="Calibri" charset="0"/>
                      </a:endParaRPr>
                    </a:p>
                  </a:txBody>
                  <a:tcPr anchor="ctr">
                    <a:lnL w="9525" cap="flat" cmpd="sng" algn="ctr">
                      <a:solidFill>
                        <a:srgbClr val="A1B1BC"/>
                      </a:solidFill>
                      <a:prstDash val="solid"/>
                      <a:round/>
                      <a:headEnd type="none" w="med" len="med"/>
                      <a:tailEnd type="none" w="med" len="med"/>
                    </a:lnL>
                    <a:lnR w="9525" cap="flat" cmpd="sng" algn="ctr">
                      <a:solidFill>
                        <a:srgbClr val="A1B1BC"/>
                      </a:solidFill>
                      <a:prstDash val="solid"/>
                      <a:round/>
                      <a:headEnd type="none" w="med" len="med"/>
                      <a:tailEnd type="none" w="med" len="med"/>
                    </a:lnR>
                    <a:lnT w="9525" cap="flat" cmpd="sng" algn="ctr">
                      <a:solidFill>
                        <a:srgbClr val="A1B1BC"/>
                      </a:solidFill>
                      <a:prstDash val="solid"/>
                      <a:round/>
                      <a:headEnd type="none" w="med" len="med"/>
                      <a:tailEnd type="none" w="med" len="med"/>
                    </a:lnT>
                    <a:lnB w="9525" cap="flat" cmpd="sng" algn="ctr">
                      <a:solidFill>
                        <a:srgbClr val="A1B1B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Interaction model panel"/>
          <p:cNvSpPr/>
          <p:nvPr/>
        </p:nvSpPr>
        <p:spPr>
          <a:xfrm>
            <a:off x="6812280" y="3429000"/>
            <a:ext cx="4937760" cy="1234440"/>
          </a:xfrm>
          <a:prstGeom prst="roundRect">
            <a:avLst>
              <a:gd name="adj" fmla="val 5926"/>
            </a:avLst>
          </a:prstGeom>
          <a:solidFill>
            <a:schemeClr val="bg2"/>
          </a:solidFill>
          <a:ln w="15875">
            <a:solidFill>
              <a:schemeClr val="bg2"/>
            </a:solidFill>
            <a:prstDash val="solid"/>
          </a:ln>
        </p:spPr>
        <p:txBody>
          <a:bodyPr/>
          <a:lstStyle/>
          <a:p>
            <a:endParaRPr lang="en-US"/>
          </a:p>
        </p:txBody>
      </p:sp>
      <p:sp>
        <p:nvSpPr>
          <p:cNvPr id="7" name="Interaction model"/>
          <p:cNvSpPr txBox="1"/>
          <p:nvPr/>
        </p:nvSpPr>
        <p:spPr>
          <a:xfrm>
            <a:off x="7086600" y="3657600"/>
            <a:ext cx="4389120" cy="777240"/>
          </a:xfrm>
          <a:prstGeom prst="rect">
            <a:avLst/>
          </a:prstGeom>
          <a:noFill/>
          <a:ln/>
        </p:spPr>
        <p:txBody>
          <a:bodyPr wrap="square" lIns="0" tIns="0" rIns="0" bIns="0" rtlCol="0" anchor="ctr"/>
          <a:lstStyle/>
          <a:p>
            <a:pPr marL="0" indent="0">
              <a:spcAft>
                <a:spcPts val="800"/>
              </a:spcAft>
              <a:buNone/>
            </a:pPr>
            <a:r>
              <a:rPr lang="en-US" sz="1500" dirty="0">
                <a:solidFill>
                  <a:schemeClr val="tx1"/>
                </a:solidFill>
                <a:latin typeface="Cambria" pitchFamily="34" charset="0"/>
                <a:ea typeface="Cambria" pitchFamily="34" charset="-122"/>
                <a:cs typeface="Cambria" pitchFamily="34" charset="-120"/>
              </a:rPr>
              <a:t>logit P(not issued) = α + β₁·IT + β₂·Bus + β₃·IT·Bus</a:t>
            </a:r>
            <a:endParaRPr lang="en-US" sz="1600" dirty="0"/>
          </a:p>
          <a:p>
            <a:pPr marL="0" indent="0">
              <a:spcAft>
                <a:spcPts val="800"/>
              </a:spcAft>
              <a:buNone/>
            </a:pPr>
            <a:r>
              <a:rPr lang="en-US" sz="1500" dirty="0">
                <a:solidFill>
                  <a:schemeClr val="tx1"/>
                </a:solidFill>
                <a:latin typeface="Cambria" pitchFamily="34" charset="0"/>
                <a:ea typeface="Cambria" pitchFamily="34" charset="-122"/>
                <a:cs typeface="Cambria" pitchFamily="34" charset="-120"/>
              </a:rPr>
              <a:t>OR: IT 3.73,  Bus 1.78,  IT×Bus 0.63 (0.44 to 0.91)</a:t>
            </a:r>
            <a:endParaRPr lang="en-US" sz="1600" dirty="0"/>
          </a:p>
        </p:txBody>
      </p:sp>
      <p:sp>
        <p:nvSpPr>
          <p:cNvPr id="8" name="Interaction note"/>
          <p:cNvSpPr txBox="1"/>
          <p:nvPr/>
        </p:nvSpPr>
        <p:spPr>
          <a:xfrm>
            <a:off x="6812280" y="4800600"/>
            <a:ext cx="4937760" cy="1280160"/>
          </a:xfrm>
          <a:prstGeom prst="rect">
            <a:avLst/>
          </a:prstGeom>
          <a:noFill/>
          <a:ln/>
        </p:spPr>
        <p:txBody>
          <a:bodyPr wrap="square" lIns="0" tIns="0" rIns="0" bIns="0" rtlCol="0" anchor="t"/>
          <a:lstStyle/>
          <a:p>
            <a:pPr marL="0" indent="0">
              <a:buNone/>
            </a:pPr>
            <a:r>
              <a:rPr lang="en-US" sz="1400" b="1" dirty="0">
                <a:solidFill>
                  <a:schemeClr val="accent2"/>
                </a:solidFill>
              </a:rPr>
              <a:t>The traps don't stack. </a:t>
            </a:r>
            <a:r>
              <a:rPr lang="en-US" sz="1400" dirty="0">
                <a:solidFill>
                  <a:schemeClr val="tx1"/>
                </a:solidFill>
              </a:rPr>
              <a:t>Both is barely worse than IT alone, and the interaction is below 1 in 98% of resamples. Consistent with the IT trap blocking issuance before the business rule matters (see the gate question).</a:t>
            </a:r>
            <a:endParaRPr lang="en-US" sz="1400" dirty="0"/>
          </a:p>
        </p:txBody>
      </p:sp>
      <p:sp>
        <p:nvSpPr>
          <p:cNvPr id="9" name="Source"/>
          <p:cNvSpPr txBox="1"/>
          <p:nvPr/>
        </p:nvSpPr>
        <p:spPr>
          <a:xfrm>
            <a:off x="411480" y="6327648"/>
            <a:ext cx="10972800" cy="274320"/>
          </a:xfrm>
          <a:prstGeom prst="rect">
            <a:avLst/>
          </a:prstGeom>
          <a:noFill/>
          <a:ln/>
        </p:spPr>
        <p:txBody>
          <a:bodyPr wrap="square" lIns="0" tIns="0" rIns="0" bIns="0" rtlCol="0" anchor="t"/>
          <a:lstStyle/>
          <a:p>
            <a:pPr marL="0" indent="0">
              <a:buNone/>
            </a:pPr>
            <a:r>
              <a:rPr lang="en-US" sz="1100" dirty="0">
                <a:solidFill>
                  <a:schemeClr val="accent5"/>
                </a:solidFill>
              </a:rPr>
              <a:t>Synthetic sample: funnel_synthetic.csv, 10,000 members. Bootstrap: members resampled with replacement.</a:t>
            </a:r>
            <a:endParaRPr lang="en-US" sz="1100" dirty="0"/>
          </a:p>
        </p:txBody>
      </p:sp>
      <p:sp>
        <p:nvSpPr>
          <p:cNvPr id="3"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Open question: do the gates run in sequence or in parallel?</a:t>
            </a:r>
            <a:endParaRPr lang="en-US" sz="2600" dirty="0"/>
          </a:p>
        </p:txBody>
      </p:sp>
      <p:sp>
        <p:nvSpPr>
          <p:cNvPr id="3" name="Stage pass probability panel"/>
          <p:cNvSpPr/>
          <p:nvPr/>
        </p:nvSpPr>
        <p:spPr>
          <a:xfrm>
            <a:off x="411480" y="1188720"/>
            <a:ext cx="11338560" cy="1325880"/>
          </a:xfrm>
          <a:prstGeom prst="roundRect">
            <a:avLst>
              <a:gd name="adj" fmla="val 5517"/>
            </a:avLst>
          </a:prstGeom>
          <a:solidFill>
            <a:schemeClr val="bg2"/>
          </a:solidFill>
          <a:ln w="15875">
            <a:solidFill>
              <a:schemeClr val="bg2"/>
            </a:solidFill>
            <a:prstDash val="solid"/>
          </a:ln>
        </p:spPr>
        <p:txBody>
          <a:bodyPr/>
          <a:lstStyle/>
          <a:p>
            <a:endParaRPr lang="en-US"/>
          </a:p>
        </p:txBody>
      </p:sp>
      <p:sp>
        <p:nvSpPr>
          <p:cNvPr id="4" name="Stage pass probability"/>
          <p:cNvSpPr txBox="1"/>
          <p:nvPr/>
        </p:nvSpPr>
        <p:spPr>
          <a:xfrm>
            <a:off x="685800" y="1417320"/>
            <a:ext cx="10789920" cy="868680"/>
          </a:xfrm>
          <a:prstGeom prst="rect">
            <a:avLst/>
          </a:prstGeom>
          <a:noFill/>
          <a:ln/>
        </p:spPr>
        <p:txBody>
          <a:bodyPr wrap="square" lIns="0" tIns="0" rIns="0" bIns="0" rtlCol="0" anchor="ctr"/>
          <a:lstStyle/>
          <a:p>
            <a:pPr marL="0" indent="0">
              <a:spcAft>
                <a:spcPts val="800"/>
              </a:spcAft>
              <a:buNone/>
            </a:pPr>
            <a:r>
              <a:rPr lang="en-US" sz="2200" dirty="0">
                <a:solidFill>
                  <a:schemeClr val="tx1"/>
                </a:solidFill>
                <a:latin typeface="Cambria" pitchFamily="34" charset="0"/>
                <a:ea typeface="Cambria" pitchFamily="34" charset="-122"/>
                <a:cs typeface="Cambria" pitchFamily="34" charset="-120"/>
              </a:rPr>
              <a:t>pⱼ = (1 − a)(1 − b)</a:t>
            </a:r>
            <a:endParaRPr lang="en-US" sz="1600" dirty="0"/>
          </a:p>
          <a:p>
            <a:pPr marL="0" indent="0">
              <a:spcAft>
                <a:spcPts val="800"/>
              </a:spcAft>
              <a:buNone/>
            </a:pPr>
            <a:r>
              <a:rPr lang="en-US" sz="2200" dirty="0">
                <a:solidFill>
                  <a:schemeClr val="tx1"/>
                </a:solidFill>
                <a:latin typeface="Cambria" pitchFamily="34" charset="0"/>
                <a:ea typeface="Cambria" pitchFamily="34" charset="-122"/>
                <a:cs typeface="Cambria" pitchFamily="34" charset="-120"/>
              </a:rPr>
              <a:t>Issuance = S(j − 1) · pⱼ · (downstream survival)</a:t>
            </a:r>
            <a:endParaRPr lang="en-US" sz="1600" dirty="0"/>
          </a:p>
        </p:txBody>
      </p:sp>
      <p:sp>
        <p:nvSpPr>
          <p:cNvPr id="5" name="Correction"/>
          <p:cNvSpPr txBox="1"/>
          <p:nvPr/>
        </p:nvSpPr>
        <p:spPr>
          <a:xfrm>
            <a:off x="411480" y="2697480"/>
            <a:ext cx="11338560" cy="457200"/>
          </a:xfrm>
          <a:prstGeom prst="rect">
            <a:avLst/>
          </a:prstGeom>
          <a:noFill/>
          <a:ln/>
        </p:spPr>
        <p:txBody>
          <a:bodyPr wrap="square" lIns="0" tIns="0" rIns="0" bIns="0" rtlCol="0" anchor="t"/>
          <a:lstStyle/>
          <a:p>
            <a:pPr marL="0" indent="0">
              <a:buNone/>
            </a:pPr>
            <a:r>
              <a:rPr lang="en-US" sz="1600" b="1" dirty="0">
                <a:solidFill>
                  <a:schemeClr val="accent2"/>
                </a:solidFill>
              </a:rPr>
              <a:t>Careful: </a:t>
            </a:r>
            <a:r>
              <a:rPr lang="en-US" sz="1600" dirty="0">
                <a:solidFill>
                  <a:schemeClr val="tx1"/>
                </a:solidFill>
              </a:rPr>
              <a:t>(1 − a)(1 − b) is the pass rate for this stage only, not the probability of being issued.</a:t>
            </a:r>
            <a:endParaRPr lang="en-US" sz="1600" dirty="0"/>
          </a:p>
        </p:txBody>
      </p:sp>
      <p:sp>
        <p:nvSpPr>
          <p:cNvPr id="6" name="Sequential card"/>
          <p:cNvSpPr/>
          <p:nvPr/>
        </p:nvSpPr>
        <p:spPr>
          <a:xfrm>
            <a:off x="411480" y="3337560"/>
            <a:ext cx="5486400" cy="2331720"/>
          </a:xfrm>
          <a:prstGeom prst="roundRect">
            <a:avLst>
              <a:gd name="adj" fmla="val 3137"/>
            </a:avLst>
          </a:prstGeom>
          <a:solidFill>
            <a:schemeClr val="bg1"/>
          </a:solidFill>
          <a:ln w="15875">
            <a:solidFill>
              <a:schemeClr val="accent4"/>
            </a:solidFill>
            <a:prstDash val="solid"/>
          </a:ln>
        </p:spPr>
        <p:txBody>
          <a:bodyPr/>
          <a:lstStyle/>
          <a:p>
            <a:endParaRPr lang="en-US"/>
          </a:p>
        </p:txBody>
      </p:sp>
      <p:sp>
        <p:nvSpPr>
          <p:cNvPr id="7" name="Sequential text"/>
          <p:cNvSpPr txBox="1"/>
          <p:nvPr/>
        </p:nvSpPr>
        <p:spPr>
          <a:xfrm>
            <a:off x="685800" y="3520440"/>
            <a:ext cx="4937760" cy="2011680"/>
          </a:xfrm>
          <a:prstGeom prst="rect">
            <a:avLst/>
          </a:prstGeom>
          <a:noFill/>
          <a:ln/>
        </p:spPr>
        <p:txBody>
          <a:bodyPr wrap="square" lIns="0" tIns="0" rIns="0" bIns="0" rtlCol="0" anchor="t"/>
          <a:lstStyle/>
          <a:p>
            <a:pPr marL="0" indent="0">
              <a:buNone/>
            </a:pPr>
            <a:r>
              <a:rPr lang="en-US" sz="1900" b="1" dirty="0">
                <a:solidFill>
                  <a:schemeClr val="tx1"/>
                </a:solidFill>
              </a:rPr>
              <a:t>In sequence (short-circuit)</a:t>
            </a:r>
            <a:endParaRPr lang="en-US" sz="1600" dirty="0"/>
          </a:p>
          <a:p>
            <a:pPr marL="0" indent="0">
              <a:buNone/>
            </a:pPr>
            <a:r>
              <a:rPr lang="en-US" sz="1500" dirty="0">
                <a:solidFill>
                  <a:schemeClr val="accent5"/>
                </a:solidFill>
              </a:rPr>
              <a:t>An application that fails gate a never reaches gate b. The overlap cell ab, failing both, is latent: it exists but is never observed.</a:t>
            </a:r>
            <a:endParaRPr lang="en-US" sz="1600" dirty="0"/>
          </a:p>
        </p:txBody>
      </p:sp>
      <p:sp>
        <p:nvSpPr>
          <p:cNvPr id="8" name="Parallel card"/>
          <p:cNvSpPr/>
          <p:nvPr/>
        </p:nvSpPr>
        <p:spPr>
          <a:xfrm>
            <a:off x="6263640" y="3337560"/>
            <a:ext cx="5486400" cy="2331720"/>
          </a:xfrm>
          <a:prstGeom prst="roundRect">
            <a:avLst>
              <a:gd name="adj" fmla="val 3137"/>
            </a:avLst>
          </a:prstGeom>
          <a:solidFill>
            <a:schemeClr val="bg1"/>
          </a:solidFill>
          <a:ln w="15875">
            <a:solidFill>
              <a:schemeClr val="accent4"/>
            </a:solidFill>
            <a:prstDash val="solid"/>
          </a:ln>
        </p:spPr>
        <p:txBody>
          <a:bodyPr/>
          <a:lstStyle/>
          <a:p>
            <a:endParaRPr lang="en-US"/>
          </a:p>
        </p:txBody>
      </p:sp>
      <p:sp>
        <p:nvSpPr>
          <p:cNvPr id="9" name="Parallel text"/>
          <p:cNvSpPr txBox="1"/>
          <p:nvPr/>
        </p:nvSpPr>
        <p:spPr>
          <a:xfrm>
            <a:off x="6537960" y="3520440"/>
            <a:ext cx="4937760" cy="2011680"/>
          </a:xfrm>
          <a:prstGeom prst="rect">
            <a:avLst/>
          </a:prstGeom>
          <a:noFill/>
          <a:ln/>
        </p:spPr>
        <p:txBody>
          <a:bodyPr wrap="square" lIns="0" tIns="0" rIns="0" bIns="0" rtlCol="0" anchor="t"/>
          <a:lstStyle/>
          <a:p>
            <a:pPr marL="0" indent="0">
              <a:buNone/>
            </a:pPr>
            <a:r>
              <a:rPr lang="en-US" sz="1900" b="1" dirty="0">
                <a:solidFill>
                  <a:schemeClr val="tx1"/>
                </a:solidFill>
              </a:rPr>
              <a:t>In parallel</a:t>
            </a:r>
            <a:endParaRPr lang="en-US" sz="1600" dirty="0"/>
          </a:p>
          <a:p>
            <a:pPr marL="0" indent="0">
              <a:buNone/>
            </a:pPr>
            <a:r>
              <a:rPr lang="en-US" sz="1500" dirty="0">
                <a:solidFill>
                  <a:schemeClr val="accent5"/>
                </a:solidFill>
              </a:rPr>
              <a:t>Both gates are evaluated for every application. The overlap cell ab is observed, and the dependence between gates can be estimated.</a:t>
            </a:r>
            <a:endParaRPr lang="en-US" sz="1600" dirty="0"/>
          </a:p>
        </p:txBody>
      </p:sp>
      <p:sp>
        <p:nvSpPr>
          <p:cNvPr id="10" name="Ask"/>
          <p:cNvSpPr txBox="1"/>
          <p:nvPr/>
        </p:nvSpPr>
        <p:spPr>
          <a:xfrm>
            <a:off x="411480" y="5806440"/>
            <a:ext cx="11338560" cy="685800"/>
          </a:xfrm>
          <a:prstGeom prst="rect">
            <a:avLst/>
          </a:prstGeom>
          <a:noFill/>
          <a:ln/>
        </p:spPr>
        <p:txBody>
          <a:bodyPr wrap="square" lIns="0" tIns="0" rIns="0" bIns="0" rtlCol="0" anchor="t"/>
          <a:lstStyle/>
          <a:p>
            <a:pPr marL="0" indent="0">
              <a:buNone/>
            </a:pPr>
            <a:r>
              <a:rPr lang="en-US" sz="1500" b="1" dirty="0">
                <a:solidFill>
                  <a:schemeClr val="accent1"/>
                </a:solidFill>
              </a:rPr>
              <a:t>Why it matters: </a:t>
            </a:r>
            <a:r>
              <a:rPr lang="en-US" sz="1500" dirty="0">
                <a:solidFill>
                  <a:schemeClr val="tx1"/>
                </a:solidFill>
              </a:rPr>
              <a:t>with a latent overlap, the data alone can't tell you how the two causes depend on each other (Tsiatis, next slide). Confirm with IT how the gates evaluate before modeling.</a:t>
            </a:r>
            <a:endParaRPr lang="en-US" sz="15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411480" y="91440"/>
            <a:ext cx="11338560" cy="685800"/>
          </a:xfrm>
          <a:prstGeom prst="rect">
            <a:avLst/>
          </a:prstGeom>
          <a:noFill/>
          <a:ln/>
        </p:spPr>
        <p:txBody>
          <a:bodyPr wrap="square" lIns="0" tIns="0" rIns="0" bIns="0" rtlCol="0" anchor="ctr"/>
          <a:lstStyle/>
          <a:p>
            <a:pPr marL="0" indent="0" algn="l">
              <a:buNone/>
            </a:pPr>
            <a:r>
              <a:rPr lang="en-US" sz="2600" b="1" dirty="0">
                <a:solidFill>
                  <a:schemeClr val="bg1"/>
                </a:solidFill>
              </a:rPr>
              <a:t>Where these ideas came from</a:t>
            </a:r>
            <a:endParaRPr lang="en-US" sz="2600" dirty="0"/>
          </a:p>
        </p:txBody>
      </p:sp>
      <p:sp>
        <p:nvSpPr>
          <p:cNvPr id="3" name="1760 card"/>
          <p:cNvSpPr/>
          <p:nvPr/>
        </p:nvSpPr>
        <p:spPr>
          <a:xfrm>
            <a:off x="411480" y="1234440"/>
            <a:ext cx="2157984" cy="3566160"/>
          </a:xfrm>
          <a:prstGeom prst="roundRect">
            <a:avLst>
              <a:gd name="adj" fmla="val 3390"/>
            </a:avLst>
          </a:prstGeom>
          <a:solidFill>
            <a:schemeClr val="bg1"/>
          </a:solidFill>
          <a:ln w="15875">
            <a:solidFill>
              <a:schemeClr val="accent4"/>
            </a:solidFill>
            <a:prstDash val="solid"/>
          </a:ln>
        </p:spPr>
        <p:txBody>
          <a:bodyPr/>
          <a:lstStyle/>
          <a:p>
            <a:endParaRPr lang="en-US"/>
          </a:p>
        </p:txBody>
      </p:sp>
      <p:sp>
        <p:nvSpPr>
          <p:cNvPr id="4" name="1760 text"/>
          <p:cNvSpPr txBox="1"/>
          <p:nvPr/>
        </p:nvSpPr>
        <p:spPr>
          <a:xfrm>
            <a:off x="594360" y="1417320"/>
            <a:ext cx="1792224" cy="3291840"/>
          </a:xfrm>
          <a:prstGeom prst="rect">
            <a:avLst/>
          </a:prstGeom>
          <a:noFill/>
          <a:ln/>
        </p:spPr>
        <p:txBody>
          <a:bodyPr wrap="square" lIns="0" tIns="0" rIns="0" bIns="0" rtlCol="0" anchor="t"/>
          <a:lstStyle/>
          <a:p>
            <a:pPr marL="0" indent="0">
              <a:spcAft>
                <a:spcPts val="600"/>
              </a:spcAft>
              <a:buNone/>
            </a:pPr>
            <a:r>
              <a:rPr lang="en-US" sz="3000" b="1" dirty="0">
                <a:solidFill>
                  <a:schemeClr val="tx1"/>
                </a:solidFill>
              </a:rPr>
              <a:t>1760</a:t>
            </a:r>
            <a:endParaRPr lang="en-US" sz="1600" dirty="0"/>
          </a:p>
          <a:p>
            <a:pPr marL="0" indent="0">
              <a:spcAft>
                <a:spcPts val="600"/>
              </a:spcAft>
              <a:buNone/>
            </a:pPr>
            <a:r>
              <a:rPr lang="en-US" sz="1600" b="1" dirty="0">
                <a:solidFill>
                  <a:schemeClr val="accent1"/>
                </a:solidFill>
              </a:rPr>
              <a:t>Daniel Bernoulli</a:t>
            </a:r>
            <a:endParaRPr lang="en-US" sz="1600" dirty="0"/>
          </a:p>
          <a:p>
            <a:pPr marL="0" indent="0">
              <a:spcAft>
                <a:spcPts val="600"/>
              </a:spcAft>
              <a:buNone/>
            </a:pPr>
            <a:r>
              <a:rPr lang="en-US" sz="1400" dirty="0">
                <a:solidFill>
                  <a:schemeClr val="tx1"/>
                </a:solidFill>
              </a:rPr>
              <a:t>Estimates how much life expectancy would rise if smallpox were removed as a cause of death: the first competing-risks calculation.</a:t>
            </a:r>
            <a:endParaRPr lang="en-US" sz="1600" dirty="0"/>
          </a:p>
        </p:txBody>
      </p:sp>
      <p:sp>
        <p:nvSpPr>
          <p:cNvPr id="5" name="1760s card"/>
          <p:cNvSpPr/>
          <p:nvPr/>
        </p:nvSpPr>
        <p:spPr>
          <a:xfrm>
            <a:off x="2706624" y="1234440"/>
            <a:ext cx="2157984" cy="3566160"/>
          </a:xfrm>
          <a:prstGeom prst="roundRect">
            <a:avLst>
              <a:gd name="adj" fmla="val 3390"/>
            </a:avLst>
          </a:prstGeom>
          <a:solidFill>
            <a:schemeClr val="bg1"/>
          </a:solidFill>
          <a:ln w="15875">
            <a:solidFill>
              <a:schemeClr val="accent4"/>
            </a:solidFill>
            <a:prstDash val="solid"/>
          </a:ln>
        </p:spPr>
        <p:txBody>
          <a:bodyPr/>
          <a:lstStyle/>
          <a:p>
            <a:endParaRPr lang="en-US"/>
          </a:p>
        </p:txBody>
      </p:sp>
      <p:sp>
        <p:nvSpPr>
          <p:cNvPr id="6" name="1760s text"/>
          <p:cNvSpPr txBox="1"/>
          <p:nvPr/>
        </p:nvSpPr>
        <p:spPr>
          <a:xfrm>
            <a:off x="2889504" y="1417320"/>
            <a:ext cx="1792224" cy="3291840"/>
          </a:xfrm>
          <a:prstGeom prst="rect">
            <a:avLst/>
          </a:prstGeom>
          <a:noFill/>
          <a:ln/>
        </p:spPr>
        <p:txBody>
          <a:bodyPr wrap="square" lIns="0" tIns="0" rIns="0" bIns="0" rtlCol="0" anchor="t"/>
          <a:lstStyle/>
          <a:p>
            <a:pPr marL="0" indent="0">
              <a:spcAft>
                <a:spcPts val="600"/>
              </a:spcAft>
              <a:buNone/>
            </a:pPr>
            <a:r>
              <a:rPr lang="en-US" sz="3000" b="1" dirty="0">
                <a:solidFill>
                  <a:schemeClr val="tx1"/>
                </a:solidFill>
              </a:rPr>
              <a:t>1760s</a:t>
            </a:r>
            <a:endParaRPr lang="en-US" sz="1600" dirty="0"/>
          </a:p>
          <a:p>
            <a:pPr marL="0" indent="0">
              <a:spcAft>
                <a:spcPts val="600"/>
              </a:spcAft>
              <a:buNone/>
            </a:pPr>
            <a:r>
              <a:rPr lang="en-US" sz="1600" b="1" dirty="0">
                <a:solidFill>
                  <a:schemeClr val="accent1"/>
                </a:solidFill>
              </a:rPr>
              <a:t>d'Alembert</a:t>
            </a:r>
            <a:endParaRPr lang="en-US" sz="1600" dirty="0"/>
          </a:p>
          <a:p>
            <a:pPr marL="0" indent="0">
              <a:spcAft>
                <a:spcPts val="600"/>
              </a:spcAft>
              <a:buNone/>
            </a:pPr>
            <a:r>
              <a:rPr lang="en-US" sz="1400" dirty="0">
                <a:solidFill>
                  <a:schemeClr val="tx1"/>
                </a:solidFill>
              </a:rPr>
              <a:t>Objects that an average gain in life expectancy doesn't settle whether a person should accept inoculation's immediate risk of death.</a:t>
            </a:r>
            <a:endParaRPr lang="en-US" sz="1600" dirty="0"/>
          </a:p>
        </p:txBody>
      </p:sp>
      <p:sp>
        <p:nvSpPr>
          <p:cNvPr id="7" name="1958 card"/>
          <p:cNvSpPr/>
          <p:nvPr/>
        </p:nvSpPr>
        <p:spPr>
          <a:xfrm>
            <a:off x="5001768" y="1234440"/>
            <a:ext cx="2157984" cy="3566160"/>
          </a:xfrm>
          <a:prstGeom prst="roundRect">
            <a:avLst>
              <a:gd name="adj" fmla="val 3390"/>
            </a:avLst>
          </a:prstGeom>
          <a:solidFill>
            <a:schemeClr val="bg1"/>
          </a:solidFill>
          <a:ln w="15875">
            <a:solidFill>
              <a:schemeClr val="accent4"/>
            </a:solidFill>
            <a:prstDash val="solid"/>
          </a:ln>
        </p:spPr>
        <p:txBody>
          <a:bodyPr/>
          <a:lstStyle/>
          <a:p>
            <a:endParaRPr lang="en-US"/>
          </a:p>
        </p:txBody>
      </p:sp>
      <p:sp>
        <p:nvSpPr>
          <p:cNvPr id="8" name="1958 text"/>
          <p:cNvSpPr txBox="1"/>
          <p:nvPr/>
        </p:nvSpPr>
        <p:spPr>
          <a:xfrm>
            <a:off x="5184648" y="1417320"/>
            <a:ext cx="1792224" cy="3291840"/>
          </a:xfrm>
          <a:prstGeom prst="rect">
            <a:avLst/>
          </a:prstGeom>
          <a:noFill/>
          <a:ln/>
        </p:spPr>
        <p:txBody>
          <a:bodyPr wrap="square" lIns="0" tIns="0" rIns="0" bIns="0" rtlCol="0" anchor="t"/>
          <a:lstStyle/>
          <a:p>
            <a:pPr marL="0" indent="0">
              <a:spcAft>
                <a:spcPts val="600"/>
              </a:spcAft>
              <a:buNone/>
            </a:pPr>
            <a:r>
              <a:rPr lang="en-US" sz="3000" b="1" dirty="0">
                <a:solidFill>
                  <a:schemeClr val="tx1"/>
                </a:solidFill>
              </a:rPr>
              <a:t>1958</a:t>
            </a:r>
            <a:endParaRPr lang="en-US" sz="1600" dirty="0"/>
          </a:p>
          <a:p>
            <a:pPr marL="0" indent="0">
              <a:spcAft>
                <a:spcPts val="600"/>
              </a:spcAft>
              <a:buNone/>
            </a:pPr>
            <a:r>
              <a:rPr lang="en-US" sz="1600" b="1" dirty="0">
                <a:solidFill>
                  <a:schemeClr val="accent1"/>
                </a:solidFill>
              </a:rPr>
              <a:t>Kaplan and Meier</a:t>
            </a:r>
            <a:endParaRPr lang="en-US" sz="1600" dirty="0"/>
          </a:p>
          <a:p>
            <a:pPr marL="0" indent="0">
              <a:spcAft>
                <a:spcPts val="600"/>
              </a:spcAft>
              <a:buNone/>
            </a:pPr>
            <a:r>
              <a:rPr lang="en-US" sz="1400" dirty="0">
                <a:solidFill>
                  <a:schemeClr val="tx1"/>
                </a:solidFill>
              </a:rPr>
              <a:t>The product-limit estimator: survival from incomplete, censored observations.</a:t>
            </a:r>
            <a:endParaRPr lang="en-US" sz="1600" dirty="0"/>
          </a:p>
        </p:txBody>
      </p:sp>
      <p:sp>
        <p:nvSpPr>
          <p:cNvPr id="9" name="1975 card"/>
          <p:cNvSpPr/>
          <p:nvPr/>
        </p:nvSpPr>
        <p:spPr>
          <a:xfrm>
            <a:off x="7296912" y="1234440"/>
            <a:ext cx="2157984" cy="3566160"/>
          </a:xfrm>
          <a:prstGeom prst="roundRect">
            <a:avLst>
              <a:gd name="adj" fmla="val 3390"/>
            </a:avLst>
          </a:prstGeom>
          <a:solidFill>
            <a:schemeClr val="bg1"/>
          </a:solidFill>
          <a:ln w="22225">
            <a:solidFill>
              <a:schemeClr val="accent2"/>
            </a:solidFill>
            <a:prstDash val="solid"/>
          </a:ln>
        </p:spPr>
        <p:txBody>
          <a:bodyPr/>
          <a:lstStyle/>
          <a:p>
            <a:endParaRPr lang="en-US"/>
          </a:p>
        </p:txBody>
      </p:sp>
      <p:sp>
        <p:nvSpPr>
          <p:cNvPr id="10" name="1975 text"/>
          <p:cNvSpPr txBox="1"/>
          <p:nvPr/>
        </p:nvSpPr>
        <p:spPr>
          <a:xfrm>
            <a:off x="7479792" y="1417320"/>
            <a:ext cx="1792224" cy="3291840"/>
          </a:xfrm>
          <a:prstGeom prst="rect">
            <a:avLst/>
          </a:prstGeom>
          <a:noFill/>
          <a:ln/>
        </p:spPr>
        <p:txBody>
          <a:bodyPr wrap="square" lIns="0" tIns="0" rIns="0" bIns="0" rtlCol="0" anchor="t"/>
          <a:lstStyle/>
          <a:p>
            <a:pPr marL="0" indent="0">
              <a:spcAft>
                <a:spcPts val="600"/>
              </a:spcAft>
              <a:buNone/>
            </a:pPr>
            <a:r>
              <a:rPr lang="en-US" sz="3000" b="1" dirty="0">
                <a:solidFill>
                  <a:schemeClr val="accent2"/>
                </a:solidFill>
              </a:rPr>
              <a:t>1975</a:t>
            </a:r>
            <a:endParaRPr lang="en-US" sz="1600" dirty="0"/>
          </a:p>
          <a:p>
            <a:pPr marL="0" indent="0">
              <a:spcAft>
                <a:spcPts val="600"/>
              </a:spcAft>
              <a:buNone/>
            </a:pPr>
            <a:r>
              <a:rPr lang="en-US" sz="1600" b="1" dirty="0">
                <a:solidFill>
                  <a:schemeClr val="accent1"/>
                </a:solidFill>
              </a:rPr>
              <a:t>Tsiatis</a:t>
            </a:r>
            <a:endParaRPr lang="en-US" sz="1600" dirty="0"/>
          </a:p>
          <a:p>
            <a:pPr marL="0" indent="0">
              <a:spcAft>
                <a:spcPts val="600"/>
              </a:spcAft>
              <a:buNone/>
            </a:pPr>
            <a:r>
              <a:rPr lang="en-US" sz="1400" dirty="0">
                <a:solidFill>
                  <a:schemeClr val="tx1"/>
                </a:solidFill>
              </a:rPr>
              <a:t>Shows that competing-risks data alone can't identify the dependence between causes.</a:t>
            </a:r>
            <a:endParaRPr lang="en-US" sz="1600" dirty="0"/>
          </a:p>
        </p:txBody>
      </p:sp>
      <p:sp>
        <p:nvSpPr>
          <p:cNvPr id="11" name="1978 card"/>
          <p:cNvSpPr/>
          <p:nvPr/>
        </p:nvSpPr>
        <p:spPr>
          <a:xfrm>
            <a:off x="9592056" y="1234440"/>
            <a:ext cx="2157984" cy="3566160"/>
          </a:xfrm>
          <a:prstGeom prst="roundRect">
            <a:avLst>
              <a:gd name="adj" fmla="val 3390"/>
            </a:avLst>
          </a:prstGeom>
          <a:solidFill>
            <a:schemeClr val="bg1"/>
          </a:solidFill>
          <a:ln w="15875">
            <a:solidFill>
              <a:schemeClr val="accent4"/>
            </a:solidFill>
            <a:prstDash val="solid"/>
          </a:ln>
        </p:spPr>
        <p:txBody>
          <a:bodyPr/>
          <a:lstStyle/>
          <a:p>
            <a:endParaRPr lang="en-US"/>
          </a:p>
        </p:txBody>
      </p:sp>
      <p:sp>
        <p:nvSpPr>
          <p:cNvPr id="12" name="1978 text"/>
          <p:cNvSpPr txBox="1"/>
          <p:nvPr/>
        </p:nvSpPr>
        <p:spPr>
          <a:xfrm>
            <a:off x="9774936" y="1417320"/>
            <a:ext cx="1792224" cy="3291840"/>
          </a:xfrm>
          <a:prstGeom prst="rect">
            <a:avLst/>
          </a:prstGeom>
          <a:noFill/>
          <a:ln/>
        </p:spPr>
        <p:txBody>
          <a:bodyPr wrap="square" lIns="0" tIns="0" rIns="0" bIns="0" rtlCol="0" anchor="t"/>
          <a:lstStyle/>
          <a:p>
            <a:pPr marL="0" indent="0">
              <a:spcAft>
                <a:spcPts val="600"/>
              </a:spcAft>
              <a:buNone/>
            </a:pPr>
            <a:r>
              <a:rPr lang="en-US" sz="3000" b="1" dirty="0">
                <a:solidFill>
                  <a:schemeClr val="tx1"/>
                </a:solidFill>
              </a:rPr>
              <a:t>1978</a:t>
            </a:r>
            <a:endParaRPr lang="en-US" sz="1600" dirty="0"/>
          </a:p>
          <a:p>
            <a:pPr marL="0" indent="0">
              <a:spcAft>
                <a:spcPts val="600"/>
              </a:spcAft>
              <a:buNone/>
            </a:pPr>
            <a:r>
              <a:rPr lang="en-US" sz="1600" b="1" dirty="0">
                <a:solidFill>
                  <a:schemeClr val="accent1"/>
                </a:solidFill>
              </a:rPr>
              <a:t>Aalen and Johansen</a:t>
            </a:r>
            <a:endParaRPr lang="en-US" sz="1600" dirty="0"/>
          </a:p>
          <a:p>
            <a:pPr marL="0" indent="0">
              <a:spcAft>
                <a:spcPts val="600"/>
              </a:spcAft>
              <a:buNone/>
            </a:pPr>
            <a:r>
              <a:rPr lang="en-US" sz="1400" dirty="0">
                <a:solidFill>
                  <a:schemeClr val="tx1"/>
                </a:solidFill>
              </a:rPr>
              <a:t>The estimator for cumulative incidence under competing risks.</a:t>
            </a:r>
            <a:endParaRPr lang="en-US" sz="1600" dirty="0"/>
          </a:p>
        </p:txBody>
      </p:sp>
      <p:sp>
        <p:nvSpPr>
          <p:cNvPr id="13" name="Thread"/>
          <p:cNvSpPr txBox="1"/>
          <p:nvPr/>
        </p:nvSpPr>
        <p:spPr>
          <a:xfrm>
            <a:off x="411480" y="5074920"/>
            <a:ext cx="11338560" cy="457200"/>
          </a:xfrm>
          <a:prstGeom prst="rect">
            <a:avLst/>
          </a:prstGeom>
          <a:noFill/>
          <a:ln/>
        </p:spPr>
        <p:txBody>
          <a:bodyPr wrap="square" lIns="0" tIns="0" rIns="0" bIns="0" rtlCol="0" anchor="t"/>
          <a:lstStyle/>
          <a:p>
            <a:pPr marL="0" indent="0">
              <a:buNone/>
            </a:pPr>
            <a:r>
              <a:rPr lang="en-US" sz="1600" i="1" dirty="0">
                <a:solidFill>
                  <a:schemeClr val="accent5"/>
                </a:solidFill>
              </a:rPr>
              <a:t>The thread: estimating survival from incomplete data, and the limits of what that data can identify.</a:t>
            </a:r>
            <a:endParaRPr lang="en-US" sz="1600" dirty="0"/>
          </a:p>
        </p:txBody>
      </p:sp>
      <p:sp>
        <p:nvSpPr>
          <p:cNvPr id="25" name="Slide Number Placeholder 0"/>
          <p:cNvSpPr>
            <a:spLocks noGrp="1"/>
          </p:cNvSpPr>
          <p:nvPr>
            <p:ph type="sldNum" sz="quarter" idx="4294967295"/>
          </p:nvPr>
        </p:nvSpPr>
        <p:spPr>
          <a:xfrm>
            <a:off x="113842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Read Me Funnel">
  <a:themeElements>
    <a:clrScheme name="Read Me Funnel">
      <a:dk1>
        <a:srgbClr val="12395B"/>
      </a:dk1>
      <a:lt1>
        <a:srgbClr val="FFFFFF"/>
      </a:lt1>
      <a:dk2>
        <a:srgbClr val="14213D"/>
      </a:dk2>
      <a:lt2>
        <a:srgbClr val="F1F3F5"/>
      </a:lt2>
      <a:accent1>
        <a:srgbClr val="086B94"/>
      </a:accent1>
      <a:accent2>
        <a:srgbClr val="720C27"/>
      </a:accent2>
      <a:accent3>
        <a:srgbClr val="534AB7"/>
      </a:accent3>
      <a:accent4>
        <a:srgbClr val="A1B1BC"/>
      </a:accent4>
      <a:accent5>
        <a:srgbClr val="496A7A"/>
      </a:accent5>
      <a:accent6>
        <a:srgbClr val="06D6A0"/>
      </a:accent6>
      <a:hlink>
        <a:srgbClr val="086B94"/>
      </a:hlink>
      <a:folHlink>
        <a:srgbClr val="534AB7"/>
      </a:folHlink>
    </a:clrScheme>
    <a:fontScheme name="Read Me Funne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2480</Words>
  <Application>Microsoft Office PowerPoint</Application>
  <PresentationFormat>Widescreen</PresentationFormat>
  <Paragraphs>231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Read Me Funnel</vt:lpstr>
      <vt:lpstr>The funnel is a survival curve</vt:lpstr>
      <vt:lpstr>The funnel is a survival curve</vt:lpstr>
      <vt:lpstr>IT reads the hazard. P&amp;C reads the density.</vt:lpstr>
      <vt:lpstr>A stalled application is an event, not a censored one</vt:lpstr>
      <vt:lpstr>At issuance, the loss has competing causes</vt:lpstr>
      <vt:lpstr>The trap more than doubles the hazard at issuance</vt:lpstr>
      <vt:lpstr>The trap does nothing until the last step</vt:lpstr>
      <vt:lpstr>Each hazard is a Beta posterior</vt:lpstr>
      <vt:lpstr>What survival analysis adds</vt:lpstr>
      <vt:lpstr>Study backup</vt:lpstr>
      <vt:lpstr>Formula sheet</vt:lpstr>
      <vt:lpstr>How stable is the trap finding? 1,000 bootstrap resamples</vt:lpstr>
      <vt:lpstr>Open question: do the gates run in sequence or in parallel?</vt:lpstr>
      <vt:lpstr>Where these ideas came from</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Funnel Is a Survival Curve</dc:title>
  <dc:subject>PptxGenJS Presentation</dc:subject>
  <dc:creator>Eric Riley</dc:creator>
  <cp:lastModifiedBy>Eric Riley</cp:lastModifiedBy>
  <cp:revision>1</cp:revision>
  <dcterms:created xsi:type="dcterms:W3CDTF">2026-10-02T13:55:31Z</dcterms:created>
  <dcterms:modified xsi:type="dcterms:W3CDTF">2026-10-02T13:59:35Z</dcterms:modified>
</cp:coreProperties>
</file>